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openxmlformats.org/officeDocument/2006/relationships/customXml" Target="../customXml/item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customXml" Target="../customXml/item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customXml" Target="../customXml/item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B9DFB6-145A-C33D-F49D-DB4DD70293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de-C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FAC122-F0AF-734D-926D-5FC8A6B1A3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de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B94F02-FC8B-DDD9-AA5C-BE66802F9D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C7A2E-E4E0-44C0-BDFD-92F2ACA2DEEB}" type="datetimeFigureOut">
              <a:rPr lang="de-CH" smtClean="0"/>
              <a:t>24.09.2026</a:t>
            </a:fld>
            <a:endParaRPr lang="de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731681-B280-2F07-1FCA-E54F374F55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1FAE97-5CB8-6814-ECCD-2AA482F56C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79E75-87E4-41A9-9F2E-CC7087E6CCBB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0668930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10DD3A-1258-C14D-2007-90A77DC833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CD53D0-FBED-DEDB-E6BE-F90BC999B7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FDC367-352D-5386-1CF0-258ED08DB4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C7A2E-E4E0-44C0-BDFD-92F2ACA2DEEB}" type="datetimeFigureOut">
              <a:rPr lang="de-CH" smtClean="0"/>
              <a:t>24.09.2026</a:t>
            </a:fld>
            <a:endParaRPr lang="de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2469B2-AEE7-6112-99AB-D7C572F36F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50DA49-3654-3AD0-F47A-FAA5CDE2E8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79E75-87E4-41A9-9F2E-CC7087E6CCBB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9805893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A73A11-6C1A-B7F2-0178-B02F32B6C7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de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99EC3B-77BF-2B82-74E4-7AC919C722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345D36-B05E-03B8-F11F-2E5E657549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C7A2E-E4E0-44C0-BDFD-92F2ACA2DEEB}" type="datetimeFigureOut">
              <a:rPr lang="de-CH" smtClean="0"/>
              <a:t>24.09.2026</a:t>
            </a:fld>
            <a:endParaRPr lang="de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C701E5-BC17-9797-2960-A8891FACD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11C19A-E2E2-58DD-CD8F-CB52599797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79E75-87E4-41A9-9F2E-CC7087E6CCBB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6805690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AC96D8-6818-53AE-B3EE-4A5D04A5FA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2D73CD-1401-883B-E237-92E6A4589D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C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2A3B97-24A0-E5AB-1F07-1280319AFB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C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42F969-7AF1-B78B-2214-400A518600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C7A2E-E4E0-44C0-BDFD-92F2ACA2DEEB}" type="datetimeFigureOut">
              <a:rPr lang="de-CH" smtClean="0"/>
              <a:t>24.09.2026</a:t>
            </a:fld>
            <a:endParaRPr lang="de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F52EDB-AF4A-B021-C3AE-E7F3EEC018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3B7D4D-F0B5-5225-FBE1-201E2EB804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79E75-87E4-41A9-9F2E-CC7087E6CCBB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3066540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178A1F-2B8D-4D4F-11B5-1A4F9219D3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749F82-D293-249F-8CB3-C43AEC8A8F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F23C67-C23C-0926-3077-647AF874AE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C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BCF0C28-5E96-DBAD-A8B5-BF1DBDBD90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3D26C0D-D882-FA7C-49BE-48B054A2E29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C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2E9E333-D891-84F1-8B3B-CE589F01F6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C7A2E-E4E0-44C0-BDFD-92F2ACA2DEEB}" type="datetimeFigureOut">
              <a:rPr lang="de-CH" smtClean="0"/>
              <a:t>24.09.2026</a:t>
            </a:fld>
            <a:endParaRPr lang="de-C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9323756-CEFA-A76F-8D0A-511A06F4BB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F39EE81-0DED-F57F-E950-BB65165561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79E75-87E4-41A9-9F2E-CC7087E6CCBB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1265308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7D25B0-6F94-3F61-7117-BA5A8570B9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C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2E40BB-FDDD-210C-FEA8-0BF7517148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C7A2E-E4E0-44C0-BDFD-92F2ACA2DEEB}" type="datetimeFigureOut">
              <a:rPr lang="de-CH" smtClean="0"/>
              <a:t>24.09.2026</a:t>
            </a:fld>
            <a:endParaRPr lang="de-C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342EC3D-92FA-CC3F-FC29-EDD64C91C1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62C292-DBD8-F22D-F36D-22EC76790E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79E75-87E4-41A9-9F2E-CC7087E6CCBB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3405222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FF590D6-3450-0C2A-87EC-71DEC53057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C7A2E-E4E0-44C0-BDFD-92F2ACA2DEEB}" type="datetimeFigureOut">
              <a:rPr lang="de-CH" smtClean="0"/>
              <a:t>24.09.2026</a:t>
            </a:fld>
            <a:endParaRPr lang="de-C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4041474-4143-6714-4D9E-29AC507AAC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CB1645-7A74-41CA-B0C1-C2FD8D379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79E75-87E4-41A9-9F2E-CC7087E6CCBB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8359665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F4CBC4-C8D1-C70C-E334-F6AF2E220F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603F67-BAE9-228C-2A27-CB84195F49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C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25BC93-5991-E1F9-E972-BE9DDA425A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FBC3CD-68CE-6CCB-A8EA-DEA8705B42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C7A2E-E4E0-44C0-BDFD-92F2ACA2DEEB}" type="datetimeFigureOut">
              <a:rPr lang="de-CH" smtClean="0"/>
              <a:t>24.09.2026</a:t>
            </a:fld>
            <a:endParaRPr lang="de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57528D-B77C-66C0-4947-C5DE022B05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FFBE00-1209-9A35-C0FF-7E42205C53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79E75-87E4-41A9-9F2E-CC7087E6CCBB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5122325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FD150E-E553-656C-F073-16FC509191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C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86A005F-C845-37F0-9094-9AA7FB98066D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C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6DED35-6314-8F5A-40A8-476B1091C4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AD4F2C-6540-17A0-1966-2475614557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C7A2E-E4E0-44C0-BDFD-92F2ACA2DEEB}" type="datetimeFigureOut">
              <a:rPr lang="de-CH" smtClean="0"/>
              <a:t>24.09.2026</a:t>
            </a:fld>
            <a:endParaRPr lang="de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FBB025-7F4C-6096-2581-500FE6BA79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39ADE7-6132-4C16-898B-CC57F54B82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79E75-87E4-41A9-9F2E-CC7087E6CCBB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8274665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A8FCE8-DA3C-1E9C-7F29-C605C69C04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C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232616-EB38-66CC-16EF-97DBD90209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5ED985-B67F-3B35-70E9-D4E3B0C4B8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C7A2E-E4E0-44C0-BDFD-92F2ACA2DEEB}" type="datetimeFigureOut">
              <a:rPr lang="de-CH" smtClean="0"/>
              <a:t>24.09.2026</a:t>
            </a:fld>
            <a:endParaRPr lang="de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CCD541-ACEA-9E7B-DC28-3E296CD238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8AD914-A242-6AED-5D49-B5284E1A87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79E75-87E4-41A9-9F2E-CC7087E6CCBB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9837922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EEF5E62-A9CA-6FE5-7878-DB6CCACBB72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de-C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A588D1-BAA7-6D17-E9CB-1F5DB93EF6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66AB99-DD0F-0256-649B-AD509418BA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C7A2E-E4E0-44C0-BDFD-92F2ACA2DEEB}" type="datetimeFigureOut">
              <a:rPr lang="de-CH" smtClean="0"/>
              <a:t>24.09.2026</a:t>
            </a:fld>
            <a:endParaRPr lang="de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BD7D24-AF8A-8CF0-EA18-24896950E7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03EF61-88CF-36AC-2B81-06F80473C7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79E75-87E4-41A9-9F2E-CC7087E6CCBB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735439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6BDD22A-AF1F-6D72-1495-BBEC15C665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de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3F8B6F-655E-4F8A-3A35-49D54BA07D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2C70ED-86DD-9D92-71FE-E98C2EE9A6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2DC7A2E-E4E0-44C0-BDFD-92F2ACA2DEEB}" type="datetimeFigureOut">
              <a:rPr lang="de-CH" smtClean="0"/>
              <a:t>24.09.2026</a:t>
            </a:fld>
            <a:endParaRPr lang="de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450F8B-7D21-CBB1-24E2-72202369C4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3B040F-3976-4DD4-DC1B-E2537AFB4D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FC79E75-87E4-41A9-9F2E-CC7087E6CCBB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4132080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B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Top Corners Rounded 1">
            <a:extLst>
              <a:ext uri="{FF2B5EF4-FFF2-40B4-BE49-F238E27FC236}">
                <a16:creationId xmlns:a16="http://schemas.microsoft.com/office/drawing/2014/main" id="{A450DC49-37E6-B543-88EE-40924014FDFE}"/>
              </a:ext>
            </a:extLst>
          </p:cNvPr>
          <p:cNvSpPr/>
          <p:nvPr/>
        </p:nvSpPr>
        <p:spPr>
          <a:xfrm>
            <a:off x="1393190" y="190500"/>
            <a:ext cx="890270" cy="304800"/>
          </a:xfrm>
          <a:prstGeom prst="round2SameRect">
            <a:avLst>
              <a:gd name="adj1" fmla="val 28000"/>
              <a:gd name="adj2" fmla="val 0"/>
            </a:avLst>
          </a:prstGeom>
          <a:solidFill>
            <a:srgbClr val="F4B18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0" rIns="50800" bIns="0" rtlCol="0" anchor="ctr"/>
          <a:lstStyle/>
          <a:p>
            <a:pPr algn="ctr"/>
            <a:r>
              <a:rPr lang="de-CH" sz="1050">
                <a:solidFill>
                  <a:srgbClr val="3B3B3B"/>
                </a:solidFill>
                <a:latin typeface="Calibri" panose="020F0502020204030204" pitchFamily="34" charset="0"/>
              </a:rPr>
              <a:t>Technik</a:t>
            </a:r>
          </a:p>
        </p:txBody>
      </p:sp>
      <p:sp>
        <p:nvSpPr>
          <p:cNvPr id="3" name="Rectangle: Top Corners Rounded 2">
            <a:extLst>
              <a:ext uri="{FF2B5EF4-FFF2-40B4-BE49-F238E27FC236}">
                <a16:creationId xmlns:a16="http://schemas.microsoft.com/office/drawing/2014/main" id="{0816F05E-8929-1144-25D9-EA903D893C59}"/>
              </a:ext>
            </a:extLst>
          </p:cNvPr>
          <p:cNvSpPr/>
          <p:nvPr/>
        </p:nvSpPr>
        <p:spPr>
          <a:xfrm>
            <a:off x="2321560" y="190500"/>
            <a:ext cx="1130300" cy="304800"/>
          </a:xfrm>
          <a:prstGeom prst="round2SameRect">
            <a:avLst>
              <a:gd name="adj1" fmla="val 28000"/>
              <a:gd name="adj2" fmla="val 0"/>
            </a:avLst>
          </a:prstGeom>
          <a:solidFill>
            <a:srgbClr val="A9D18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0" rIns="50800" bIns="0" rtlCol="0" anchor="ctr"/>
          <a:lstStyle/>
          <a:p>
            <a:pPr algn="ctr"/>
            <a:r>
              <a:rPr lang="de-CH" sz="1050">
                <a:solidFill>
                  <a:srgbClr val="3B3B3B"/>
                </a:solidFill>
                <a:latin typeface="Calibri" panose="020F0502020204030204" pitchFamily="34" charset="0"/>
              </a:rPr>
              <a:t>Funktionen</a:t>
            </a:r>
          </a:p>
        </p:txBody>
      </p:sp>
      <p:sp>
        <p:nvSpPr>
          <p:cNvPr id="4" name="Rectangle: Top Corners Rounded 3">
            <a:extLst>
              <a:ext uri="{FF2B5EF4-FFF2-40B4-BE49-F238E27FC236}">
                <a16:creationId xmlns:a16="http://schemas.microsoft.com/office/drawing/2014/main" id="{E6B1457B-5A10-3792-48EE-53FFA5A80FAA}"/>
              </a:ext>
            </a:extLst>
          </p:cNvPr>
          <p:cNvSpPr/>
          <p:nvPr/>
        </p:nvSpPr>
        <p:spPr>
          <a:xfrm>
            <a:off x="3489960" y="190500"/>
            <a:ext cx="1290320" cy="304800"/>
          </a:xfrm>
          <a:prstGeom prst="round2SameRect">
            <a:avLst>
              <a:gd name="adj1" fmla="val 28000"/>
              <a:gd name="adj2" fmla="val 0"/>
            </a:avLst>
          </a:prstGeom>
          <a:solidFill>
            <a:srgbClr val="C9A9E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0" rIns="50800" bIns="0" rtlCol="0" anchor="ctr"/>
          <a:lstStyle/>
          <a:p>
            <a:pPr algn="ctr"/>
            <a:r>
              <a:rPr lang="de-CH" sz="1050">
                <a:solidFill>
                  <a:srgbClr val="3B3B3B"/>
                </a:solidFill>
                <a:latin typeface="Calibri" panose="020F0502020204030204" pitchFamily="34" charset="0"/>
              </a:rPr>
              <a:t>Installation</a:t>
            </a:r>
          </a:p>
        </p:txBody>
      </p:sp>
      <p:sp>
        <p:nvSpPr>
          <p:cNvPr id="5" name="Rectangle: Top Corners Rounded 4">
            <a:extLst>
              <a:ext uri="{FF2B5EF4-FFF2-40B4-BE49-F238E27FC236}">
                <a16:creationId xmlns:a16="http://schemas.microsoft.com/office/drawing/2014/main" id="{DF70C5E3-B339-37C1-9D44-2D5D0FD122C5}"/>
              </a:ext>
            </a:extLst>
          </p:cNvPr>
          <p:cNvSpPr/>
          <p:nvPr/>
        </p:nvSpPr>
        <p:spPr>
          <a:xfrm>
            <a:off x="4818380" y="190500"/>
            <a:ext cx="730250" cy="304800"/>
          </a:xfrm>
          <a:prstGeom prst="round2SameRect">
            <a:avLst>
              <a:gd name="adj1" fmla="val 28000"/>
              <a:gd name="adj2" fmla="val 0"/>
            </a:avLst>
          </a:prstGeom>
          <a:solidFill>
            <a:srgbClr val="F4A6B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0" rIns="50800" bIns="0" rtlCol="0" anchor="ctr"/>
          <a:lstStyle/>
          <a:p>
            <a:pPr algn="ctr"/>
            <a:r>
              <a:rPr lang="de-CH" sz="1050">
                <a:solidFill>
                  <a:srgbClr val="3B3B3B"/>
                </a:solidFill>
                <a:latin typeface="Calibri" panose="020F0502020204030204" pitchFamily="34" charset="0"/>
              </a:rPr>
              <a:t>Teams</a:t>
            </a:r>
          </a:p>
        </p:txBody>
      </p:sp>
      <p:sp>
        <p:nvSpPr>
          <p:cNvPr id="6" name="Rectangle: Top Corners Rounded 5">
            <a:extLst>
              <a:ext uri="{FF2B5EF4-FFF2-40B4-BE49-F238E27FC236}">
                <a16:creationId xmlns:a16="http://schemas.microsoft.com/office/drawing/2014/main" id="{3146EA46-933E-5FA7-6B58-D3F7E2D27F97}"/>
              </a:ext>
            </a:extLst>
          </p:cNvPr>
          <p:cNvSpPr/>
          <p:nvPr/>
        </p:nvSpPr>
        <p:spPr>
          <a:xfrm>
            <a:off x="5586730" y="190500"/>
            <a:ext cx="730250" cy="304800"/>
          </a:xfrm>
          <a:prstGeom prst="round2SameRect">
            <a:avLst>
              <a:gd name="adj1" fmla="val 28000"/>
              <a:gd name="adj2" fmla="val 0"/>
            </a:avLst>
          </a:prstGeom>
          <a:solidFill>
            <a:srgbClr val="8FD3C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0" rIns="50800" bIns="0" rtlCol="0" anchor="ctr"/>
          <a:lstStyle/>
          <a:p>
            <a:pPr algn="ctr"/>
            <a:r>
              <a:rPr lang="de-CH" sz="1050">
                <a:solidFill>
                  <a:srgbClr val="3B3B3B"/>
                </a:solidFill>
                <a:latin typeface="Calibri" panose="020F0502020204030204" pitchFamily="34" charset="0"/>
              </a:rPr>
              <a:t>Tipps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66781F0-6E89-D98D-CF74-CC414F6E8688}"/>
              </a:ext>
            </a:extLst>
          </p:cNvPr>
          <p:cNvSpPr/>
          <p:nvPr/>
        </p:nvSpPr>
        <p:spPr>
          <a:xfrm>
            <a:off x="304800" y="482600"/>
            <a:ext cx="11582400" cy="6197600"/>
          </a:xfrm>
          <a:prstGeom prst="rect">
            <a:avLst/>
          </a:prstGeom>
          <a:solidFill>
            <a:srgbClr val="FFFFFF"/>
          </a:solidFill>
          <a:ln w="19050">
            <a:solidFill>
              <a:srgbClr val="8DB4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8" name="Rectangle: Top Corners Rounded 7">
            <a:extLst>
              <a:ext uri="{FF2B5EF4-FFF2-40B4-BE49-F238E27FC236}">
                <a16:creationId xmlns:a16="http://schemas.microsoft.com/office/drawing/2014/main" id="{F994A54C-0A3E-26C1-97D9-204CA79ADC5B}"/>
              </a:ext>
            </a:extLst>
          </p:cNvPr>
          <p:cNvSpPr/>
          <p:nvPr/>
        </p:nvSpPr>
        <p:spPr>
          <a:xfrm>
            <a:off x="304800" y="114300"/>
            <a:ext cx="1050290" cy="393700"/>
          </a:xfrm>
          <a:prstGeom prst="round2SameRect">
            <a:avLst>
              <a:gd name="adj1" fmla="val 28000"/>
              <a:gd name="adj2" fmla="val 0"/>
            </a:avLst>
          </a:prstGeom>
          <a:solidFill>
            <a:srgbClr val="8DB4E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0" rIns="50800" bIns="0" rtlCol="0" anchor="ctr"/>
          <a:lstStyle/>
          <a:p>
            <a:pPr algn="ctr"/>
            <a:r>
              <a:rPr lang="de-CH" sz="1100" b="1">
                <a:solidFill>
                  <a:srgbClr val="1F1F1F"/>
                </a:solidFill>
                <a:latin typeface="Calibri" panose="020F0502020204030204" pitchFamily="34" charset="0"/>
              </a:rPr>
              <a:t>Überblick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26545B2-AC19-C688-8AA3-8CAD1C7387B8}"/>
              </a:ext>
            </a:extLst>
          </p:cNvPr>
          <p:cNvSpPr/>
          <p:nvPr/>
        </p:nvSpPr>
        <p:spPr>
          <a:xfrm>
            <a:off x="9864725" y="492125"/>
            <a:ext cx="2012950" cy="6178550"/>
          </a:xfrm>
          <a:prstGeom prst="rect">
            <a:avLst/>
          </a:prstGeom>
          <a:solidFill>
            <a:srgbClr val="EFF4F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68029C2-3897-10C4-9667-64A6B1390877}"/>
              </a:ext>
            </a:extLst>
          </p:cNvPr>
          <p:cNvSpPr txBox="1"/>
          <p:nvPr/>
        </p:nvSpPr>
        <p:spPr>
          <a:xfrm>
            <a:off x="10007600" y="609600"/>
            <a:ext cx="1778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de-CH" sz="950">
                <a:solidFill>
                  <a:srgbClr val="6E6E6E"/>
                </a:solidFill>
                <a:latin typeface="Calibri" panose="020F0502020204030204" pitchFamily="34" charset="0"/>
              </a:rPr>
              <a:t>+  Seite hinzufügen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5237CD0-E04C-5A62-DACE-074EDADBF2D1}"/>
              </a:ext>
            </a:extLst>
          </p:cNvPr>
          <p:cNvSpPr/>
          <p:nvPr/>
        </p:nvSpPr>
        <p:spPr>
          <a:xfrm>
            <a:off x="9864725" y="838200"/>
            <a:ext cx="2012950" cy="279400"/>
          </a:xfrm>
          <a:prstGeom prst="rect">
            <a:avLst/>
          </a:prstGeom>
          <a:solidFill>
            <a:srgbClr val="C6DAF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AB30520-A170-9F6D-A268-667EC44EBA04}"/>
              </a:ext>
            </a:extLst>
          </p:cNvPr>
          <p:cNvSpPr txBox="1"/>
          <p:nvPr/>
        </p:nvSpPr>
        <p:spPr>
          <a:xfrm>
            <a:off x="10007600" y="889000"/>
            <a:ext cx="1778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de-CH" sz="1050" b="1">
                <a:solidFill>
                  <a:srgbClr val="262626"/>
                </a:solidFill>
                <a:latin typeface="Calibri" panose="020F0502020204030204" pitchFamily="34" charset="0"/>
              </a:rPr>
              <a:t>Time Entry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5D22EE0-DE57-5E3D-14B3-BA9D0D178E3E}"/>
              </a:ext>
            </a:extLst>
          </p:cNvPr>
          <p:cNvSpPr txBox="1"/>
          <p:nvPr/>
        </p:nvSpPr>
        <p:spPr>
          <a:xfrm>
            <a:off x="10007600" y="1193800"/>
            <a:ext cx="1778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de-CH" sz="1050">
                <a:solidFill>
                  <a:srgbClr val="262626"/>
                </a:solidFill>
                <a:latin typeface="Calibri" panose="020F0502020204030204" pitchFamily="34" charset="0"/>
              </a:rPr>
              <a:t>Überblick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8259FC7-30F1-C4C1-9709-B5CFA58591A0}"/>
              </a:ext>
            </a:extLst>
          </p:cNvPr>
          <p:cNvSpPr txBox="1"/>
          <p:nvPr/>
        </p:nvSpPr>
        <p:spPr>
          <a:xfrm>
            <a:off x="10007600" y="1498600"/>
            <a:ext cx="1778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de-CH" sz="1050">
                <a:solidFill>
                  <a:srgbClr val="262626"/>
                </a:solidFill>
                <a:latin typeface="Calibri" panose="020F0502020204030204" pitchFamily="34" charset="0"/>
              </a:rPr>
              <a:t>Architektur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8FF33EB-B085-2323-9B4D-AF70BF123AA7}"/>
              </a:ext>
            </a:extLst>
          </p:cNvPr>
          <p:cNvSpPr txBox="1"/>
          <p:nvPr/>
        </p:nvSpPr>
        <p:spPr>
          <a:xfrm>
            <a:off x="10007600" y="1803400"/>
            <a:ext cx="1778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de-CH" sz="1050">
                <a:solidFill>
                  <a:srgbClr val="262626"/>
                </a:solidFill>
                <a:latin typeface="Calibri" panose="020F0502020204030204" pitchFamily="34" charset="0"/>
              </a:rPr>
              <a:t>Sicherheit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8495982-86EE-06CB-72E0-474D88C6F594}"/>
              </a:ext>
            </a:extLst>
          </p:cNvPr>
          <p:cNvSpPr txBox="1"/>
          <p:nvPr/>
        </p:nvSpPr>
        <p:spPr>
          <a:xfrm>
            <a:off x="10007600" y="2108200"/>
            <a:ext cx="1778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de-CH" sz="1050">
                <a:solidFill>
                  <a:srgbClr val="262626"/>
                </a:solidFill>
                <a:latin typeface="Calibri" panose="020F0502020204030204" pitchFamily="34" charset="0"/>
              </a:rPr>
              <a:t>Stempeln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1FBD6B3-1945-31B8-F63A-0D9FA9FBC15D}"/>
              </a:ext>
            </a:extLst>
          </p:cNvPr>
          <p:cNvSpPr txBox="1"/>
          <p:nvPr/>
        </p:nvSpPr>
        <p:spPr>
          <a:xfrm>
            <a:off x="10007600" y="2413000"/>
            <a:ext cx="1778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de-CH" sz="1050">
                <a:solidFill>
                  <a:srgbClr val="262626"/>
                </a:solidFill>
                <a:latin typeface="Calibri" panose="020F0502020204030204" pitchFamily="34" charset="0"/>
              </a:rPr>
              <a:t>Excel-Zuordnung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64F27FB-825B-CBC2-74C4-57A106FFC800}"/>
              </a:ext>
            </a:extLst>
          </p:cNvPr>
          <p:cNvSpPr txBox="1"/>
          <p:nvPr/>
        </p:nvSpPr>
        <p:spPr>
          <a:xfrm>
            <a:off x="10007600" y="2717800"/>
            <a:ext cx="1778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de-CH" sz="1050">
                <a:solidFill>
                  <a:srgbClr val="262626"/>
                </a:solidFill>
                <a:latin typeface="Calibri" panose="020F0502020204030204" pitchFamily="34" charset="0"/>
              </a:rPr>
              <a:t>Weitere Funktionen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641CD64-85CE-F550-A39B-35B4900FA683}"/>
              </a:ext>
            </a:extLst>
          </p:cNvPr>
          <p:cNvSpPr txBox="1"/>
          <p:nvPr/>
        </p:nvSpPr>
        <p:spPr>
          <a:xfrm>
            <a:off x="10007600" y="3022600"/>
            <a:ext cx="1778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de-CH" sz="1050">
                <a:solidFill>
                  <a:srgbClr val="262626"/>
                </a:solidFill>
                <a:latin typeface="Calibri" panose="020F0502020204030204" pitchFamily="34" charset="0"/>
              </a:rPr>
              <a:t>Installation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397AC5B-B773-A949-5FA1-3C5EE5982F78}"/>
              </a:ext>
            </a:extLst>
          </p:cNvPr>
          <p:cNvSpPr txBox="1"/>
          <p:nvPr/>
        </p:nvSpPr>
        <p:spPr>
          <a:xfrm>
            <a:off x="10007600" y="3327400"/>
            <a:ext cx="1778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de-CH" sz="1050">
                <a:solidFill>
                  <a:srgbClr val="262626"/>
                </a:solidFill>
                <a:latin typeface="Calibri" panose="020F0502020204030204" pitchFamily="34" charset="0"/>
              </a:rPr>
              <a:t>Einrichtung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3919FB9-3C57-CEBB-2230-B2C61355B084}"/>
              </a:ext>
            </a:extLst>
          </p:cNvPr>
          <p:cNvSpPr txBox="1"/>
          <p:nvPr/>
        </p:nvSpPr>
        <p:spPr>
          <a:xfrm>
            <a:off x="10007600" y="3632200"/>
            <a:ext cx="1778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de-CH" sz="1050">
                <a:solidFill>
                  <a:srgbClr val="262626"/>
                </a:solidFill>
                <a:latin typeface="Calibri" panose="020F0502020204030204" pitchFamily="34" charset="0"/>
              </a:rPr>
              <a:t>Teams-Nachrichten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65AD23B-4A53-4EA7-8F5F-E8031975CCE8}"/>
              </a:ext>
            </a:extLst>
          </p:cNvPr>
          <p:cNvSpPr txBox="1"/>
          <p:nvPr/>
        </p:nvSpPr>
        <p:spPr>
          <a:xfrm>
            <a:off x="10007600" y="3937000"/>
            <a:ext cx="1778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de-CH" sz="1050">
                <a:solidFill>
                  <a:srgbClr val="262626"/>
                </a:solidFill>
                <a:latin typeface="Calibri" panose="020F0502020204030204" pitchFamily="34" charset="0"/>
              </a:rPr>
              <a:t>Tipps &amp; Ausblick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3937F1E-4D77-B6DF-F6D2-13268ED87113}"/>
              </a:ext>
            </a:extLst>
          </p:cNvPr>
          <p:cNvSpPr txBox="1"/>
          <p:nvPr/>
        </p:nvSpPr>
        <p:spPr>
          <a:xfrm>
            <a:off x="711200" y="1651000"/>
            <a:ext cx="8890000" cy="9017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de-CH" sz="5400">
                <a:solidFill>
                  <a:srgbClr val="1F1F1F"/>
                </a:solidFill>
                <a:latin typeface="Calibri Light" panose="020F0302020204030204" pitchFamily="34" charset="0"/>
              </a:rPr>
              <a:t>Time Entry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E64D6A11-63B8-0BB0-5782-F812B7779A77}"/>
              </a:ext>
            </a:extLst>
          </p:cNvPr>
          <p:cNvCxnSpPr/>
          <p:nvPr/>
        </p:nvCxnSpPr>
        <p:spPr>
          <a:xfrm>
            <a:off x="711200" y="2578100"/>
            <a:ext cx="3430461" cy="0"/>
          </a:xfrm>
          <a:prstGeom prst="line">
            <a:avLst/>
          </a:prstGeom>
          <a:ln w="9525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E2200FCB-E328-5760-F9EE-4CEEDE69CD4B}"/>
              </a:ext>
            </a:extLst>
          </p:cNvPr>
          <p:cNvSpPr txBox="1"/>
          <p:nvPr/>
        </p:nvSpPr>
        <p:spPr>
          <a:xfrm>
            <a:off x="711200" y="2628900"/>
            <a:ext cx="5334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de-CH" sz="950">
                <a:solidFill>
                  <a:srgbClr val="7F7F7F"/>
                </a:solidFill>
                <a:latin typeface="Calibri" panose="020F0502020204030204" pitchFamily="34" charset="0"/>
              </a:rPr>
              <a:t>Donnerstag, 24. September 2026          09:41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AC0616F-2EE8-BFF5-FB75-309E586E7C5A}"/>
              </a:ext>
            </a:extLst>
          </p:cNvPr>
          <p:cNvSpPr txBox="1"/>
          <p:nvPr/>
        </p:nvSpPr>
        <p:spPr>
          <a:xfrm>
            <a:off x="711200" y="2819400"/>
            <a:ext cx="6096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de-CH" sz="2000">
                <a:solidFill>
                  <a:srgbClr val="404040"/>
                </a:solidFill>
                <a:latin typeface="Calibri" panose="020F0502020204030204" pitchFamily="34" charset="0"/>
              </a:rPr>
              <a:t>Firefox-Extension für die Arbeitszeiterfassung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8AA97C0-D989-6882-4E85-B2618BF6BCD9}"/>
              </a:ext>
            </a:extLst>
          </p:cNvPr>
          <p:cNvSpPr txBox="1"/>
          <p:nvPr/>
        </p:nvSpPr>
        <p:spPr>
          <a:xfrm>
            <a:off x="711200" y="3327400"/>
            <a:ext cx="60960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de-DE" sz="1250">
                <a:solidFill>
                  <a:srgbClr val="595959"/>
                </a:solidFill>
                <a:latin typeface="Calibri" panose="020F0502020204030204" pitchFamily="34" charset="0"/>
              </a:rPr>
              <a:t>Dokumentation</a:t>
            </a:r>
          </a:p>
          <a:p>
            <a:r>
              <a:rPr lang="de-DE" sz="1250">
                <a:solidFill>
                  <a:srgbClr val="595959"/>
                </a:solidFill>
                <a:latin typeface="Calibri" panose="020F0502020204030204" pitchFamily="34" charset="0"/>
              </a:rPr>
              <a:t>ICT-Support und Animation · Schulen Unterägeri</a:t>
            </a:r>
            <a:endParaRPr lang="de-CH" sz="1250">
              <a:solidFill>
                <a:srgbClr val="595959"/>
              </a:solidFill>
              <a:latin typeface="Calibri" panose="020F0502020204030204" pitchFamily="34" charset="0"/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581761EF-9D27-EEAB-B25B-4AD061E27470}"/>
              </a:ext>
            </a:extLst>
          </p:cNvPr>
          <p:cNvSpPr/>
          <p:nvPr/>
        </p:nvSpPr>
        <p:spPr>
          <a:xfrm>
            <a:off x="711200" y="4191000"/>
            <a:ext cx="778510" cy="304800"/>
          </a:xfrm>
          <a:prstGeom prst="roundRect">
            <a:avLst>
              <a:gd name="adj" fmla="val 50000"/>
            </a:avLst>
          </a:prstGeom>
          <a:solidFill>
            <a:srgbClr val="FADCC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0" rIns="50800" bIns="0" rtlCol="0" anchor="ctr"/>
          <a:lstStyle/>
          <a:p>
            <a:pPr algn="ctr"/>
            <a:r>
              <a:rPr lang="de-CH" sz="1050">
                <a:solidFill>
                  <a:srgbClr val="262626"/>
                </a:solidFill>
                <a:latin typeface="Calibri" panose="020F0502020204030204" pitchFamily="34" charset="0"/>
              </a:rPr>
              <a:t>Firefox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F7D6D200-21C4-A770-F259-12042231BCE2}"/>
              </a:ext>
            </a:extLst>
          </p:cNvPr>
          <p:cNvSpPr/>
          <p:nvPr/>
        </p:nvSpPr>
        <p:spPr>
          <a:xfrm>
            <a:off x="1591310" y="4191000"/>
            <a:ext cx="1377950" cy="304800"/>
          </a:xfrm>
          <a:prstGeom prst="roundRect">
            <a:avLst>
              <a:gd name="adj" fmla="val 50000"/>
            </a:avLst>
          </a:prstGeom>
          <a:solidFill>
            <a:srgbClr val="CCDDF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0" rIns="50800" bIns="0" rtlCol="0" anchor="ctr"/>
          <a:lstStyle/>
          <a:p>
            <a:pPr algn="ctr"/>
            <a:r>
              <a:rPr lang="de-CH" sz="1050">
                <a:solidFill>
                  <a:srgbClr val="262626"/>
                </a:solidFill>
                <a:latin typeface="Calibri" panose="020F0502020204030204" pitchFamily="34" charset="0"/>
              </a:rPr>
              <a:t>Microsoft Entra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28A1A48C-D40A-39C3-8A68-EA7846BE1FC9}"/>
              </a:ext>
            </a:extLst>
          </p:cNvPr>
          <p:cNvSpPr/>
          <p:nvPr/>
        </p:nvSpPr>
        <p:spPr>
          <a:xfrm>
            <a:off x="3070860" y="4191000"/>
            <a:ext cx="1377950" cy="304800"/>
          </a:xfrm>
          <a:prstGeom prst="roundRect">
            <a:avLst>
              <a:gd name="adj" fmla="val 50000"/>
            </a:avLst>
          </a:prstGeom>
          <a:solidFill>
            <a:srgbClr val="E7D8F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0" rIns="50800" bIns="0" rtlCol="0" anchor="ctr"/>
          <a:lstStyle/>
          <a:p>
            <a:pPr algn="ctr"/>
            <a:r>
              <a:rPr lang="de-CH" sz="1050">
                <a:solidFill>
                  <a:srgbClr val="262626"/>
                </a:solidFill>
                <a:latin typeface="Calibri" panose="020F0502020204030204" pitchFamily="34" charset="0"/>
              </a:rPr>
              <a:t>Microsoft Graph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54425122-CE94-6B3A-79E9-EBC34BC481DC}"/>
              </a:ext>
            </a:extLst>
          </p:cNvPr>
          <p:cNvSpPr/>
          <p:nvPr/>
        </p:nvSpPr>
        <p:spPr>
          <a:xfrm>
            <a:off x="4550410" y="4191000"/>
            <a:ext cx="628650" cy="304800"/>
          </a:xfrm>
          <a:prstGeom prst="roundRect">
            <a:avLst>
              <a:gd name="adj" fmla="val 50000"/>
            </a:avLst>
          </a:prstGeom>
          <a:solidFill>
            <a:srgbClr val="D8EAC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0" rIns="50800" bIns="0" rtlCol="0" anchor="ctr"/>
          <a:lstStyle/>
          <a:p>
            <a:pPr algn="ctr"/>
            <a:r>
              <a:rPr lang="de-CH" sz="1050">
                <a:solidFill>
                  <a:srgbClr val="262626"/>
                </a:solidFill>
                <a:latin typeface="Calibri" panose="020F0502020204030204" pitchFamily="34" charset="0"/>
              </a:rPr>
              <a:t>Excel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CCECBBFC-F04B-7EF7-19A0-965359D03416}"/>
              </a:ext>
            </a:extLst>
          </p:cNvPr>
          <p:cNvSpPr/>
          <p:nvPr/>
        </p:nvSpPr>
        <p:spPr>
          <a:xfrm>
            <a:off x="5280660" y="4191000"/>
            <a:ext cx="628650" cy="304800"/>
          </a:xfrm>
          <a:prstGeom prst="roundRect">
            <a:avLst>
              <a:gd name="adj" fmla="val 50000"/>
            </a:avLst>
          </a:prstGeom>
          <a:solidFill>
            <a:srgbClr val="FAD7D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0" rIns="50800" bIns="0" rtlCol="0" anchor="ctr"/>
          <a:lstStyle/>
          <a:p>
            <a:pPr algn="ctr"/>
            <a:r>
              <a:rPr lang="de-CH" sz="1050">
                <a:solidFill>
                  <a:srgbClr val="262626"/>
                </a:solidFill>
                <a:latin typeface="Calibri" panose="020F0502020204030204" pitchFamily="34" charset="0"/>
              </a:rPr>
              <a:t>Teams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C8664F98-CC11-E3C0-B6FD-016C2A5CE6B9}"/>
              </a:ext>
            </a:extLst>
          </p:cNvPr>
          <p:cNvSpPr/>
          <p:nvPr/>
        </p:nvSpPr>
        <p:spPr>
          <a:xfrm>
            <a:off x="7112000" y="1778000"/>
            <a:ext cx="2032000" cy="2717800"/>
          </a:xfrm>
          <a:prstGeom prst="roundRect">
            <a:avLst>
              <a:gd name="adj" fmla="val 6000"/>
            </a:avLst>
          </a:prstGeom>
          <a:solidFill>
            <a:srgbClr val="7719A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964ABAD-275A-3AEE-B2D1-85A0B49B4BDB}"/>
              </a:ext>
            </a:extLst>
          </p:cNvPr>
          <p:cNvSpPr/>
          <p:nvPr/>
        </p:nvSpPr>
        <p:spPr>
          <a:xfrm>
            <a:off x="7112000" y="1879600"/>
            <a:ext cx="330200" cy="2514600"/>
          </a:xfrm>
          <a:prstGeom prst="rect">
            <a:avLst/>
          </a:prstGeom>
          <a:solidFill>
            <a:srgbClr val="5C138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AE3F80A2-4D08-711D-34DF-AFBF2A81108D}"/>
              </a:ext>
            </a:extLst>
          </p:cNvPr>
          <p:cNvSpPr/>
          <p:nvPr/>
        </p:nvSpPr>
        <p:spPr>
          <a:xfrm>
            <a:off x="7213600" y="2032000"/>
            <a:ext cx="127000" cy="127000"/>
          </a:xfrm>
          <a:prstGeom prst="ellipse">
            <a:avLst/>
          </a:prstGeom>
          <a:solidFill>
            <a:srgbClr val="EDE3F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BBB4480E-7540-8906-BABA-FA8DED866403}"/>
              </a:ext>
            </a:extLst>
          </p:cNvPr>
          <p:cNvSpPr/>
          <p:nvPr/>
        </p:nvSpPr>
        <p:spPr>
          <a:xfrm>
            <a:off x="7213600" y="2438400"/>
            <a:ext cx="127000" cy="127000"/>
          </a:xfrm>
          <a:prstGeom prst="ellipse">
            <a:avLst/>
          </a:prstGeom>
          <a:solidFill>
            <a:srgbClr val="EDE3F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2398A34E-09E2-92CC-1174-6E3A76C9F722}"/>
              </a:ext>
            </a:extLst>
          </p:cNvPr>
          <p:cNvSpPr/>
          <p:nvPr/>
        </p:nvSpPr>
        <p:spPr>
          <a:xfrm>
            <a:off x="7213600" y="2844800"/>
            <a:ext cx="127000" cy="127000"/>
          </a:xfrm>
          <a:prstGeom prst="ellipse">
            <a:avLst/>
          </a:prstGeom>
          <a:solidFill>
            <a:srgbClr val="EDE3F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1A3F3D58-7E76-AB02-9A4E-6542E7F7852C}"/>
              </a:ext>
            </a:extLst>
          </p:cNvPr>
          <p:cNvSpPr/>
          <p:nvPr/>
        </p:nvSpPr>
        <p:spPr>
          <a:xfrm>
            <a:off x="7213600" y="3251200"/>
            <a:ext cx="127000" cy="127000"/>
          </a:xfrm>
          <a:prstGeom prst="ellipse">
            <a:avLst/>
          </a:prstGeom>
          <a:solidFill>
            <a:srgbClr val="EDE3F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EE88A909-568F-9296-5C6E-25364B0E81A6}"/>
              </a:ext>
            </a:extLst>
          </p:cNvPr>
          <p:cNvSpPr/>
          <p:nvPr/>
        </p:nvSpPr>
        <p:spPr>
          <a:xfrm>
            <a:off x="7213600" y="3657600"/>
            <a:ext cx="127000" cy="127000"/>
          </a:xfrm>
          <a:prstGeom prst="ellipse">
            <a:avLst/>
          </a:prstGeom>
          <a:solidFill>
            <a:srgbClr val="EDE3F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681FBB22-6B65-B3C7-D3BD-AD897C3471EE}"/>
              </a:ext>
            </a:extLst>
          </p:cNvPr>
          <p:cNvSpPr/>
          <p:nvPr/>
        </p:nvSpPr>
        <p:spPr>
          <a:xfrm>
            <a:off x="7213600" y="4064000"/>
            <a:ext cx="127000" cy="127000"/>
          </a:xfrm>
          <a:prstGeom prst="ellipse">
            <a:avLst/>
          </a:prstGeom>
          <a:solidFill>
            <a:srgbClr val="EDE3F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82622156-9F9D-A77D-AB16-AB5C1E217948}"/>
              </a:ext>
            </a:extLst>
          </p:cNvPr>
          <p:cNvSpPr/>
          <p:nvPr/>
        </p:nvSpPr>
        <p:spPr>
          <a:xfrm>
            <a:off x="7772400" y="2235200"/>
            <a:ext cx="1016000" cy="1016000"/>
          </a:xfrm>
          <a:prstGeom prst="ellipse">
            <a:avLst/>
          </a:prstGeom>
          <a:noFill/>
          <a:ln w="50800" cap="flat" cmpd="sng" algn="ctr">
            <a:solidFill>
              <a:srgbClr val="FFFFFF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F25FF2B1-80B0-C378-6F23-CE9FA55C13B1}"/>
              </a:ext>
            </a:extLst>
          </p:cNvPr>
          <p:cNvCxnSpPr/>
          <p:nvPr/>
        </p:nvCxnSpPr>
        <p:spPr>
          <a:xfrm flipV="1">
            <a:off x="8280400" y="2413000"/>
            <a:ext cx="0" cy="330200"/>
          </a:xfrm>
          <a:prstGeom prst="line">
            <a:avLst/>
          </a:prstGeom>
          <a:ln w="508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F7310A52-68A1-F52E-F5C8-5719B89084C4}"/>
              </a:ext>
            </a:extLst>
          </p:cNvPr>
          <p:cNvCxnSpPr/>
          <p:nvPr/>
        </p:nvCxnSpPr>
        <p:spPr>
          <a:xfrm>
            <a:off x="8280400" y="2743200"/>
            <a:ext cx="254000" cy="152400"/>
          </a:xfrm>
          <a:prstGeom prst="line">
            <a:avLst/>
          </a:prstGeom>
          <a:ln w="508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57A262E7-3878-7655-CFF5-B6E1369A9EFC}"/>
              </a:ext>
            </a:extLst>
          </p:cNvPr>
          <p:cNvSpPr txBox="1"/>
          <p:nvPr/>
        </p:nvSpPr>
        <p:spPr>
          <a:xfrm>
            <a:off x="7569200" y="3429000"/>
            <a:ext cx="1422400" cy="762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85000"/>
              </a:lnSpc>
            </a:pPr>
            <a:r>
              <a:rPr lang="de-CH" sz="2200" b="1">
                <a:solidFill>
                  <a:srgbClr val="FFFFFF"/>
                </a:solidFill>
                <a:latin typeface="Calibri" panose="020F0502020204030204" pitchFamily="34" charset="0"/>
              </a:rPr>
              <a:t>Time</a:t>
            </a:r>
          </a:p>
          <a:p>
            <a:pPr algn="ctr">
              <a:lnSpc>
                <a:spcPct val="85000"/>
              </a:lnSpc>
            </a:pPr>
            <a:r>
              <a:rPr lang="de-CH" sz="2200" b="1">
                <a:solidFill>
                  <a:srgbClr val="FFFFFF"/>
                </a:solidFill>
                <a:latin typeface="Calibri" panose="020F0502020204030204" pitchFamily="34" charset="0"/>
              </a:rPr>
              <a:t>Entry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96580E9-0E4D-D75B-7C33-CDDECCB0FB68}"/>
              </a:ext>
            </a:extLst>
          </p:cNvPr>
          <p:cNvSpPr txBox="1"/>
          <p:nvPr/>
        </p:nvSpPr>
        <p:spPr>
          <a:xfrm>
            <a:off x="711200" y="4775200"/>
            <a:ext cx="8636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de-CH" sz="1050">
                <a:solidFill>
                  <a:srgbClr val="7F7F7F"/>
                </a:solidFill>
                <a:latin typeface="Calibri" panose="020F0502020204030204" pitchFamily="34" charset="0"/>
              </a:rPr>
              <a:t>Repository: </a:t>
            </a:r>
            <a:r>
              <a:rPr lang="de-CH" sz="950">
                <a:solidFill>
                  <a:srgbClr val="A31515"/>
                </a:solidFill>
                <a:latin typeface="Consolas" panose="020B0609020204030204" pitchFamily="49" charset="0"/>
              </a:rPr>
              <a:t>github.com/DerSeeliger/SchuleUnteraegeri_TimeEntries</a:t>
            </a:r>
          </a:p>
        </p:txBody>
      </p:sp>
    </p:spTree>
    <p:extLst>
      <p:ext uri="{BB962C8B-B14F-4D97-AF65-F5344CB8AC3E}">
        <p14:creationId xmlns:p14="http://schemas.microsoft.com/office/powerpoint/2010/main" val="3564591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B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Top Corners Rounded 1">
            <a:extLst>
              <a:ext uri="{FF2B5EF4-FFF2-40B4-BE49-F238E27FC236}">
                <a16:creationId xmlns:a16="http://schemas.microsoft.com/office/drawing/2014/main" id="{0A7F0A00-427E-92C4-FA49-A66B19E2CB64}"/>
              </a:ext>
            </a:extLst>
          </p:cNvPr>
          <p:cNvSpPr/>
          <p:nvPr/>
        </p:nvSpPr>
        <p:spPr>
          <a:xfrm>
            <a:off x="1393190" y="190500"/>
            <a:ext cx="890270" cy="304800"/>
          </a:xfrm>
          <a:prstGeom prst="round2SameRect">
            <a:avLst>
              <a:gd name="adj1" fmla="val 28000"/>
              <a:gd name="adj2" fmla="val 0"/>
            </a:avLst>
          </a:prstGeom>
          <a:solidFill>
            <a:srgbClr val="F4B18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0" rIns="50800" bIns="0" rtlCol="0" anchor="ctr"/>
          <a:lstStyle/>
          <a:p>
            <a:pPr algn="ctr"/>
            <a:r>
              <a:rPr lang="de-CH" sz="1050">
                <a:solidFill>
                  <a:srgbClr val="3B3B3B"/>
                </a:solidFill>
                <a:latin typeface="Calibri" panose="020F0502020204030204" pitchFamily="34" charset="0"/>
              </a:rPr>
              <a:t>Technik</a:t>
            </a:r>
          </a:p>
        </p:txBody>
      </p:sp>
      <p:sp>
        <p:nvSpPr>
          <p:cNvPr id="3" name="Rectangle: Top Corners Rounded 2">
            <a:extLst>
              <a:ext uri="{FF2B5EF4-FFF2-40B4-BE49-F238E27FC236}">
                <a16:creationId xmlns:a16="http://schemas.microsoft.com/office/drawing/2014/main" id="{AE991DBE-9F02-8CFA-AEF7-02080B106FEA}"/>
              </a:ext>
            </a:extLst>
          </p:cNvPr>
          <p:cNvSpPr/>
          <p:nvPr/>
        </p:nvSpPr>
        <p:spPr>
          <a:xfrm>
            <a:off x="2321560" y="190500"/>
            <a:ext cx="1130300" cy="304800"/>
          </a:xfrm>
          <a:prstGeom prst="round2SameRect">
            <a:avLst>
              <a:gd name="adj1" fmla="val 28000"/>
              <a:gd name="adj2" fmla="val 0"/>
            </a:avLst>
          </a:prstGeom>
          <a:solidFill>
            <a:srgbClr val="A9D18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0" rIns="50800" bIns="0" rtlCol="0" anchor="ctr"/>
          <a:lstStyle/>
          <a:p>
            <a:pPr algn="ctr"/>
            <a:r>
              <a:rPr lang="de-CH" sz="1050">
                <a:solidFill>
                  <a:srgbClr val="3B3B3B"/>
                </a:solidFill>
                <a:latin typeface="Calibri" panose="020F0502020204030204" pitchFamily="34" charset="0"/>
              </a:rPr>
              <a:t>Funktionen</a:t>
            </a:r>
          </a:p>
        </p:txBody>
      </p:sp>
      <p:sp>
        <p:nvSpPr>
          <p:cNvPr id="4" name="Rectangle: Top Corners Rounded 3">
            <a:extLst>
              <a:ext uri="{FF2B5EF4-FFF2-40B4-BE49-F238E27FC236}">
                <a16:creationId xmlns:a16="http://schemas.microsoft.com/office/drawing/2014/main" id="{C96B820D-7951-CD7F-1443-B0362D5D33BF}"/>
              </a:ext>
            </a:extLst>
          </p:cNvPr>
          <p:cNvSpPr/>
          <p:nvPr/>
        </p:nvSpPr>
        <p:spPr>
          <a:xfrm>
            <a:off x="3489960" y="190500"/>
            <a:ext cx="1290320" cy="304800"/>
          </a:xfrm>
          <a:prstGeom prst="round2SameRect">
            <a:avLst>
              <a:gd name="adj1" fmla="val 28000"/>
              <a:gd name="adj2" fmla="val 0"/>
            </a:avLst>
          </a:prstGeom>
          <a:solidFill>
            <a:srgbClr val="C9A9E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0" rIns="50800" bIns="0" rtlCol="0" anchor="ctr"/>
          <a:lstStyle/>
          <a:p>
            <a:pPr algn="ctr"/>
            <a:r>
              <a:rPr lang="de-CH" sz="1050">
                <a:solidFill>
                  <a:srgbClr val="3B3B3B"/>
                </a:solidFill>
                <a:latin typeface="Calibri" panose="020F0502020204030204" pitchFamily="34" charset="0"/>
              </a:rPr>
              <a:t>Installation</a:t>
            </a:r>
          </a:p>
        </p:txBody>
      </p:sp>
      <p:sp>
        <p:nvSpPr>
          <p:cNvPr id="5" name="Rectangle: Top Corners Rounded 4">
            <a:extLst>
              <a:ext uri="{FF2B5EF4-FFF2-40B4-BE49-F238E27FC236}">
                <a16:creationId xmlns:a16="http://schemas.microsoft.com/office/drawing/2014/main" id="{C9C8D6B3-35E0-7A30-214A-25D0436EEA2F}"/>
              </a:ext>
            </a:extLst>
          </p:cNvPr>
          <p:cNvSpPr/>
          <p:nvPr/>
        </p:nvSpPr>
        <p:spPr>
          <a:xfrm>
            <a:off x="4818380" y="190500"/>
            <a:ext cx="730250" cy="304800"/>
          </a:xfrm>
          <a:prstGeom prst="round2SameRect">
            <a:avLst>
              <a:gd name="adj1" fmla="val 28000"/>
              <a:gd name="adj2" fmla="val 0"/>
            </a:avLst>
          </a:prstGeom>
          <a:solidFill>
            <a:srgbClr val="F4A6B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0" rIns="50800" bIns="0" rtlCol="0" anchor="ctr"/>
          <a:lstStyle/>
          <a:p>
            <a:pPr algn="ctr"/>
            <a:r>
              <a:rPr lang="de-CH" sz="1050">
                <a:solidFill>
                  <a:srgbClr val="3B3B3B"/>
                </a:solidFill>
                <a:latin typeface="Calibri" panose="020F0502020204030204" pitchFamily="34" charset="0"/>
              </a:rPr>
              <a:t>Teams</a:t>
            </a:r>
          </a:p>
        </p:txBody>
      </p:sp>
      <p:sp>
        <p:nvSpPr>
          <p:cNvPr id="6" name="Rectangle: Top Corners Rounded 5">
            <a:extLst>
              <a:ext uri="{FF2B5EF4-FFF2-40B4-BE49-F238E27FC236}">
                <a16:creationId xmlns:a16="http://schemas.microsoft.com/office/drawing/2014/main" id="{5B16C890-5C96-3DF8-D0C6-1CC99D664558}"/>
              </a:ext>
            </a:extLst>
          </p:cNvPr>
          <p:cNvSpPr/>
          <p:nvPr/>
        </p:nvSpPr>
        <p:spPr>
          <a:xfrm>
            <a:off x="5586730" y="190500"/>
            <a:ext cx="730250" cy="304800"/>
          </a:xfrm>
          <a:prstGeom prst="round2SameRect">
            <a:avLst>
              <a:gd name="adj1" fmla="val 28000"/>
              <a:gd name="adj2" fmla="val 0"/>
            </a:avLst>
          </a:prstGeom>
          <a:solidFill>
            <a:srgbClr val="8FD3C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0" rIns="50800" bIns="0" rtlCol="0" anchor="ctr"/>
          <a:lstStyle/>
          <a:p>
            <a:pPr algn="ctr"/>
            <a:r>
              <a:rPr lang="de-CH" sz="1050">
                <a:solidFill>
                  <a:srgbClr val="3B3B3B"/>
                </a:solidFill>
                <a:latin typeface="Calibri" panose="020F0502020204030204" pitchFamily="34" charset="0"/>
              </a:rPr>
              <a:t>Tipps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64F8B5A-40CB-CF03-1748-AAB0869964F9}"/>
              </a:ext>
            </a:extLst>
          </p:cNvPr>
          <p:cNvSpPr/>
          <p:nvPr/>
        </p:nvSpPr>
        <p:spPr>
          <a:xfrm>
            <a:off x="304800" y="482600"/>
            <a:ext cx="11582400" cy="6197600"/>
          </a:xfrm>
          <a:prstGeom prst="rect">
            <a:avLst/>
          </a:prstGeom>
          <a:solidFill>
            <a:srgbClr val="FFFFFF"/>
          </a:solidFill>
          <a:ln w="19050">
            <a:solidFill>
              <a:srgbClr val="8DB4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8" name="Rectangle: Top Corners Rounded 7">
            <a:extLst>
              <a:ext uri="{FF2B5EF4-FFF2-40B4-BE49-F238E27FC236}">
                <a16:creationId xmlns:a16="http://schemas.microsoft.com/office/drawing/2014/main" id="{45578121-6046-0840-2DDC-5A9EF50C0060}"/>
              </a:ext>
            </a:extLst>
          </p:cNvPr>
          <p:cNvSpPr/>
          <p:nvPr/>
        </p:nvSpPr>
        <p:spPr>
          <a:xfrm>
            <a:off x="304800" y="114300"/>
            <a:ext cx="1050290" cy="393700"/>
          </a:xfrm>
          <a:prstGeom prst="round2SameRect">
            <a:avLst>
              <a:gd name="adj1" fmla="val 28000"/>
              <a:gd name="adj2" fmla="val 0"/>
            </a:avLst>
          </a:prstGeom>
          <a:solidFill>
            <a:srgbClr val="8DB4E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0" rIns="50800" bIns="0" rtlCol="0" anchor="ctr"/>
          <a:lstStyle/>
          <a:p>
            <a:pPr algn="ctr"/>
            <a:r>
              <a:rPr lang="de-CH" sz="1100" b="1">
                <a:solidFill>
                  <a:srgbClr val="1F1F1F"/>
                </a:solidFill>
                <a:latin typeface="Calibri" panose="020F0502020204030204" pitchFamily="34" charset="0"/>
              </a:rPr>
              <a:t>Überblick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BA5E52B-B4C4-F618-A356-F9E0C22F68B0}"/>
              </a:ext>
            </a:extLst>
          </p:cNvPr>
          <p:cNvSpPr/>
          <p:nvPr/>
        </p:nvSpPr>
        <p:spPr>
          <a:xfrm>
            <a:off x="9864725" y="492125"/>
            <a:ext cx="2012950" cy="6178550"/>
          </a:xfrm>
          <a:prstGeom prst="rect">
            <a:avLst/>
          </a:prstGeom>
          <a:solidFill>
            <a:srgbClr val="EFF4F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E0B5F4F-4465-6370-FFBB-EF34E8CF47EE}"/>
              </a:ext>
            </a:extLst>
          </p:cNvPr>
          <p:cNvSpPr txBox="1"/>
          <p:nvPr/>
        </p:nvSpPr>
        <p:spPr>
          <a:xfrm>
            <a:off x="10007600" y="609600"/>
            <a:ext cx="1778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de-CH" sz="950">
                <a:solidFill>
                  <a:srgbClr val="6E6E6E"/>
                </a:solidFill>
                <a:latin typeface="Calibri" panose="020F0502020204030204" pitchFamily="34" charset="0"/>
              </a:rPr>
              <a:t>+  Seite hinzufügen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1A8F934-2C09-E208-B585-7ECA56306FF8}"/>
              </a:ext>
            </a:extLst>
          </p:cNvPr>
          <p:cNvSpPr txBox="1"/>
          <p:nvPr/>
        </p:nvSpPr>
        <p:spPr>
          <a:xfrm>
            <a:off x="10007600" y="889000"/>
            <a:ext cx="1778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de-CH" sz="1050">
                <a:solidFill>
                  <a:srgbClr val="262626"/>
                </a:solidFill>
                <a:latin typeface="Calibri" panose="020F0502020204030204" pitchFamily="34" charset="0"/>
              </a:rPr>
              <a:t>Time Entry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A25AE3E-DAED-F691-8A8A-DD5599FAAF1C}"/>
              </a:ext>
            </a:extLst>
          </p:cNvPr>
          <p:cNvSpPr/>
          <p:nvPr/>
        </p:nvSpPr>
        <p:spPr>
          <a:xfrm>
            <a:off x="9864725" y="1143000"/>
            <a:ext cx="2012950" cy="279400"/>
          </a:xfrm>
          <a:prstGeom prst="rect">
            <a:avLst/>
          </a:prstGeom>
          <a:solidFill>
            <a:srgbClr val="C6DAF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D58972C-EA20-3F1A-F40C-F881139AE753}"/>
              </a:ext>
            </a:extLst>
          </p:cNvPr>
          <p:cNvSpPr txBox="1"/>
          <p:nvPr/>
        </p:nvSpPr>
        <p:spPr>
          <a:xfrm>
            <a:off x="10007600" y="1193800"/>
            <a:ext cx="1778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de-CH" sz="1050" b="1">
                <a:solidFill>
                  <a:srgbClr val="262626"/>
                </a:solidFill>
                <a:latin typeface="Calibri" panose="020F0502020204030204" pitchFamily="34" charset="0"/>
              </a:rPr>
              <a:t>Überblick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34AD6DB-43B2-3F16-4DC2-944A83384074}"/>
              </a:ext>
            </a:extLst>
          </p:cNvPr>
          <p:cNvSpPr txBox="1"/>
          <p:nvPr/>
        </p:nvSpPr>
        <p:spPr>
          <a:xfrm>
            <a:off x="10007600" y="1498600"/>
            <a:ext cx="1778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de-CH" sz="1050">
                <a:solidFill>
                  <a:srgbClr val="262626"/>
                </a:solidFill>
                <a:latin typeface="Calibri" panose="020F0502020204030204" pitchFamily="34" charset="0"/>
              </a:rPr>
              <a:t>Architektur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A2F35CE-9427-6782-AC9D-F462E84C3A0E}"/>
              </a:ext>
            </a:extLst>
          </p:cNvPr>
          <p:cNvSpPr txBox="1"/>
          <p:nvPr/>
        </p:nvSpPr>
        <p:spPr>
          <a:xfrm>
            <a:off x="10007600" y="1803400"/>
            <a:ext cx="1778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de-CH" sz="1050">
                <a:solidFill>
                  <a:srgbClr val="262626"/>
                </a:solidFill>
                <a:latin typeface="Calibri" panose="020F0502020204030204" pitchFamily="34" charset="0"/>
              </a:rPr>
              <a:t>Sicherheit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4F16F58-357F-4580-A404-A062957D7DB7}"/>
              </a:ext>
            </a:extLst>
          </p:cNvPr>
          <p:cNvSpPr txBox="1"/>
          <p:nvPr/>
        </p:nvSpPr>
        <p:spPr>
          <a:xfrm>
            <a:off x="10007600" y="2108200"/>
            <a:ext cx="1778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de-CH" sz="1050">
                <a:solidFill>
                  <a:srgbClr val="262626"/>
                </a:solidFill>
                <a:latin typeface="Calibri" panose="020F0502020204030204" pitchFamily="34" charset="0"/>
              </a:rPr>
              <a:t>Stempeln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4118F1B-2BDB-A891-A40A-673195E8385D}"/>
              </a:ext>
            </a:extLst>
          </p:cNvPr>
          <p:cNvSpPr txBox="1"/>
          <p:nvPr/>
        </p:nvSpPr>
        <p:spPr>
          <a:xfrm>
            <a:off x="10007600" y="2413000"/>
            <a:ext cx="1778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de-CH" sz="1050">
                <a:solidFill>
                  <a:srgbClr val="262626"/>
                </a:solidFill>
                <a:latin typeface="Calibri" panose="020F0502020204030204" pitchFamily="34" charset="0"/>
              </a:rPr>
              <a:t>Excel-Zuordnung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A77D675-85ED-1BF6-CFFA-80BD51180769}"/>
              </a:ext>
            </a:extLst>
          </p:cNvPr>
          <p:cNvSpPr txBox="1"/>
          <p:nvPr/>
        </p:nvSpPr>
        <p:spPr>
          <a:xfrm>
            <a:off x="10007600" y="2717800"/>
            <a:ext cx="1778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de-CH" sz="1050">
                <a:solidFill>
                  <a:srgbClr val="262626"/>
                </a:solidFill>
                <a:latin typeface="Calibri" panose="020F0502020204030204" pitchFamily="34" charset="0"/>
              </a:rPr>
              <a:t>Weitere Funktionen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9B74995-901B-AA49-384A-07E780D95E14}"/>
              </a:ext>
            </a:extLst>
          </p:cNvPr>
          <p:cNvSpPr txBox="1"/>
          <p:nvPr/>
        </p:nvSpPr>
        <p:spPr>
          <a:xfrm>
            <a:off x="10007600" y="3022600"/>
            <a:ext cx="1778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de-CH" sz="1050">
                <a:solidFill>
                  <a:srgbClr val="262626"/>
                </a:solidFill>
                <a:latin typeface="Calibri" panose="020F0502020204030204" pitchFamily="34" charset="0"/>
              </a:rPr>
              <a:t>Installation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CD43288-F731-4F79-9D6A-49A442C64E64}"/>
              </a:ext>
            </a:extLst>
          </p:cNvPr>
          <p:cNvSpPr txBox="1"/>
          <p:nvPr/>
        </p:nvSpPr>
        <p:spPr>
          <a:xfrm>
            <a:off x="10007600" y="3327400"/>
            <a:ext cx="1778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de-CH" sz="1050">
                <a:solidFill>
                  <a:srgbClr val="262626"/>
                </a:solidFill>
                <a:latin typeface="Calibri" panose="020F0502020204030204" pitchFamily="34" charset="0"/>
              </a:rPr>
              <a:t>Einrichtung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94FABF8-9810-5D46-D380-78390092E64F}"/>
              </a:ext>
            </a:extLst>
          </p:cNvPr>
          <p:cNvSpPr txBox="1"/>
          <p:nvPr/>
        </p:nvSpPr>
        <p:spPr>
          <a:xfrm>
            <a:off x="10007600" y="3632200"/>
            <a:ext cx="1778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de-CH" sz="1050">
                <a:solidFill>
                  <a:srgbClr val="262626"/>
                </a:solidFill>
                <a:latin typeface="Calibri" panose="020F0502020204030204" pitchFamily="34" charset="0"/>
              </a:rPr>
              <a:t>Teams-Nachrichten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831FF2D-4A36-3792-8115-C43AD5F8981B}"/>
              </a:ext>
            </a:extLst>
          </p:cNvPr>
          <p:cNvSpPr txBox="1"/>
          <p:nvPr/>
        </p:nvSpPr>
        <p:spPr>
          <a:xfrm>
            <a:off x="10007600" y="3937000"/>
            <a:ext cx="1778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de-CH" sz="1050">
                <a:solidFill>
                  <a:srgbClr val="262626"/>
                </a:solidFill>
                <a:latin typeface="Calibri" panose="020F0502020204030204" pitchFamily="34" charset="0"/>
              </a:rPr>
              <a:t>Tipps &amp; Ausblick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F4B1129-25F3-657B-EC90-CEFE52C72D70}"/>
              </a:ext>
            </a:extLst>
          </p:cNvPr>
          <p:cNvSpPr txBox="1"/>
          <p:nvPr/>
        </p:nvSpPr>
        <p:spPr>
          <a:xfrm>
            <a:off x="711200" y="635000"/>
            <a:ext cx="8890000" cy="4699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de-CH" sz="2800">
                <a:solidFill>
                  <a:srgbClr val="1F1F1F"/>
                </a:solidFill>
                <a:latin typeface="Calibri Light" panose="020F0302020204030204" pitchFamily="34" charset="0"/>
              </a:rPr>
              <a:t>Überblick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2062B9C1-890F-DA84-14F6-52B428E8AAA9}"/>
              </a:ext>
            </a:extLst>
          </p:cNvPr>
          <p:cNvCxnSpPr/>
          <p:nvPr/>
        </p:nvCxnSpPr>
        <p:spPr>
          <a:xfrm>
            <a:off x="711200" y="1130300"/>
            <a:ext cx="3048000" cy="0"/>
          </a:xfrm>
          <a:prstGeom prst="line">
            <a:avLst/>
          </a:prstGeom>
          <a:ln w="9525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1299CB55-71A6-E564-928B-82E706E2D6C8}"/>
              </a:ext>
            </a:extLst>
          </p:cNvPr>
          <p:cNvSpPr txBox="1"/>
          <p:nvPr/>
        </p:nvSpPr>
        <p:spPr>
          <a:xfrm>
            <a:off x="711200" y="1181100"/>
            <a:ext cx="5334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de-CH" sz="950">
                <a:solidFill>
                  <a:srgbClr val="7F7F7F"/>
                </a:solidFill>
                <a:latin typeface="Calibri" panose="020F0502020204030204" pitchFamily="34" charset="0"/>
              </a:rPr>
              <a:t>Donnerstag, 24. September 2026          09:41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D1D343E-E2BE-C00A-8E6D-82F3D4E9BADD}"/>
              </a:ext>
            </a:extLst>
          </p:cNvPr>
          <p:cNvSpPr txBox="1"/>
          <p:nvPr/>
        </p:nvSpPr>
        <p:spPr>
          <a:xfrm>
            <a:off x="711200" y="1625600"/>
            <a:ext cx="88392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de-DE" sz="1400">
                <a:solidFill>
                  <a:srgbClr val="262626"/>
                </a:solidFill>
                <a:latin typeface="Calibri" panose="020F0502020204030204" pitchFamily="34" charset="0"/>
              </a:rPr>
              <a:t>Für die Erfassung der Arbeitszeiten gibt es ein neues Tool: die Firefox-Extension </a:t>
            </a:r>
            <a:r>
              <a:rPr lang="de-DE" sz="1400" b="1">
                <a:solidFill>
                  <a:srgbClr val="262626"/>
                </a:solidFill>
                <a:latin typeface="Calibri" panose="020F0502020204030204" pitchFamily="34" charset="0"/>
              </a:rPr>
              <a:t>«Time Entry»</a:t>
            </a:r>
            <a:r>
              <a:rPr lang="de-DE" sz="1400">
                <a:solidFill>
                  <a:srgbClr val="262626"/>
                </a:solidFill>
                <a:latin typeface="Calibri" panose="020F0502020204030204" pitchFamily="34" charset="0"/>
              </a:rPr>
              <a:t>. Sie übernimmt die bisherigen Power-Automate-Flows fürs Ein- und Ausstempeln.</a:t>
            </a:r>
            <a:endParaRPr lang="de-CH" sz="1400">
              <a:solidFill>
                <a:srgbClr val="262626"/>
              </a:solidFill>
              <a:latin typeface="Calibri" panose="020F0502020204030204" pitchFamily="34" charset="0"/>
            </a:endParaRP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60718176-9499-CB19-4D94-C5B68119E392}"/>
              </a:ext>
            </a:extLst>
          </p:cNvPr>
          <p:cNvSpPr/>
          <p:nvPr/>
        </p:nvSpPr>
        <p:spPr>
          <a:xfrm>
            <a:off x="711200" y="2362200"/>
            <a:ext cx="4013200" cy="1625600"/>
          </a:xfrm>
          <a:prstGeom prst="roundRect">
            <a:avLst>
              <a:gd name="adj" fmla="val 6000"/>
            </a:avLst>
          </a:prstGeom>
          <a:solidFill>
            <a:srgbClr val="F6F6F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7F9F2DE-5DD0-7B69-82F0-5C3977B7CDF8}"/>
              </a:ext>
            </a:extLst>
          </p:cNvPr>
          <p:cNvSpPr txBox="1"/>
          <p:nvPr/>
        </p:nvSpPr>
        <p:spPr>
          <a:xfrm>
            <a:off x="939800" y="2514600"/>
            <a:ext cx="2540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de-CH" sz="950" b="1">
                <a:solidFill>
                  <a:srgbClr val="7F7F7F"/>
                </a:solidFill>
                <a:latin typeface="Calibri" panose="020F0502020204030204" pitchFamily="34" charset="0"/>
              </a:rPr>
              <a:t>VORHER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A78774D-77E7-8CA0-24C3-42C65843CDAF}"/>
              </a:ext>
            </a:extLst>
          </p:cNvPr>
          <p:cNvSpPr txBox="1"/>
          <p:nvPr/>
        </p:nvSpPr>
        <p:spPr>
          <a:xfrm>
            <a:off x="939800" y="2768600"/>
            <a:ext cx="3619500" cy="1143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165100" indent="-165100">
              <a:spcAft>
                <a:spcPts val="400"/>
              </a:spcAft>
              <a:buFont typeface="+mj-lt"/>
              <a:buChar char="•"/>
            </a:pPr>
            <a:r>
              <a:rPr lang="de-DE" sz="1300">
                <a:solidFill>
                  <a:srgbClr val="404040"/>
                </a:solidFill>
                <a:latin typeface="Calibri" panose="020F0502020204030204" pitchFamily="34" charset="0"/>
              </a:rPr>
              <a:t>Power-Automate-Portal öffnen</a:t>
            </a:r>
          </a:p>
          <a:p>
            <a:pPr marL="165100" indent="-165100">
              <a:spcAft>
                <a:spcPts val="400"/>
              </a:spcAft>
              <a:buFont typeface="+mj-lt"/>
              <a:buChar char="•"/>
            </a:pPr>
            <a:r>
              <a:rPr lang="de-DE" sz="1300">
                <a:solidFill>
                  <a:srgbClr val="404040"/>
                </a:solidFill>
                <a:latin typeface="Calibri" panose="020F0502020204030204" pitchFamily="34" charset="0"/>
              </a:rPr>
              <a:t>Flow suchen und manuell starten</a:t>
            </a:r>
          </a:p>
          <a:p>
            <a:pPr marL="165100" indent="-165100">
              <a:spcAft>
                <a:spcPts val="400"/>
              </a:spcAft>
              <a:buFont typeface="+mj-lt"/>
              <a:buChar char="•"/>
            </a:pPr>
            <a:r>
              <a:rPr lang="de-DE" sz="1300">
                <a:solidFill>
                  <a:srgbClr val="404040"/>
                </a:solidFill>
                <a:latin typeface="Calibri" panose="020F0502020204030204" pitchFamily="34" charset="0"/>
              </a:rPr>
              <a:t>Mehrere Flows pro Tag</a:t>
            </a:r>
            <a:endParaRPr lang="de-CH" sz="1300">
              <a:solidFill>
                <a:srgbClr val="404040"/>
              </a:solidFill>
              <a:latin typeface="Calibri" panose="020F0502020204030204" pitchFamily="34" charset="0"/>
            </a:endParaRPr>
          </a:p>
        </p:txBody>
      </p:sp>
      <p:sp>
        <p:nvSpPr>
          <p:cNvPr id="30" name="Arrow: Right 29">
            <a:extLst>
              <a:ext uri="{FF2B5EF4-FFF2-40B4-BE49-F238E27FC236}">
                <a16:creationId xmlns:a16="http://schemas.microsoft.com/office/drawing/2014/main" id="{EE9F6E2C-AA75-4F7E-09B0-08FB5F0EB412}"/>
              </a:ext>
            </a:extLst>
          </p:cNvPr>
          <p:cNvSpPr/>
          <p:nvPr/>
        </p:nvSpPr>
        <p:spPr>
          <a:xfrm>
            <a:off x="4851400" y="2971800"/>
            <a:ext cx="381000" cy="381000"/>
          </a:xfrm>
          <a:prstGeom prst="rightArrow">
            <a:avLst/>
          </a:prstGeom>
          <a:solidFill>
            <a:srgbClr val="8DB4E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5C1E5456-24E5-A90C-06CD-111240A0BFD1}"/>
              </a:ext>
            </a:extLst>
          </p:cNvPr>
          <p:cNvSpPr/>
          <p:nvPr/>
        </p:nvSpPr>
        <p:spPr>
          <a:xfrm>
            <a:off x="5359400" y="2362200"/>
            <a:ext cx="4191000" cy="1625600"/>
          </a:xfrm>
          <a:prstGeom prst="roundRect">
            <a:avLst>
              <a:gd name="adj" fmla="val 6000"/>
            </a:avLst>
          </a:prstGeom>
          <a:solidFill>
            <a:srgbClr val="E6EEF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A141D7B-6F92-9ADA-638D-8061D57590EB}"/>
              </a:ext>
            </a:extLst>
          </p:cNvPr>
          <p:cNvSpPr txBox="1"/>
          <p:nvPr/>
        </p:nvSpPr>
        <p:spPr>
          <a:xfrm>
            <a:off x="5588000" y="2514600"/>
            <a:ext cx="2540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de-CH" sz="950" b="1">
                <a:solidFill>
                  <a:srgbClr val="3B5E8C"/>
                </a:solidFill>
                <a:latin typeface="Calibri" panose="020F0502020204030204" pitchFamily="34" charset="0"/>
              </a:rPr>
              <a:t>NACHHER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C920DD8-A809-98AA-D7EA-56A7D5FC5B52}"/>
              </a:ext>
            </a:extLst>
          </p:cNvPr>
          <p:cNvSpPr txBox="1"/>
          <p:nvPr/>
        </p:nvSpPr>
        <p:spPr>
          <a:xfrm>
            <a:off x="5588000" y="2768600"/>
            <a:ext cx="3810000" cy="1143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165100" indent="-165100">
              <a:spcAft>
                <a:spcPts val="400"/>
              </a:spcAft>
              <a:buFont typeface="+mj-lt"/>
              <a:buChar char="•"/>
            </a:pPr>
            <a:r>
              <a:rPr lang="de-DE" sz="1300">
                <a:solidFill>
                  <a:srgbClr val="262626"/>
                </a:solidFill>
                <a:latin typeface="Calibri" panose="020F0502020204030204" pitchFamily="34" charset="0"/>
              </a:rPr>
              <a:t>Ein Klick im Firefox-Popup</a:t>
            </a:r>
          </a:p>
          <a:p>
            <a:pPr marL="165100" indent="-165100">
              <a:spcAft>
                <a:spcPts val="400"/>
              </a:spcAft>
              <a:buFont typeface="+mj-lt"/>
              <a:buChar char="•"/>
            </a:pPr>
            <a:r>
              <a:rPr lang="de-DE" sz="1300">
                <a:solidFill>
                  <a:srgbClr val="262626"/>
                </a:solidFill>
                <a:latin typeface="Calibri" panose="020F0502020204030204" pitchFamily="34" charset="0"/>
              </a:rPr>
              <a:t>Zeit landet direkt im Excel</a:t>
            </a:r>
          </a:p>
          <a:p>
            <a:pPr marL="165100" indent="-165100">
              <a:spcAft>
                <a:spcPts val="400"/>
              </a:spcAft>
              <a:buFont typeface="+mj-lt"/>
              <a:buChar char="•"/>
            </a:pPr>
            <a:r>
              <a:rPr lang="de-DE" sz="1300">
                <a:solidFill>
                  <a:srgbClr val="262626"/>
                </a:solidFill>
                <a:latin typeface="Calibri" panose="020F0502020204030204" pitchFamily="34" charset="0"/>
              </a:rPr>
              <a:t>Optional: Nachricht im Teams-Chat</a:t>
            </a:r>
            <a:endParaRPr lang="de-CH" sz="1300">
              <a:solidFill>
                <a:srgbClr val="262626"/>
              </a:solidFill>
              <a:latin typeface="Calibri" panose="020F0502020204030204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0E5F5EB-7CF7-E00E-C3D6-DADE39BEA5F8}"/>
              </a:ext>
            </a:extLst>
          </p:cNvPr>
          <p:cNvSpPr txBox="1"/>
          <p:nvPr/>
        </p:nvSpPr>
        <p:spPr>
          <a:xfrm>
            <a:off x="711200" y="4267200"/>
            <a:ext cx="381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de-CH" sz="1600" b="1">
                <a:solidFill>
                  <a:srgbClr val="1F1F1F"/>
                </a:solidFill>
                <a:latin typeface="Calibri" panose="020F0502020204030204" pitchFamily="34" charset="0"/>
              </a:rPr>
              <a:t>Ziele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EBF2E5E7-DF55-ADB0-DECA-F0C9D00EB704}"/>
              </a:ext>
            </a:extLst>
          </p:cNvPr>
          <p:cNvSpPr/>
          <p:nvPr/>
        </p:nvSpPr>
        <p:spPr>
          <a:xfrm>
            <a:off x="711200" y="4699000"/>
            <a:ext cx="381000" cy="381000"/>
          </a:xfrm>
          <a:prstGeom prst="ellipse">
            <a:avLst/>
          </a:prstGeom>
          <a:solidFill>
            <a:srgbClr val="8DB4E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de-CH" sz="1300" b="1">
                <a:solidFill>
                  <a:srgbClr val="FFFFFF"/>
                </a:solidFill>
                <a:latin typeface="Segoe UI Symbol" panose="020B0502040204020203" pitchFamily="34" charset="0"/>
              </a:rPr>
              <a:t>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AC7EEFC-274B-3C09-FB45-275F39CB85E6}"/>
              </a:ext>
            </a:extLst>
          </p:cNvPr>
          <p:cNvSpPr txBox="1"/>
          <p:nvPr/>
        </p:nvSpPr>
        <p:spPr>
          <a:xfrm>
            <a:off x="1244600" y="4699000"/>
            <a:ext cx="2286000" cy="1397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lang="de-DE" sz="1350" b="1">
                <a:solidFill>
                  <a:srgbClr val="1F1F1F"/>
                </a:solidFill>
                <a:latin typeface="Calibri" panose="020F0502020204030204" pitchFamily="34" charset="0"/>
              </a:rPr>
              <a:t>Einfacher stempeln</a:t>
            </a:r>
          </a:p>
          <a:p>
            <a:r>
              <a:rPr lang="de-DE" sz="1200">
                <a:solidFill>
                  <a:srgbClr val="404040"/>
                </a:solidFill>
                <a:latin typeface="Calibri" panose="020F0502020204030204" pitchFamily="34" charset="0"/>
              </a:rPr>
              <a:t>Ein Klick statt den Flow im Portal zu suchen und zu starten.</a:t>
            </a:r>
            <a:endParaRPr lang="de-CH" sz="1200">
              <a:solidFill>
                <a:srgbClr val="404040"/>
              </a:solidFill>
              <a:latin typeface="Calibri" panose="020F0502020204030204" pitchFamily="34" charset="0"/>
            </a:endParaRP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E7B81C55-1163-AF0F-3CD3-EF83759D9F93}"/>
              </a:ext>
            </a:extLst>
          </p:cNvPr>
          <p:cNvSpPr/>
          <p:nvPr/>
        </p:nvSpPr>
        <p:spPr>
          <a:xfrm>
            <a:off x="3733800" y="4699000"/>
            <a:ext cx="381000" cy="381000"/>
          </a:xfrm>
          <a:prstGeom prst="ellipse">
            <a:avLst/>
          </a:prstGeom>
          <a:solidFill>
            <a:srgbClr val="8DB4E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de-CH" sz="1300" b="1">
                <a:solidFill>
                  <a:srgbClr val="FFFFFF"/>
                </a:solidFill>
                <a:latin typeface="Segoe UI Symbol" panose="020B0502040204020203" pitchFamily="34" charset="0"/>
              </a:rPr>
              <a:t>2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0CA8E9F-29B3-A060-B9A9-3FF983A24B39}"/>
              </a:ext>
            </a:extLst>
          </p:cNvPr>
          <p:cNvSpPr txBox="1"/>
          <p:nvPr/>
        </p:nvSpPr>
        <p:spPr>
          <a:xfrm>
            <a:off x="4267200" y="4699000"/>
            <a:ext cx="2286000" cy="1397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lang="de-DE" sz="1350" b="1">
                <a:solidFill>
                  <a:srgbClr val="1F1F1F"/>
                </a:solidFill>
                <a:latin typeface="Calibri" panose="020F0502020204030204" pitchFamily="34" charset="0"/>
              </a:rPr>
              <a:t>Ohne Power-Automate-Portal</a:t>
            </a:r>
          </a:p>
          <a:p>
            <a:r>
              <a:rPr lang="de-DE" sz="1200">
                <a:solidFill>
                  <a:srgbClr val="404040"/>
                </a:solidFill>
                <a:latin typeface="Calibri" panose="020F0502020204030204" pitchFamily="34" charset="0"/>
              </a:rPr>
              <a:t>Die Extension schreibt die Zeiten selbst ins Excel, ohne Premium-Lizenz.</a:t>
            </a:r>
            <a:endParaRPr lang="de-CH" sz="1200">
              <a:solidFill>
                <a:srgbClr val="404040"/>
              </a:solidFill>
              <a:latin typeface="Calibri" panose="020F0502020204030204" pitchFamily="34" charset="0"/>
            </a:endParaRP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67C13B97-BB45-1179-3988-6603D794708E}"/>
              </a:ext>
            </a:extLst>
          </p:cNvPr>
          <p:cNvSpPr/>
          <p:nvPr/>
        </p:nvSpPr>
        <p:spPr>
          <a:xfrm>
            <a:off x="6756400" y="4699000"/>
            <a:ext cx="381000" cy="381000"/>
          </a:xfrm>
          <a:prstGeom prst="ellipse">
            <a:avLst/>
          </a:prstGeom>
          <a:solidFill>
            <a:srgbClr val="8DB4E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de-CH" sz="1300" b="1">
                <a:solidFill>
                  <a:srgbClr val="FFFFFF"/>
                </a:solidFill>
                <a:latin typeface="Segoe UI Symbol" panose="020B0502040204020203" pitchFamily="34" charset="0"/>
              </a:rPr>
              <a:t>3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968830D-D01A-8BD7-063A-BC0CC51FD383}"/>
              </a:ext>
            </a:extLst>
          </p:cNvPr>
          <p:cNvSpPr txBox="1"/>
          <p:nvPr/>
        </p:nvSpPr>
        <p:spPr>
          <a:xfrm>
            <a:off x="7289800" y="4699000"/>
            <a:ext cx="2286000" cy="1397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lang="de-DE" sz="1350" b="1">
                <a:solidFill>
                  <a:srgbClr val="1F1F1F"/>
                </a:solidFill>
                <a:latin typeface="Calibri" panose="020F0502020204030204" pitchFamily="34" charset="0"/>
              </a:rPr>
              <a:t>Basis für mehr</a:t>
            </a:r>
          </a:p>
          <a:p>
            <a:r>
              <a:rPr lang="de-DE" sz="1200">
                <a:solidFill>
                  <a:srgbClr val="404040"/>
                </a:solidFill>
                <a:latin typeface="Calibri" panose="020F0502020204030204" pitchFamily="34" charset="0"/>
              </a:rPr>
              <a:t>Dieselbe Grundlage dient später für eine Mobile App oder ein Widget.</a:t>
            </a:r>
            <a:endParaRPr lang="de-CH" sz="1200">
              <a:solidFill>
                <a:srgbClr val="40404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10719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B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Top Corners Rounded 1">
            <a:extLst>
              <a:ext uri="{FF2B5EF4-FFF2-40B4-BE49-F238E27FC236}">
                <a16:creationId xmlns:a16="http://schemas.microsoft.com/office/drawing/2014/main" id="{D80390C6-F393-E560-3BD9-4B14127CEEB0}"/>
              </a:ext>
            </a:extLst>
          </p:cNvPr>
          <p:cNvSpPr/>
          <p:nvPr/>
        </p:nvSpPr>
        <p:spPr>
          <a:xfrm>
            <a:off x="304800" y="190500"/>
            <a:ext cx="1050290" cy="304800"/>
          </a:xfrm>
          <a:prstGeom prst="round2SameRect">
            <a:avLst>
              <a:gd name="adj1" fmla="val 28000"/>
              <a:gd name="adj2" fmla="val 0"/>
            </a:avLst>
          </a:prstGeom>
          <a:solidFill>
            <a:srgbClr val="8DB4E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0" rIns="50800" bIns="0" rtlCol="0" anchor="ctr"/>
          <a:lstStyle/>
          <a:p>
            <a:pPr algn="ctr"/>
            <a:r>
              <a:rPr lang="de-CH" sz="1050">
                <a:solidFill>
                  <a:srgbClr val="3B3B3B"/>
                </a:solidFill>
                <a:latin typeface="Calibri" panose="020F0502020204030204" pitchFamily="34" charset="0"/>
              </a:rPr>
              <a:t>Überblick</a:t>
            </a:r>
          </a:p>
        </p:txBody>
      </p:sp>
      <p:sp>
        <p:nvSpPr>
          <p:cNvPr id="3" name="Rectangle: Top Corners Rounded 2">
            <a:extLst>
              <a:ext uri="{FF2B5EF4-FFF2-40B4-BE49-F238E27FC236}">
                <a16:creationId xmlns:a16="http://schemas.microsoft.com/office/drawing/2014/main" id="{92B9BC80-CC42-184E-B255-4C255AECB765}"/>
              </a:ext>
            </a:extLst>
          </p:cNvPr>
          <p:cNvSpPr/>
          <p:nvPr/>
        </p:nvSpPr>
        <p:spPr>
          <a:xfrm>
            <a:off x="2321560" y="190500"/>
            <a:ext cx="1130300" cy="304800"/>
          </a:xfrm>
          <a:prstGeom prst="round2SameRect">
            <a:avLst>
              <a:gd name="adj1" fmla="val 28000"/>
              <a:gd name="adj2" fmla="val 0"/>
            </a:avLst>
          </a:prstGeom>
          <a:solidFill>
            <a:srgbClr val="A9D18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0" rIns="50800" bIns="0" rtlCol="0" anchor="ctr"/>
          <a:lstStyle/>
          <a:p>
            <a:pPr algn="ctr"/>
            <a:r>
              <a:rPr lang="de-CH" sz="1050">
                <a:solidFill>
                  <a:srgbClr val="3B3B3B"/>
                </a:solidFill>
                <a:latin typeface="Calibri" panose="020F0502020204030204" pitchFamily="34" charset="0"/>
              </a:rPr>
              <a:t>Funktionen</a:t>
            </a:r>
          </a:p>
        </p:txBody>
      </p:sp>
      <p:sp>
        <p:nvSpPr>
          <p:cNvPr id="4" name="Rectangle: Top Corners Rounded 3">
            <a:extLst>
              <a:ext uri="{FF2B5EF4-FFF2-40B4-BE49-F238E27FC236}">
                <a16:creationId xmlns:a16="http://schemas.microsoft.com/office/drawing/2014/main" id="{3D47EEF2-254C-0A38-7DFA-DA3442FEB22C}"/>
              </a:ext>
            </a:extLst>
          </p:cNvPr>
          <p:cNvSpPr/>
          <p:nvPr/>
        </p:nvSpPr>
        <p:spPr>
          <a:xfrm>
            <a:off x="3489960" y="190500"/>
            <a:ext cx="1290320" cy="304800"/>
          </a:xfrm>
          <a:prstGeom prst="round2SameRect">
            <a:avLst>
              <a:gd name="adj1" fmla="val 28000"/>
              <a:gd name="adj2" fmla="val 0"/>
            </a:avLst>
          </a:prstGeom>
          <a:solidFill>
            <a:srgbClr val="C9A9E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0" rIns="50800" bIns="0" rtlCol="0" anchor="ctr"/>
          <a:lstStyle/>
          <a:p>
            <a:pPr algn="ctr"/>
            <a:r>
              <a:rPr lang="de-CH" sz="1050">
                <a:solidFill>
                  <a:srgbClr val="3B3B3B"/>
                </a:solidFill>
                <a:latin typeface="Calibri" panose="020F0502020204030204" pitchFamily="34" charset="0"/>
              </a:rPr>
              <a:t>Installation</a:t>
            </a:r>
          </a:p>
        </p:txBody>
      </p:sp>
      <p:sp>
        <p:nvSpPr>
          <p:cNvPr id="5" name="Rectangle: Top Corners Rounded 4">
            <a:extLst>
              <a:ext uri="{FF2B5EF4-FFF2-40B4-BE49-F238E27FC236}">
                <a16:creationId xmlns:a16="http://schemas.microsoft.com/office/drawing/2014/main" id="{4EBF72D0-0F16-5069-E06E-94033C7B59B3}"/>
              </a:ext>
            </a:extLst>
          </p:cNvPr>
          <p:cNvSpPr/>
          <p:nvPr/>
        </p:nvSpPr>
        <p:spPr>
          <a:xfrm>
            <a:off x="4818380" y="190500"/>
            <a:ext cx="730250" cy="304800"/>
          </a:xfrm>
          <a:prstGeom prst="round2SameRect">
            <a:avLst>
              <a:gd name="adj1" fmla="val 28000"/>
              <a:gd name="adj2" fmla="val 0"/>
            </a:avLst>
          </a:prstGeom>
          <a:solidFill>
            <a:srgbClr val="F4A6B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0" rIns="50800" bIns="0" rtlCol="0" anchor="ctr"/>
          <a:lstStyle/>
          <a:p>
            <a:pPr algn="ctr"/>
            <a:r>
              <a:rPr lang="de-CH" sz="1050">
                <a:solidFill>
                  <a:srgbClr val="3B3B3B"/>
                </a:solidFill>
                <a:latin typeface="Calibri" panose="020F0502020204030204" pitchFamily="34" charset="0"/>
              </a:rPr>
              <a:t>Teams</a:t>
            </a:r>
          </a:p>
        </p:txBody>
      </p:sp>
      <p:sp>
        <p:nvSpPr>
          <p:cNvPr id="6" name="Rectangle: Top Corners Rounded 5">
            <a:extLst>
              <a:ext uri="{FF2B5EF4-FFF2-40B4-BE49-F238E27FC236}">
                <a16:creationId xmlns:a16="http://schemas.microsoft.com/office/drawing/2014/main" id="{42F60B12-449E-FC1C-545D-8AD1EF80E278}"/>
              </a:ext>
            </a:extLst>
          </p:cNvPr>
          <p:cNvSpPr/>
          <p:nvPr/>
        </p:nvSpPr>
        <p:spPr>
          <a:xfrm>
            <a:off x="5586730" y="190500"/>
            <a:ext cx="730250" cy="304800"/>
          </a:xfrm>
          <a:prstGeom prst="round2SameRect">
            <a:avLst>
              <a:gd name="adj1" fmla="val 28000"/>
              <a:gd name="adj2" fmla="val 0"/>
            </a:avLst>
          </a:prstGeom>
          <a:solidFill>
            <a:srgbClr val="8FD3C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0" rIns="50800" bIns="0" rtlCol="0" anchor="ctr"/>
          <a:lstStyle/>
          <a:p>
            <a:pPr algn="ctr"/>
            <a:r>
              <a:rPr lang="de-CH" sz="1050">
                <a:solidFill>
                  <a:srgbClr val="3B3B3B"/>
                </a:solidFill>
                <a:latin typeface="Calibri" panose="020F0502020204030204" pitchFamily="34" charset="0"/>
              </a:rPr>
              <a:t>Tipps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C7E6DFC-5D48-F7F2-781C-41B46AD21848}"/>
              </a:ext>
            </a:extLst>
          </p:cNvPr>
          <p:cNvSpPr/>
          <p:nvPr/>
        </p:nvSpPr>
        <p:spPr>
          <a:xfrm>
            <a:off x="304800" y="482600"/>
            <a:ext cx="11582400" cy="6197600"/>
          </a:xfrm>
          <a:prstGeom prst="rect">
            <a:avLst/>
          </a:prstGeom>
          <a:solidFill>
            <a:srgbClr val="FFFFFF"/>
          </a:solidFill>
          <a:ln w="19050">
            <a:solidFill>
              <a:srgbClr val="F4B18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8" name="Rectangle: Top Corners Rounded 7">
            <a:extLst>
              <a:ext uri="{FF2B5EF4-FFF2-40B4-BE49-F238E27FC236}">
                <a16:creationId xmlns:a16="http://schemas.microsoft.com/office/drawing/2014/main" id="{4349914D-A811-165D-5513-F49B42972FF1}"/>
              </a:ext>
            </a:extLst>
          </p:cNvPr>
          <p:cNvSpPr/>
          <p:nvPr/>
        </p:nvSpPr>
        <p:spPr>
          <a:xfrm>
            <a:off x="1393190" y="114300"/>
            <a:ext cx="890270" cy="393700"/>
          </a:xfrm>
          <a:prstGeom prst="round2SameRect">
            <a:avLst>
              <a:gd name="adj1" fmla="val 28000"/>
              <a:gd name="adj2" fmla="val 0"/>
            </a:avLst>
          </a:prstGeom>
          <a:solidFill>
            <a:srgbClr val="F4B18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0" rIns="50800" bIns="0" rtlCol="0" anchor="ctr"/>
          <a:lstStyle/>
          <a:p>
            <a:pPr algn="ctr"/>
            <a:r>
              <a:rPr lang="de-CH" sz="1100" b="1">
                <a:solidFill>
                  <a:srgbClr val="1F1F1F"/>
                </a:solidFill>
                <a:latin typeface="Calibri" panose="020F0502020204030204" pitchFamily="34" charset="0"/>
              </a:rPr>
              <a:t>Technik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455AAAF-8EA0-55BA-797F-724F6A78C3A1}"/>
              </a:ext>
            </a:extLst>
          </p:cNvPr>
          <p:cNvSpPr/>
          <p:nvPr/>
        </p:nvSpPr>
        <p:spPr>
          <a:xfrm>
            <a:off x="9864725" y="492125"/>
            <a:ext cx="2012950" cy="6178550"/>
          </a:xfrm>
          <a:prstGeom prst="rect">
            <a:avLst/>
          </a:prstGeom>
          <a:solidFill>
            <a:srgbClr val="FDF4E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98B66FB-FE60-6D7D-0A81-C075ED447800}"/>
              </a:ext>
            </a:extLst>
          </p:cNvPr>
          <p:cNvSpPr txBox="1"/>
          <p:nvPr/>
        </p:nvSpPr>
        <p:spPr>
          <a:xfrm>
            <a:off x="10007600" y="609600"/>
            <a:ext cx="1778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de-CH" sz="950">
                <a:solidFill>
                  <a:srgbClr val="6E6E6E"/>
                </a:solidFill>
                <a:latin typeface="Calibri" panose="020F0502020204030204" pitchFamily="34" charset="0"/>
              </a:rPr>
              <a:t>+  Seite hinzufügen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8DF38C1-F947-CE33-ABF7-A527B4CB8231}"/>
              </a:ext>
            </a:extLst>
          </p:cNvPr>
          <p:cNvSpPr txBox="1"/>
          <p:nvPr/>
        </p:nvSpPr>
        <p:spPr>
          <a:xfrm>
            <a:off x="10007600" y="889000"/>
            <a:ext cx="1778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de-CH" sz="1050">
                <a:solidFill>
                  <a:srgbClr val="262626"/>
                </a:solidFill>
                <a:latin typeface="Calibri" panose="020F0502020204030204" pitchFamily="34" charset="0"/>
              </a:rPr>
              <a:t>Time Entry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C3FCF35-3F26-F1B4-0DA6-7F7FA490C07D}"/>
              </a:ext>
            </a:extLst>
          </p:cNvPr>
          <p:cNvSpPr txBox="1"/>
          <p:nvPr/>
        </p:nvSpPr>
        <p:spPr>
          <a:xfrm>
            <a:off x="10007600" y="1193800"/>
            <a:ext cx="1778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de-CH" sz="1050">
                <a:solidFill>
                  <a:srgbClr val="262626"/>
                </a:solidFill>
                <a:latin typeface="Calibri" panose="020F0502020204030204" pitchFamily="34" charset="0"/>
              </a:rPr>
              <a:t>Überblick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620C314-1C04-1596-55EB-9FD63A8C36AA}"/>
              </a:ext>
            </a:extLst>
          </p:cNvPr>
          <p:cNvSpPr/>
          <p:nvPr/>
        </p:nvSpPr>
        <p:spPr>
          <a:xfrm>
            <a:off x="9864725" y="1447800"/>
            <a:ext cx="2012950" cy="279400"/>
          </a:xfrm>
          <a:prstGeom prst="rect">
            <a:avLst/>
          </a:prstGeom>
          <a:solidFill>
            <a:srgbClr val="FAD8C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DFABC0-8033-4996-5BFC-3D0F1B5ACDB4}"/>
              </a:ext>
            </a:extLst>
          </p:cNvPr>
          <p:cNvSpPr txBox="1"/>
          <p:nvPr/>
        </p:nvSpPr>
        <p:spPr>
          <a:xfrm>
            <a:off x="10007600" y="1498600"/>
            <a:ext cx="1778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de-CH" sz="1050" b="1">
                <a:solidFill>
                  <a:srgbClr val="262626"/>
                </a:solidFill>
                <a:latin typeface="Calibri" panose="020F0502020204030204" pitchFamily="34" charset="0"/>
              </a:rPr>
              <a:t>Architektur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5249CD8-F3D6-4BE4-E76E-9F5896A3B009}"/>
              </a:ext>
            </a:extLst>
          </p:cNvPr>
          <p:cNvSpPr txBox="1"/>
          <p:nvPr/>
        </p:nvSpPr>
        <p:spPr>
          <a:xfrm>
            <a:off x="10007600" y="1803400"/>
            <a:ext cx="1778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de-CH" sz="1050">
                <a:solidFill>
                  <a:srgbClr val="262626"/>
                </a:solidFill>
                <a:latin typeface="Calibri" panose="020F0502020204030204" pitchFamily="34" charset="0"/>
              </a:rPr>
              <a:t>Sicherheit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1BA0C32-96A3-C17A-EA7A-99C414C0263E}"/>
              </a:ext>
            </a:extLst>
          </p:cNvPr>
          <p:cNvSpPr txBox="1"/>
          <p:nvPr/>
        </p:nvSpPr>
        <p:spPr>
          <a:xfrm>
            <a:off x="10007600" y="2108200"/>
            <a:ext cx="1778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de-CH" sz="1050">
                <a:solidFill>
                  <a:srgbClr val="262626"/>
                </a:solidFill>
                <a:latin typeface="Calibri" panose="020F0502020204030204" pitchFamily="34" charset="0"/>
              </a:rPr>
              <a:t>Stempeln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897D53F-5273-D2B3-41D7-DAB6BE83653D}"/>
              </a:ext>
            </a:extLst>
          </p:cNvPr>
          <p:cNvSpPr txBox="1"/>
          <p:nvPr/>
        </p:nvSpPr>
        <p:spPr>
          <a:xfrm>
            <a:off x="10007600" y="2413000"/>
            <a:ext cx="1778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de-CH" sz="1050">
                <a:solidFill>
                  <a:srgbClr val="262626"/>
                </a:solidFill>
                <a:latin typeface="Calibri" panose="020F0502020204030204" pitchFamily="34" charset="0"/>
              </a:rPr>
              <a:t>Excel-Zuordnung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B21CEB2-7687-FF03-6F9B-C3259C5D0F87}"/>
              </a:ext>
            </a:extLst>
          </p:cNvPr>
          <p:cNvSpPr txBox="1"/>
          <p:nvPr/>
        </p:nvSpPr>
        <p:spPr>
          <a:xfrm>
            <a:off x="10007600" y="2717800"/>
            <a:ext cx="1778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de-CH" sz="1050">
                <a:solidFill>
                  <a:srgbClr val="262626"/>
                </a:solidFill>
                <a:latin typeface="Calibri" panose="020F0502020204030204" pitchFamily="34" charset="0"/>
              </a:rPr>
              <a:t>Weitere Funktionen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76AA7A4-A4DF-5B24-6F6C-34C970738CAF}"/>
              </a:ext>
            </a:extLst>
          </p:cNvPr>
          <p:cNvSpPr txBox="1"/>
          <p:nvPr/>
        </p:nvSpPr>
        <p:spPr>
          <a:xfrm>
            <a:off x="10007600" y="3022600"/>
            <a:ext cx="1778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de-CH" sz="1050">
                <a:solidFill>
                  <a:srgbClr val="262626"/>
                </a:solidFill>
                <a:latin typeface="Calibri" panose="020F0502020204030204" pitchFamily="34" charset="0"/>
              </a:rPr>
              <a:t>Installation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7CBC40F-76CA-1DD9-6D70-53FEF57DD867}"/>
              </a:ext>
            </a:extLst>
          </p:cNvPr>
          <p:cNvSpPr txBox="1"/>
          <p:nvPr/>
        </p:nvSpPr>
        <p:spPr>
          <a:xfrm>
            <a:off x="10007600" y="3327400"/>
            <a:ext cx="1778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de-CH" sz="1050">
                <a:solidFill>
                  <a:srgbClr val="262626"/>
                </a:solidFill>
                <a:latin typeface="Calibri" panose="020F0502020204030204" pitchFamily="34" charset="0"/>
              </a:rPr>
              <a:t>Einrichtung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481B5A1-270A-DDCB-698F-5DDF99CFA11E}"/>
              </a:ext>
            </a:extLst>
          </p:cNvPr>
          <p:cNvSpPr txBox="1"/>
          <p:nvPr/>
        </p:nvSpPr>
        <p:spPr>
          <a:xfrm>
            <a:off x="10007600" y="3632200"/>
            <a:ext cx="1778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de-CH" sz="1050">
                <a:solidFill>
                  <a:srgbClr val="262626"/>
                </a:solidFill>
                <a:latin typeface="Calibri" panose="020F0502020204030204" pitchFamily="34" charset="0"/>
              </a:rPr>
              <a:t>Teams-Nachrichten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9D83C5D-EAFA-B823-6DFF-EA45412D3959}"/>
              </a:ext>
            </a:extLst>
          </p:cNvPr>
          <p:cNvSpPr txBox="1"/>
          <p:nvPr/>
        </p:nvSpPr>
        <p:spPr>
          <a:xfrm>
            <a:off x="10007600" y="3937000"/>
            <a:ext cx="1778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de-CH" sz="1050">
                <a:solidFill>
                  <a:srgbClr val="262626"/>
                </a:solidFill>
                <a:latin typeface="Calibri" panose="020F0502020204030204" pitchFamily="34" charset="0"/>
              </a:rPr>
              <a:t>Tipps &amp; Ausblick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DFDA962-6974-504E-CC7D-42BEC6605928}"/>
              </a:ext>
            </a:extLst>
          </p:cNvPr>
          <p:cNvSpPr txBox="1"/>
          <p:nvPr/>
        </p:nvSpPr>
        <p:spPr>
          <a:xfrm>
            <a:off x="711200" y="635000"/>
            <a:ext cx="8890000" cy="4699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de-CH" sz="2800">
                <a:solidFill>
                  <a:srgbClr val="1F1F1F"/>
                </a:solidFill>
                <a:latin typeface="Calibri Light" panose="020F0302020204030204" pitchFamily="34" charset="0"/>
              </a:rPr>
              <a:t>Architektur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CB3710D2-51E0-A151-99FC-76E53766F72A}"/>
              </a:ext>
            </a:extLst>
          </p:cNvPr>
          <p:cNvCxnSpPr/>
          <p:nvPr/>
        </p:nvCxnSpPr>
        <p:spPr>
          <a:xfrm>
            <a:off x="711200" y="1130300"/>
            <a:ext cx="3048000" cy="0"/>
          </a:xfrm>
          <a:prstGeom prst="line">
            <a:avLst/>
          </a:prstGeom>
          <a:ln w="9525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3AA5E2C9-4E12-FE0B-55EB-51671DD730CE}"/>
              </a:ext>
            </a:extLst>
          </p:cNvPr>
          <p:cNvSpPr txBox="1"/>
          <p:nvPr/>
        </p:nvSpPr>
        <p:spPr>
          <a:xfrm>
            <a:off x="711200" y="1181100"/>
            <a:ext cx="5334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de-CH" sz="950">
                <a:solidFill>
                  <a:srgbClr val="7F7F7F"/>
                </a:solidFill>
                <a:latin typeface="Calibri" panose="020F0502020204030204" pitchFamily="34" charset="0"/>
              </a:rPr>
              <a:t>Donnerstag, 24. September 2026          09:41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A49BD2C3-3742-0BFC-EA1D-BDD27E335C9E}"/>
              </a:ext>
            </a:extLst>
          </p:cNvPr>
          <p:cNvSpPr/>
          <p:nvPr/>
        </p:nvSpPr>
        <p:spPr>
          <a:xfrm>
            <a:off x="711200" y="2730500"/>
            <a:ext cx="2286000" cy="1219200"/>
          </a:xfrm>
          <a:prstGeom prst="roundRect">
            <a:avLst>
              <a:gd name="adj" fmla="val 8000"/>
            </a:avLst>
          </a:prstGeom>
          <a:solidFill>
            <a:srgbClr val="FCE8D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0" rIns="50800" bIns="0" rtlCol="0" anchor="ctr"/>
          <a:lstStyle/>
          <a:p>
            <a:pPr algn="ctr"/>
            <a:r>
              <a:rPr lang="en-US" sz="1400" b="1">
                <a:solidFill>
                  <a:srgbClr val="1F1F1F"/>
                </a:solidFill>
                <a:latin typeface="Calibri" panose="020F0502020204030204" pitchFamily="34" charset="0"/>
              </a:rPr>
              <a:t>Firefox-Extension</a:t>
            </a:r>
          </a:p>
          <a:p>
            <a:pPr algn="ctr"/>
            <a:r>
              <a:rPr lang="en-US" sz="1300">
                <a:solidFill>
                  <a:srgbClr val="1F1F1F"/>
                </a:solidFill>
                <a:latin typeface="Calibri" panose="020F0502020204030204" pitchFamily="34" charset="0"/>
              </a:rPr>
              <a:t>«Time Entry»</a:t>
            </a:r>
          </a:p>
          <a:p>
            <a:pPr algn="ctr"/>
            <a:r>
              <a:rPr lang="en-US" sz="1050">
                <a:solidFill>
                  <a:srgbClr val="595959"/>
                </a:solidFill>
                <a:latin typeface="Calibri" panose="020F0502020204030204" pitchFamily="34" charset="0"/>
              </a:rPr>
              <a:t>Popup · Settings</a:t>
            </a:r>
            <a:endParaRPr lang="de-CH" sz="1050">
              <a:solidFill>
                <a:srgbClr val="595959"/>
              </a:solidFill>
              <a:latin typeface="Calibri" panose="020F0502020204030204" pitchFamily="34" charset="0"/>
            </a:endParaRP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F04A58F5-C1C7-67D2-9CC8-A145C0B2AA95}"/>
              </a:ext>
            </a:extLst>
          </p:cNvPr>
          <p:cNvSpPr/>
          <p:nvPr/>
        </p:nvSpPr>
        <p:spPr>
          <a:xfrm>
            <a:off x="5334000" y="1676400"/>
            <a:ext cx="4216400" cy="838200"/>
          </a:xfrm>
          <a:prstGeom prst="roundRect">
            <a:avLst>
              <a:gd name="adj" fmla="val 6000"/>
            </a:avLst>
          </a:prstGeom>
          <a:solidFill>
            <a:srgbClr val="F6F6F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03F7F35-6C70-3244-5937-103D00F05D8F}"/>
              </a:ext>
            </a:extLst>
          </p:cNvPr>
          <p:cNvSpPr txBox="1"/>
          <p:nvPr/>
        </p:nvSpPr>
        <p:spPr>
          <a:xfrm>
            <a:off x="5537200" y="1816100"/>
            <a:ext cx="3810000" cy="635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lang="de-DE" sz="1350" b="1">
                <a:solidFill>
                  <a:srgbClr val="1F1F1F"/>
                </a:solidFill>
                <a:latin typeface="Calibri" panose="020F0502020204030204" pitchFamily="34" charset="0"/>
              </a:rPr>
              <a:t>Entra App «Time Entry»</a:t>
            </a:r>
          </a:p>
          <a:p>
            <a:r>
              <a:rPr lang="de-DE" sz="1100">
                <a:solidFill>
                  <a:srgbClr val="404040"/>
                </a:solidFill>
                <a:latin typeface="Calibri" panose="020F0502020204030204" pitchFamily="34" charset="0"/>
              </a:rPr>
              <a:t>Anmeldung mit dem Microsoft-Konto (nur Schulen Unterägeri)</a:t>
            </a:r>
            <a:endParaRPr lang="de-CH" sz="1100">
              <a:solidFill>
                <a:srgbClr val="404040"/>
              </a:solidFill>
              <a:latin typeface="Calibri" panose="020F0502020204030204" pitchFamily="34" charset="0"/>
            </a:endParaRP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10A2C729-DDB4-2484-7B1B-FE978BC5FB82}"/>
              </a:ext>
            </a:extLst>
          </p:cNvPr>
          <p:cNvCxnSpPr/>
          <p:nvPr/>
        </p:nvCxnSpPr>
        <p:spPr>
          <a:xfrm flipV="1">
            <a:off x="2997200" y="2095500"/>
            <a:ext cx="2336800" cy="1244600"/>
          </a:xfrm>
          <a:prstGeom prst="line">
            <a:avLst/>
          </a:prstGeom>
          <a:ln w="19050">
            <a:solidFill>
              <a:srgbClr val="8C8C8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F83F7D4E-1DF1-CB93-BA93-829A02B31D2E}"/>
              </a:ext>
            </a:extLst>
          </p:cNvPr>
          <p:cNvSpPr txBox="1"/>
          <p:nvPr/>
        </p:nvSpPr>
        <p:spPr>
          <a:xfrm>
            <a:off x="3594100" y="2628900"/>
            <a:ext cx="1193800" cy="17780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de-CH" sz="1000">
                <a:solidFill>
                  <a:srgbClr val="6E6E6E"/>
                </a:solidFill>
                <a:latin typeface="Calibri" panose="020F0502020204030204" pitchFamily="34" charset="0"/>
              </a:rPr>
              <a:t>Anmeldung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835A8E2E-F51E-5CAD-91C4-ACF760497009}"/>
              </a:ext>
            </a:extLst>
          </p:cNvPr>
          <p:cNvSpPr/>
          <p:nvPr/>
        </p:nvSpPr>
        <p:spPr>
          <a:xfrm>
            <a:off x="5334000" y="2870200"/>
            <a:ext cx="4216400" cy="838200"/>
          </a:xfrm>
          <a:prstGeom prst="roundRect">
            <a:avLst>
              <a:gd name="adj" fmla="val 6000"/>
            </a:avLst>
          </a:prstGeom>
          <a:solidFill>
            <a:srgbClr val="F6F6F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4C0960D-ADD6-7C6A-625F-9C023C4751BD}"/>
              </a:ext>
            </a:extLst>
          </p:cNvPr>
          <p:cNvSpPr txBox="1"/>
          <p:nvPr/>
        </p:nvSpPr>
        <p:spPr>
          <a:xfrm>
            <a:off x="5537200" y="3009900"/>
            <a:ext cx="3810000" cy="635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lang="en-US" sz="1350" b="1">
                <a:solidFill>
                  <a:srgbClr val="1F1F1F"/>
                </a:solidFill>
                <a:latin typeface="Calibri" panose="020F0502020204030204" pitchFamily="34" charset="0"/>
              </a:rPr>
              <a:t>Excel auf SharePoint</a:t>
            </a:r>
          </a:p>
          <a:p>
            <a:r>
              <a:rPr lang="en-US" sz="1100">
                <a:solidFill>
                  <a:srgbClr val="404040"/>
                </a:solidFill>
                <a:latin typeface="Calibri" panose="020F0502020204030204" pitchFamily="34" charset="0"/>
              </a:rPr>
              <a:t>Single Source of Truth: ArbeitszeitStempeln_Auto.xlsx</a:t>
            </a:r>
            <a:endParaRPr lang="de-CH" sz="1100">
              <a:solidFill>
                <a:srgbClr val="404040"/>
              </a:solidFill>
              <a:latin typeface="Calibri" panose="020F0502020204030204" pitchFamily="34" charset="0"/>
            </a:endParaRP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2ECA270A-FE8A-BDDD-A161-47BFE55AEF99}"/>
              </a:ext>
            </a:extLst>
          </p:cNvPr>
          <p:cNvCxnSpPr/>
          <p:nvPr/>
        </p:nvCxnSpPr>
        <p:spPr>
          <a:xfrm flipV="1">
            <a:off x="2997200" y="3289300"/>
            <a:ext cx="2336800" cy="50800"/>
          </a:xfrm>
          <a:prstGeom prst="line">
            <a:avLst/>
          </a:prstGeom>
          <a:ln w="19050">
            <a:solidFill>
              <a:srgbClr val="8C8C8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7055E6C3-EE62-7A67-3426-77DAF8727E76}"/>
              </a:ext>
            </a:extLst>
          </p:cNvPr>
          <p:cNvSpPr txBox="1"/>
          <p:nvPr/>
        </p:nvSpPr>
        <p:spPr>
          <a:xfrm>
            <a:off x="3594100" y="3225800"/>
            <a:ext cx="1193800" cy="17780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de-CH" sz="1000">
                <a:solidFill>
                  <a:srgbClr val="6E6E6E"/>
                </a:solidFill>
                <a:latin typeface="Calibri" panose="020F0502020204030204" pitchFamily="34" charset="0"/>
              </a:rPr>
              <a:t>Microsoft Graph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6F7E242B-29A2-41A8-1709-70AB67FBAF9F}"/>
              </a:ext>
            </a:extLst>
          </p:cNvPr>
          <p:cNvSpPr/>
          <p:nvPr/>
        </p:nvSpPr>
        <p:spPr>
          <a:xfrm>
            <a:off x="5334000" y="4064000"/>
            <a:ext cx="4216400" cy="838200"/>
          </a:xfrm>
          <a:prstGeom prst="roundRect">
            <a:avLst>
              <a:gd name="adj" fmla="val 6000"/>
            </a:avLst>
          </a:prstGeom>
          <a:solidFill>
            <a:srgbClr val="F6F6F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ECC2AA4-E10D-89BA-255F-DE01EA0E3E00}"/>
              </a:ext>
            </a:extLst>
          </p:cNvPr>
          <p:cNvSpPr txBox="1"/>
          <p:nvPr/>
        </p:nvSpPr>
        <p:spPr>
          <a:xfrm>
            <a:off x="5537200" y="4203700"/>
            <a:ext cx="3810000" cy="635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lang="de-DE" sz="1350" b="1">
                <a:solidFill>
                  <a:srgbClr val="1F1F1F"/>
                </a:solidFill>
                <a:latin typeface="Calibri" panose="020F0502020204030204" pitchFamily="34" charset="0"/>
              </a:rPr>
              <a:t>Teams-Workflow (Webhook)</a:t>
            </a:r>
          </a:p>
          <a:p>
            <a:r>
              <a:rPr lang="de-DE" sz="1100">
                <a:solidFill>
                  <a:srgbClr val="404040"/>
                </a:solidFill>
                <a:latin typeface="Calibri" panose="020F0502020204030204" pitchFamily="34" charset="0"/>
              </a:rPr>
              <a:t>Postet die Nachricht als Bot in den Chat · in Arbeit</a:t>
            </a:r>
            <a:endParaRPr lang="de-CH" sz="1100">
              <a:solidFill>
                <a:srgbClr val="404040"/>
              </a:solidFill>
              <a:latin typeface="Calibri" panose="020F0502020204030204" pitchFamily="34" charset="0"/>
            </a:endParaRP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3B1914A5-BB6E-4885-DC09-F0041024B376}"/>
              </a:ext>
            </a:extLst>
          </p:cNvPr>
          <p:cNvCxnSpPr/>
          <p:nvPr/>
        </p:nvCxnSpPr>
        <p:spPr>
          <a:xfrm>
            <a:off x="2997200" y="3340100"/>
            <a:ext cx="2336800" cy="1143000"/>
          </a:xfrm>
          <a:prstGeom prst="line">
            <a:avLst/>
          </a:prstGeom>
          <a:ln w="19050">
            <a:solidFill>
              <a:srgbClr val="8C8C8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AD0648DC-7D96-96C2-3D07-E536F44BE9DA}"/>
              </a:ext>
            </a:extLst>
          </p:cNvPr>
          <p:cNvSpPr txBox="1"/>
          <p:nvPr/>
        </p:nvSpPr>
        <p:spPr>
          <a:xfrm>
            <a:off x="3594100" y="3822700"/>
            <a:ext cx="1193800" cy="17780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de-CH" sz="1000">
                <a:solidFill>
                  <a:srgbClr val="6E6E6E"/>
                </a:solidFill>
                <a:latin typeface="Calibri" panose="020F0502020204030204" pitchFamily="34" charset="0"/>
              </a:rPr>
              <a:t>Webhook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0C5ED1F-71EB-5132-94FF-D5B3652C7230}"/>
              </a:ext>
            </a:extLst>
          </p:cNvPr>
          <p:cNvSpPr txBox="1"/>
          <p:nvPr/>
        </p:nvSpPr>
        <p:spPr>
          <a:xfrm>
            <a:off x="711200" y="5105400"/>
            <a:ext cx="2540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de-CH" sz="1100" b="1">
                <a:solidFill>
                  <a:srgbClr val="595959"/>
                </a:solidFill>
                <a:latin typeface="Calibri" panose="020F0502020204030204" pitchFamily="34" charset="0"/>
              </a:rPr>
              <a:t>Speicherort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DBDADB7E-80AB-3EDB-EDBF-4C65617C9802}"/>
              </a:ext>
            </a:extLst>
          </p:cNvPr>
          <p:cNvSpPr/>
          <p:nvPr/>
        </p:nvSpPr>
        <p:spPr>
          <a:xfrm>
            <a:off x="711200" y="5334000"/>
            <a:ext cx="8839200" cy="38100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12518C8-4B92-0836-7DFD-2E9B456241D9}"/>
              </a:ext>
            </a:extLst>
          </p:cNvPr>
          <p:cNvSpPr txBox="1"/>
          <p:nvPr/>
        </p:nvSpPr>
        <p:spPr>
          <a:xfrm>
            <a:off x="838200" y="5435600"/>
            <a:ext cx="8636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de-DE" sz="1050">
                <a:solidFill>
                  <a:srgbClr val="404040"/>
                </a:solidFill>
                <a:latin typeface="Consolas" panose="020B0609020204030204" pitchFamily="49" charset="0"/>
              </a:rPr>
              <a:t>Schulen Unterägeri  ›  ICT-Support und Animation - General  ›  Projekte Lehrlinge  ›  Arbeitszeiten_Lehrlinge</a:t>
            </a:r>
            <a:endParaRPr lang="de-CH" sz="1050">
              <a:solidFill>
                <a:srgbClr val="404040"/>
              </a:solidFill>
              <a:latin typeface="Consolas" panose="020B0609020204030204" pitchFamily="49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E8C2B11-33DA-C5D7-2819-374C554CF262}"/>
              </a:ext>
            </a:extLst>
          </p:cNvPr>
          <p:cNvSpPr txBox="1"/>
          <p:nvPr/>
        </p:nvSpPr>
        <p:spPr>
          <a:xfrm>
            <a:off x="711200" y="5867400"/>
            <a:ext cx="88392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de-DE" sz="1150" b="1">
                <a:solidFill>
                  <a:srgbClr val="404040"/>
                </a:solidFill>
                <a:latin typeface="Calibri" panose="020F0502020204030204" pitchFamily="34" charset="0"/>
              </a:rPr>
              <a:t>Berechtigungen (delegiert):</a:t>
            </a:r>
            <a:r>
              <a:rPr lang="de-DE" sz="1150">
                <a:solidFill>
                  <a:srgbClr val="404040"/>
                </a:solidFill>
                <a:latin typeface="Calibri" panose="020F0502020204030204" pitchFamily="34" charset="0"/>
              </a:rPr>
              <a:t> User.Read, Files.ReadWrite.All, offline_access. Die Extension handelt immer im Namen der angemeldeten Person. Sie kann nichts, was diese Person nicht auch selbst darf.</a:t>
            </a:r>
            <a:endParaRPr lang="de-CH" sz="1150">
              <a:solidFill>
                <a:srgbClr val="40404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78186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B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Top Corners Rounded 1">
            <a:extLst>
              <a:ext uri="{FF2B5EF4-FFF2-40B4-BE49-F238E27FC236}">
                <a16:creationId xmlns:a16="http://schemas.microsoft.com/office/drawing/2014/main" id="{C38AEE26-AA3A-0B86-E69D-178EADA1D529}"/>
              </a:ext>
            </a:extLst>
          </p:cNvPr>
          <p:cNvSpPr/>
          <p:nvPr/>
        </p:nvSpPr>
        <p:spPr>
          <a:xfrm>
            <a:off x="304800" y="190500"/>
            <a:ext cx="1050290" cy="304800"/>
          </a:xfrm>
          <a:prstGeom prst="round2SameRect">
            <a:avLst>
              <a:gd name="adj1" fmla="val 28000"/>
              <a:gd name="adj2" fmla="val 0"/>
            </a:avLst>
          </a:prstGeom>
          <a:solidFill>
            <a:srgbClr val="8DB4E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0" rIns="50800" bIns="0" rtlCol="0" anchor="ctr"/>
          <a:lstStyle/>
          <a:p>
            <a:pPr algn="ctr"/>
            <a:r>
              <a:rPr lang="de-CH" sz="1050">
                <a:solidFill>
                  <a:srgbClr val="3B3B3B"/>
                </a:solidFill>
                <a:latin typeface="Calibri" panose="020F0502020204030204" pitchFamily="34" charset="0"/>
              </a:rPr>
              <a:t>Überblick</a:t>
            </a:r>
          </a:p>
        </p:txBody>
      </p:sp>
      <p:sp>
        <p:nvSpPr>
          <p:cNvPr id="3" name="Rectangle: Top Corners Rounded 2">
            <a:extLst>
              <a:ext uri="{FF2B5EF4-FFF2-40B4-BE49-F238E27FC236}">
                <a16:creationId xmlns:a16="http://schemas.microsoft.com/office/drawing/2014/main" id="{59526620-BE2D-2945-AB32-48A0B1DBB827}"/>
              </a:ext>
            </a:extLst>
          </p:cNvPr>
          <p:cNvSpPr/>
          <p:nvPr/>
        </p:nvSpPr>
        <p:spPr>
          <a:xfrm>
            <a:off x="2321560" y="190500"/>
            <a:ext cx="1130300" cy="304800"/>
          </a:xfrm>
          <a:prstGeom prst="round2SameRect">
            <a:avLst>
              <a:gd name="adj1" fmla="val 28000"/>
              <a:gd name="adj2" fmla="val 0"/>
            </a:avLst>
          </a:prstGeom>
          <a:solidFill>
            <a:srgbClr val="A9D18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0" rIns="50800" bIns="0" rtlCol="0" anchor="ctr"/>
          <a:lstStyle/>
          <a:p>
            <a:pPr algn="ctr"/>
            <a:r>
              <a:rPr lang="de-CH" sz="1050">
                <a:solidFill>
                  <a:srgbClr val="3B3B3B"/>
                </a:solidFill>
                <a:latin typeface="Calibri" panose="020F0502020204030204" pitchFamily="34" charset="0"/>
              </a:rPr>
              <a:t>Funktionen</a:t>
            </a:r>
          </a:p>
        </p:txBody>
      </p:sp>
      <p:sp>
        <p:nvSpPr>
          <p:cNvPr id="4" name="Rectangle: Top Corners Rounded 3">
            <a:extLst>
              <a:ext uri="{FF2B5EF4-FFF2-40B4-BE49-F238E27FC236}">
                <a16:creationId xmlns:a16="http://schemas.microsoft.com/office/drawing/2014/main" id="{77BE28E1-F235-D3EF-B2C6-C59063C4E0A6}"/>
              </a:ext>
            </a:extLst>
          </p:cNvPr>
          <p:cNvSpPr/>
          <p:nvPr/>
        </p:nvSpPr>
        <p:spPr>
          <a:xfrm>
            <a:off x="3489960" y="190500"/>
            <a:ext cx="1290320" cy="304800"/>
          </a:xfrm>
          <a:prstGeom prst="round2SameRect">
            <a:avLst>
              <a:gd name="adj1" fmla="val 28000"/>
              <a:gd name="adj2" fmla="val 0"/>
            </a:avLst>
          </a:prstGeom>
          <a:solidFill>
            <a:srgbClr val="C9A9E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0" rIns="50800" bIns="0" rtlCol="0" anchor="ctr"/>
          <a:lstStyle/>
          <a:p>
            <a:pPr algn="ctr"/>
            <a:r>
              <a:rPr lang="de-CH" sz="1050">
                <a:solidFill>
                  <a:srgbClr val="3B3B3B"/>
                </a:solidFill>
                <a:latin typeface="Calibri" panose="020F0502020204030204" pitchFamily="34" charset="0"/>
              </a:rPr>
              <a:t>Installation</a:t>
            </a:r>
          </a:p>
        </p:txBody>
      </p:sp>
      <p:sp>
        <p:nvSpPr>
          <p:cNvPr id="5" name="Rectangle: Top Corners Rounded 4">
            <a:extLst>
              <a:ext uri="{FF2B5EF4-FFF2-40B4-BE49-F238E27FC236}">
                <a16:creationId xmlns:a16="http://schemas.microsoft.com/office/drawing/2014/main" id="{B7728212-F659-6C2C-1D32-059949059E07}"/>
              </a:ext>
            </a:extLst>
          </p:cNvPr>
          <p:cNvSpPr/>
          <p:nvPr/>
        </p:nvSpPr>
        <p:spPr>
          <a:xfrm>
            <a:off x="4818380" y="190500"/>
            <a:ext cx="730250" cy="304800"/>
          </a:xfrm>
          <a:prstGeom prst="round2SameRect">
            <a:avLst>
              <a:gd name="adj1" fmla="val 28000"/>
              <a:gd name="adj2" fmla="val 0"/>
            </a:avLst>
          </a:prstGeom>
          <a:solidFill>
            <a:srgbClr val="F4A6B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0" rIns="50800" bIns="0" rtlCol="0" anchor="ctr"/>
          <a:lstStyle/>
          <a:p>
            <a:pPr algn="ctr"/>
            <a:r>
              <a:rPr lang="de-CH" sz="1050">
                <a:solidFill>
                  <a:srgbClr val="3B3B3B"/>
                </a:solidFill>
                <a:latin typeface="Calibri" panose="020F0502020204030204" pitchFamily="34" charset="0"/>
              </a:rPr>
              <a:t>Teams</a:t>
            </a:r>
          </a:p>
        </p:txBody>
      </p:sp>
      <p:sp>
        <p:nvSpPr>
          <p:cNvPr id="6" name="Rectangle: Top Corners Rounded 5">
            <a:extLst>
              <a:ext uri="{FF2B5EF4-FFF2-40B4-BE49-F238E27FC236}">
                <a16:creationId xmlns:a16="http://schemas.microsoft.com/office/drawing/2014/main" id="{44F91E45-EFDD-648D-3FE5-E44B8236B8E2}"/>
              </a:ext>
            </a:extLst>
          </p:cNvPr>
          <p:cNvSpPr/>
          <p:nvPr/>
        </p:nvSpPr>
        <p:spPr>
          <a:xfrm>
            <a:off x="5586730" y="190500"/>
            <a:ext cx="730250" cy="304800"/>
          </a:xfrm>
          <a:prstGeom prst="round2SameRect">
            <a:avLst>
              <a:gd name="adj1" fmla="val 28000"/>
              <a:gd name="adj2" fmla="val 0"/>
            </a:avLst>
          </a:prstGeom>
          <a:solidFill>
            <a:srgbClr val="8FD3C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0" rIns="50800" bIns="0" rtlCol="0" anchor="ctr"/>
          <a:lstStyle/>
          <a:p>
            <a:pPr algn="ctr"/>
            <a:r>
              <a:rPr lang="de-CH" sz="1050">
                <a:solidFill>
                  <a:srgbClr val="3B3B3B"/>
                </a:solidFill>
                <a:latin typeface="Calibri" panose="020F0502020204030204" pitchFamily="34" charset="0"/>
              </a:rPr>
              <a:t>Tipps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0E4E5DF-9228-B21D-B444-7202DD8AF92D}"/>
              </a:ext>
            </a:extLst>
          </p:cNvPr>
          <p:cNvSpPr/>
          <p:nvPr/>
        </p:nvSpPr>
        <p:spPr>
          <a:xfrm>
            <a:off x="304800" y="482600"/>
            <a:ext cx="11582400" cy="6197600"/>
          </a:xfrm>
          <a:prstGeom prst="rect">
            <a:avLst/>
          </a:prstGeom>
          <a:solidFill>
            <a:srgbClr val="FFFFFF"/>
          </a:solidFill>
          <a:ln w="19050">
            <a:solidFill>
              <a:srgbClr val="F4B18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8" name="Rectangle: Top Corners Rounded 7">
            <a:extLst>
              <a:ext uri="{FF2B5EF4-FFF2-40B4-BE49-F238E27FC236}">
                <a16:creationId xmlns:a16="http://schemas.microsoft.com/office/drawing/2014/main" id="{B8A9371E-FC75-937A-14BB-EDD174975F51}"/>
              </a:ext>
            </a:extLst>
          </p:cNvPr>
          <p:cNvSpPr/>
          <p:nvPr/>
        </p:nvSpPr>
        <p:spPr>
          <a:xfrm>
            <a:off x="1393190" y="114300"/>
            <a:ext cx="890270" cy="393700"/>
          </a:xfrm>
          <a:prstGeom prst="round2SameRect">
            <a:avLst>
              <a:gd name="adj1" fmla="val 28000"/>
              <a:gd name="adj2" fmla="val 0"/>
            </a:avLst>
          </a:prstGeom>
          <a:solidFill>
            <a:srgbClr val="F4B18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0" rIns="50800" bIns="0" rtlCol="0" anchor="ctr"/>
          <a:lstStyle/>
          <a:p>
            <a:pPr algn="ctr"/>
            <a:r>
              <a:rPr lang="de-CH" sz="1100" b="1">
                <a:solidFill>
                  <a:srgbClr val="1F1F1F"/>
                </a:solidFill>
                <a:latin typeface="Calibri" panose="020F0502020204030204" pitchFamily="34" charset="0"/>
              </a:rPr>
              <a:t>Technik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143FDB2-57CC-B975-E173-172EE704EBDA}"/>
              </a:ext>
            </a:extLst>
          </p:cNvPr>
          <p:cNvSpPr/>
          <p:nvPr/>
        </p:nvSpPr>
        <p:spPr>
          <a:xfrm>
            <a:off x="9864725" y="492125"/>
            <a:ext cx="2012950" cy="6178550"/>
          </a:xfrm>
          <a:prstGeom prst="rect">
            <a:avLst/>
          </a:prstGeom>
          <a:solidFill>
            <a:srgbClr val="FDF4E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A0CF04A-4472-9E3C-14CC-97B842D8A450}"/>
              </a:ext>
            </a:extLst>
          </p:cNvPr>
          <p:cNvSpPr txBox="1"/>
          <p:nvPr/>
        </p:nvSpPr>
        <p:spPr>
          <a:xfrm>
            <a:off x="10007600" y="609600"/>
            <a:ext cx="1778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de-CH" sz="950">
                <a:solidFill>
                  <a:srgbClr val="6E6E6E"/>
                </a:solidFill>
                <a:latin typeface="Calibri" panose="020F0502020204030204" pitchFamily="34" charset="0"/>
              </a:rPr>
              <a:t>+  Seite hinzufügen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C5170E1-0989-84B2-0B13-FDAB85024B1D}"/>
              </a:ext>
            </a:extLst>
          </p:cNvPr>
          <p:cNvSpPr txBox="1"/>
          <p:nvPr/>
        </p:nvSpPr>
        <p:spPr>
          <a:xfrm>
            <a:off x="10007600" y="889000"/>
            <a:ext cx="1778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de-CH" sz="1050">
                <a:solidFill>
                  <a:srgbClr val="262626"/>
                </a:solidFill>
                <a:latin typeface="Calibri" panose="020F0502020204030204" pitchFamily="34" charset="0"/>
              </a:rPr>
              <a:t>Time Entry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61BC919-69E9-1948-820B-CA75F6509F9A}"/>
              </a:ext>
            </a:extLst>
          </p:cNvPr>
          <p:cNvSpPr txBox="1"/>
          <p:nvPr/>
        </p:nvSpPr>
        <p:spPr>
          <a:xfrm>
            <a:off x="10007600" y="1193800"/>
            <a:ext cx="1778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de-CH" sz="1050">
                <a:solidFill>
                  <a:srgbClr val="262626"/>
                </a:solidFill>
                <a:latin typeface="Calibri" panose="020F0502020204030204" pitchFamily="34" charset="0"/>
              </a:rPr>
              <a:t>Überblick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FE2CC1D-2165-1CCC-BF9D-0B0B70894FF4}"/>
              </a:ext>
            </a:extLst>
          </p:cNvPr>
          <p:cNvSpPr txBox="1"/>
          <p:nvPr/>
        </p:nvSpPr>
        <p:spPr>
          <a:xfrm>
            <a:off x="10007600" y="1498600"/>
            <a:ext cx="1778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de-CH" sz="1050">
                <a:solidFill>
                  <a:srgbClr val="262626"/>
                </a:solidFill>
                <a:latin typeface="Calibri" panose="020F0502020204030204" pitchFamily="34" charset="0"/>
              </a:rPr>
              <a:t>Architektur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802A997-2CF6-E6FB-5C29-FDCB00F9C8F6}"/>
              </a:ext>
            </a:extLst>
          </p:cNvPr>
          <p:cNvSpPr/>
          <p:nvPr/>
        </p:nvSpPr>
        <p:spPr>
          <a:xfrm>
            <a:off x="9864725" y="1752600"/>
            <a:ext cx="2012950" cy="279400"/>
          </a:xfrm>
          <a:prstGeom prst="rect">
            <a:avLst/>
          </a:prstGeom>
          <a:solidFill>
            <a:srgbClr val="FAD8C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4811214-4824-E881-6C58-02A90CCA41C7}"/>
              </a:ext>
            </a:extLst>
          </p:cNvPr>
          <p:cNvSpPr txBox="1"/>
          <p:nvPr/>
        </p:nvSpPr>
        <p:spPr>
          <a:xfrm>
            <a:off x="10007600" y="1803400"/>
            <a:ext cx="1778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de-CH" sz="1050" b="1">
                <a:solidFill>
                  <a:srgbClr val="262626"/>
                </a:solidFill>
                <a:latin typeface="Calibri" panose="020F0502020204030204" pitchFamily="34" charset="0"/>
              </a:rPr>
              <a:t>Sicherheit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6A9CD60-26CE-330E-5CD0-47317B3D47B6}"/>
              </a:ext>
            </a:extLst>
          </p:cNvPr>
          <p:cNvSpPr txBox="1"/>
          <p:nvPr/>
        </p:nvSpPr>
        <p:spPr>
          <a:xfrm>
            <a:off x="10007600" y="2108200"/>
            <a:ext cx="1778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de-CH" sz="1050">
                <a:solidFill>
                  <a:srgbClr val="262626"/>
                </a:solidFill>
                <a:latin typeface="Calibri" panose="020F0502020204030204" pitchFamily="34" charset="0"/>
              </a:rPr>
              <a:t>Stempeln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C39905C-8A9C-1305-DDD8-6A22183D0252}"/>
              </a:ext>
            </a:extLst>
          </p:cNvPr>
          <p:cNvSpPr txBox="1"/>
          <p:nvPr/>
        </p:nvSpPr>
        <p:spPr>
          <a:xfrm>
            <a:off x="10007600" y="2413000"/>
            <a:ext cx="1778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de-CH" sz="1050">
                <a:solidFill>
                  <a:srgbClr val="262626"/>
                </a:solidFill>
                <a:latin typeface="Calibri" panose="020F0502020204030204" pitchFamily="34" charset="0"/>
              </a:rPr>
              <a:t>Excel-Zuordnung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7431D67-062C-D3DA-0292-8406B60CA855}"/>
              </a:ext>
            </a:extLst>
          </p:cNvPr>
          <p:cNvSpPr txBox="1"/>
          <p:nvPr/>
        </p:nvSpPr>
        <p:spPr>
          <a:xfrm>
            <a:off x="10007600" y="2717800"/>
            <a:ext cx="1778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de-CH" sz="1050">
                <a:solidFill>
                  <a:srgbClr val="262626"/>
                </a:solidFill>
                <a:latin typeface="Calibri" panose="020F0502020204030204" pitchFamily="34" charset="0"/>
              </a:rPr>
              <a:t>Weitere Funktionen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5B74A33-9ADA-8413-A376-2E3A0B59BFFD}"/>
              </a:ext>
            </a:extLst>
          </p:cNvPr>
          <p:cNvSpPr txBox="1"/>
          <p:nvPr/>
        </p:nvSpPr>
        <p:spPr>
          <a:xfrm>
            <a:off x="10007600" y="3022600"/>
            <a:ext cx="1778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de-CH" sz="1050">
                <a:solidFill>
                  <a:srgbClr val="262626"/>
                </a:solidFill>
                <a:latin typeface="Calibri" panose="020F0502020204030204" pitchFamily="34" charset="0"/>
              </a:rPr>
              <a:t>Installation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647E4CD-FFFD-E424-AC14-989AA2FA0392}"/>
              </a:ext>
            </a:extLst>
          </p:cNvPr>
          <p:cNvSpPr txBox="1"/>
          <p:nvPr/>
        </p:nvSpPr>
        <p:spPr>
          <a:xfrm>
            <a:off x="10007600" y="3327400"/>
            <a:ext cx="1778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de-CH" sz="1050">
                <a:solidFill>
                  <a:srgbClr val="262626"/>
                </a:solidFill>
                <a:latin typeface="Calibri" panose="020F0502020204030204" pitchFamily="34" charset="0"/>
              </a:rPr>
              <a:t>Einrichtung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D2A38BE-ED3D-43FE-706B-52E083D36A0A}"/>
              </a:ext>
            </a:extLst>
          </p:cNvPr>
          <p:cNvSpPr txBox="1"/>
          <p:nvPr/>
        </p:nvSpPr>
        <p:spPr>
          <a:xfrm>
            <a:off x="10007600" y="3632200"/>
            <a:ext cx="1778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de-CH" sz="1050">
                <a:solidFill>
                  <a:srgbClr val="262626"/>
                </a:solidFill>
                <a:latin typeface="Calibri" panose="020F0502020204030204" pitchFamily="34" charset="0"/>
              </a:rPr>
              <a:t>Teams-Nachrichten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0AA7D7F-AFD6-42C2-F9CF-19AF291E43B5}"/>
              </a:ext>
            </a:extLst>
          </p:cNvPr>
          <p:cNvSpPr txBox="1"/>
          <p:nvPr/>
        </p:nvSpPr>
        <p:spPr>
          <a:xfrm>
            <a:off x="10007600" y="3937000"/>
            <a:ext cx="1778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de-CH" sz="1050">
                <a:solidFill>
                  <a:srgbClr val="262626"/>
                </a:solidFill>
                <a:latin typeface="Calibri" panose="020F0502020204030204" pitchFamily="34" charset="0"/>
              </a:rPr>
              <a:t>Tipps &amp; Ausblick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D27046F-4BF9-D9F8-A6A5-83981995452A}"/>
              </a:ext>
            </a:extLst>
          </p:cNvPr>
          <p:cNvSpPr txBox="1"/>
          <p:nvPr/>
        </p:nvSpPr>
        <p:spPr>
          <a:xfrm>
            <a:off x="711200" y="635000"/>
            <a:ext cx="8890000" cy="4699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de-CH" sz="2800">
                <a:solidFill>
                  <a:srgbClr val="1F1F1F"/>
                </a:solidFill>
                <a:latin typeface="Calibri Light" panose="020F0302020204030204" pitchFamily="34" charset="0"/>
              </a:rPr>
              <a:t>Zugangsdaten &amp; Sicherheit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D1D7A81D-4177-2291-CDA0-1F07442187D7}"/>
              </a:ext>
            </a:extLst>
          </p:cNvPr>
          <p:cNvCxnSpPr/>
          <p:nvPr/>
        </p:nvCxnSpPr>
        <p:spPr>
          <a:xfrm>
            <a:off x="711200" y="1130300"/>
            <a:ext cx="4199319" cy="0"/>
          </a:xfrm>
          <a:prstGeom prst="line">
            <a:avLst/>
          </a:prstGeom>
          <a:ln w="9525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CD03AC4C-356C-2F49-5587-83D8D5D9E639}"/>
              </a:ext>
            </a:extLst>
          </p:cNvPr>
          <p:cNvSpPr txBox="1"/>
          <p:nvPr/>
        </p:nvSpPr>
        <p:spPr>
          <a:xfrm>
            <a:off x="711200" y="1181100"/>
            <a:ext cx="5334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de-CH" sz="950">
                <a:solidFill>
                  <a:srgbClr val="7F7F7F"/>
                </a:solidFill>
                <a:latin typeface="Calibri" panose="020F0502020204030204" pitchFamily="34" charset="0"/>
              </a:rPr>
              <a:t>Donnerstag, 24. September 2026          09:41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F662B39F-45DA-3FD9-A613-588565F930DD}"/>
              </a:ext>
            </a:extLst>
          </p:cNvPr>
          <p:cNvSpPr/>
          <p:nvPr/>
        </p:nvSpPr>
        <p:spPr>
          <a:xfrm>
            <a:off x="711200" y="1727200"/>
            <a:ext cx="4343400" cy="1930400"/>
          </a:xfrm>
          <a:prstGeom prst="roundRect">
            <a:avLst>
              <a:gd name="adj" fmla="val 6000"/>
            </a:avLst>
          </a:prstGeom>
          <a:solidFill>
            <a:srgbClr val="F6F6F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D7EAF1C0-88A3-B1DF-1C7F-AD9A66BF52F1}"/>
              </a:ext>
            </a:extLst>
          </p:cNvPr>
          <p:cNvSpPr/>
          <p:nvPr/>
        </p:nvSpPr>
        <p:spPr>
          <a:xfrm>
            <a:off x="914400" y="1930400"/>
            <a:ext cx="381000" cy="381000"/>
          </a:xfrm>
          <a:prstGeom prst="ellipse">
            <a:avLst/>
          </a:prstGeom>
          <a:solidFill>
            <a:srgbClr val="F4C20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de-CH" sz="1300" b="1">
                <a:solidFill>
                  <a:srgbClr val="1F1F1F"/>
                </a:solidFill>
                <a:latin typeface="Segoe UI Symbol" panose="020B0502040204020203" pitchFamily="34" charset="0"/>
              </a:rPr>
              <a:t>★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14BACBB-60F5-C2A0-2B6F-7B756529D036}"/>
              </a:ext>
            </a:extLst>
          </p:cNvPr>
          <p:cNvSpPr txBox="1"/>
          <p:nvPr/>
        </p:nvSpPr>
        <p:spPr>
          <a:xfrm>
            <a:off x="1447800" y="2006600"/>
            <a:ext cx="34290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de-CH" sz="1400" b="1">
                <a:solidFill>
                  <a:srgbClr val="1F1F1F"/>
                </a:solidFill>
                <a:latin typeface="Calibri" panose="020F0502020204030204" pitchFamily="34" charset="0"/>
              </a:rPr>
              <a:t>Tenant ID &amp; Client ID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58420D7-063A-6A5F-71F7-3D5E65E9E92D}"/>
              </a:ext>
            </a:extLst>
          </p:cNvPr>
          <p:cNvSpPr txBox="1"/>
          <p:nvPr/>
        </p:nvSpPr>
        <p:spPr>
          <a:xfrm>
            <a:off x="914400" y="2489200"/>
            <a:ext cx="3937000" cy="1066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de-DE" sz="1250">
                <a:solidFill>
                  <a:srgbClr val="404040"/>
                </a:solidFill>
                <a:latin typeface="Calibri" panose="020F0502020204030204" pitchFamily="34" charset="0"/>
              </a:rPr>
              <a:t>Identifizieren die Entra-App und werden für die Anmeldung gebraucht. Bei Michael Iten beantragen. Nicht ins GitHub-Repository einchecken, sondern separat aufbewahren.</a:t>
            </a:r>
            <a:endParaRPr lang="de-CH" sz="1250">
              <a:solidFill>
                <a:srgbClr val="404040"/>
              </a:solidFill>
              <a:latin typeface="Calibri" panose="020F0502020204030204" pitchFamily="34" charset="0"/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C6F82134-5838-1DAB-7476-541DE8442E28}"/>
              </a:ext>
            </a:extLst>
          </p:cNvPr>
          <p:cNvSpPr/>
          <p:nvPr/>
        </p:nvSpPr>
        <p:spPr>
          <a:xfrm>
            <a:off x="5207000" y="1727200"/>
            <a:ext cx="4343400" cy="1930400"/>
          </a:xfrm>
          <a:prstGeom prst="roundRect">
            <a:avLst>
              <a:gd name="adj" fmla="val 6000"/>
            </a:avLst>
          </a:prstGeom>
          <a:solidFill>
            <a:srgbClr val="F6F6F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E59C6E85-A815-3082-D8D1-0548C5CBA21E}"/>
              </a:ext>
            </a:extLst>
          </p:cNvPr>
          <p:cNvSpPr/>
          <p:nvPr/>
        </p:nvSpPr>
        <p:spPr>
          <a:xfrm>
            <a:off x="5410200" y="1930400"/>
            <a:ext cx="381000" cy="381000"/>
          </a:xfrm>
          <a:prstGeom prst="ellipse">
            <a:avLst/>
          </a:prstGeom>
          <a:solidFill>
            <a:srgbClr val="F6C19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de-CH" sz="1300" b="1">
                <a:solidFill>
                  <a:srgbClr val="1F1F1F"/>
                </a:solidFill>
                <a:latin typeface="Segoe UI Symbol" panose="020B0502040204020203" pitchFamily="34" charset="0"/>
              </a:rPr>
              <a:t>👤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BFD65D2-8AED-7092-F393-38AC9C51CE8B}"/>
              </a:ext>
            </a:extLst>
          </p:cNvPr>
          <p:cNvSpPr txBox="1"/>
          <p:nvPr/>
        </p:nvSpPr>
        <p:spPr>
          <a:xfrm>
            <a:off x="5943600" y="2006600"/>
            <a:ext cx="34290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de-CH" sz="1400" b="1">
                <a:solidFill>
                  <a:srgbClr val="1F1F1F"/>
                </a:solidFill>
                <a:latin typeface="Calibri" panose="020F0502020204030204" pitchFamily="34" charset="0"/>
              </a:rPr>
              <a:t>Microsoft-Anmeldung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FD786C4-DEAF-B2C9-F63E-04668F03610D}"/>
              </a:ext>
            </a:extLst>
          </p:cNvPr>
          <p:cNvSpPr txBox="1"/>
          <p:nvPr/>
        </p:nvSpPr>
        <p:spPr>
          <a:xfrm>
            <a:off x="5410200" y="2489200"/>
            <a:ext cx="3937000" cy="1066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de-DE" sz="1250">
                <a:solidFill>
                  <a:srgbClr val="404040"/>
                </a:solidFill>
                <a:latin typeface="Calibri" panose="020F0502020204030204" pitchFamily="34" charset="0"/>
              </a:rPr>
              <a:t>Zugriff hat nur, wer sich mit einem Konto von Schulen Unterägeri anmeldet und die Excel-Datei bearbeiten darf. Die Anmeldung erneuert sich automatisch.</a:t>
            </a:r>
            <a:endParaRPr lang="de-CH" sz="1250">
              <a:solidFill>
                <a:srgbClr val="404040"/>
              </a:solidFill>
              <a:latin typeface="Calibri" panose="020F0502020204030204" pitchFamily="34" charset="0"/>
            </a:endParaRP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C5FFF22E-4EB3-8EA5-F3AE-5EB934E23101}"/>
              </a:ext>
            </a:extLst>
          </p:cNvPr>
          <p:cNvSpPr/>
          <p:nvPr/>
        </p:nvSpPr>
        <p:spPr>
          <a:xfrm>
            <a:off x="711200" y="3860800"/>
            <a:ext cx="4343400" cy="1930400"/>
          </a:xfrm>
          <a:prstGeom prst="roundRect">
            <a:avLst>
              <a:gd name="adj" fmla="val 6000"/>
            </a:avLst>
          </a:prstGeom>
          <a:solidFill>
            <a:srgbClr val="F6F6F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8BFECEFF-2E2B-D77F-33B6-C2B28FA16E6B}"/>
              </a:ext>
            </a:extLst>
          </p:cNvPr>
          <p:cNvSpPr/>
          <p:nvPr/>
        </p:nvSpPr>
        <p:spPr>
          <a:xfrm>
            <a:off x="914400" y="4064000"/>
            <a:ext cx="381000" cy="381000"/>
          </a:xfrm>
          <a:prstGeom prst="ellipse">
            <a:avLst/>
          </a:prstGeom>
          <a:solidFill>
            <a:srgbClr val="F4A6B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de-CH" sz="1300" b="1">
                <a:solidFill>
                  <a:srgbClr val="1F1F1F"/>
                </a:solidFill>
                <a:latin typeface="Segoe UI Symbol" panose="020B0502040204020203" pitchFamily="34" charset="0"/>
              </a:rPr>
              <a:t>⚠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0C789FF-5B06-B527-CDF4-C3D5AF1B3EA8}"/>
              </a:ext>
            </a:extLst>
          </p:cNvPr>
          <p:cNvSpPr txBox="1"/>
          <p:nvPr/>
        </p:nvSpPr>
        <p:spPr>
          <a:xfrm>
            <a:off x="1447800" y="4140200"/>
            <a:ext cx="34290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de-CH" sz="1400" b="1">
                <a:solidFill>
                  <a:srgbClr val="1F1F1F"/>
                </a:solidFill>
                <a:latin typeface="Calibri" panose="020F0502020204030204" pitchFamily="34" charset="0"/>
              </a:rPr>
              <a:t>Teams-Webhook-URL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47CC9FB-B2E2-DDD5-F16E-363CC45D0701}"/>
              </a:ext>
            </a:extLst>
          </p:cNvPr>
          <p:cNvSpPr txBox="1"/>
          <p:nvPr/>
        </p:nvSpPr>
        <p:spPr>
          <a:xfrm>
            <a:off x="914400" y="4622800"/>
            <a:ext cx="3937000" cy="1066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de-DE" sz="1250">
                <a:solidFill>
                  <a:srgbClr val="404040"/>
                </a:solidFill>
                <a:latin typeface="Calibri" panose="020F0502020204030204" pitchFamily="34" charset="0"/>
              </a:rPr>
              <a:t>Wie ein Passwort behandeln: Wer die URL kennt, kann Nachrichten in den Chat posten. Nicht weitergeben und nicht ins Repository.</a:t>
            </a:r>
            <a:endParaRPr lang="de-CH" sz="1250">
              <a:solidFill>
                <a:srgbClr val="404040"/>
              </a:solidFill>
              <a:latin typeface="Calibri" panose="020F0502020204030204" pitchFamily="34" charset="0"/>
            </a:endParaRP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C7A27DA3-6314-2468-B261-ACA52EE786FF}"/>
              </a:ext>
            </a:extLst>
          </p:cNvPr>
          <p:cNvSpPr/>
          <p:nvPr/>
        </p:nvSpPr>
        <p:spPr>
          <a:xfrm>
            <a:off x="5207000" y="3860800"/>
            <a:ext cx="4343400" cy="1930400"/>
          </a:xfrm>
          <a:prstGeom prst="roundRect">
            <a:avLst>
              <a:gd name="adj" fmla="val 6000"/>
            </a:avLst>
          </a:prstGeom>
          <a:solidFill>
            <a:srgbClr val="F6F6F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3BF9F163-D5BC-4BDA-4351-C7A69A487CC6}"/>
              </a:ext>
            </a:extLst>
          </p:cNvPr>
          <p:cNvSpPr/>
          <p:nvPr/>
        </p:nvSpPr>
        <p:spPr>
          <a:xfrm>
            <a:off x="5410200" y="4064000"/>
            <a:ext cx="381000" cy="381000"/>
          </a:xfrm>
          <a:prstGeom prst="ellipse">
            <a:avLst/>
          </a:prstGeom>
          <a:solidFill>
            <a:srgbClr val="F6C19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de-CH" sz="1300" b="1">
                <a:solidFill>
                  <a:srgbClr val="1F1F1F"/>
                </a:solidFill>
                <a:latin typeface="Segoe UI Symbol" panose="020B0502040204020203" pitchFamily="34" charset="0"/>
              </a:rPr>
              <a:t>💾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A9942E1-C38B-7952-7098-41393F243B3D}"/>
              </a:ext>
            </a:extLst>
          </p:cNvPr>
          <p:cNvSpPr txBox="1"/>
          <p:nvPr/>
        </p:nvSpPr>
        <p:spPr>
          <a:xfrm>
            <a:off x="5943600" y="4140200"/>
            <a:ext cx="34290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de-CH" sz="1400" b="1">
                <a:solidFill>
                  <a:srgbClr val="1F1F1F"/>
                </a:solidFill>
                <a:latin typeface="Calibri" panose="020F0502020204030204" pitchFamily="34" charset="0"/>
              </a:rPr>
              <a:t>Lokal gespeichert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244B7D8-30F6-9162-1CD7-5D76AB8987D8}"/>
              </a:ext>
            </a:extLst>
          </p:cNvPr>
          <p:cNvSpPr txBox="1"/>
          <p:nvPr/>
        </p:nvSpPr>
        <p:spPr>
          <a:xfrm>
            <a:off x="5410200" y="4622800"/>
            <a:ext cx="3937000" cy="1066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de-DE" sz="1250">
                <a:solidFill>
                  <a:srgbClr val="404040"/>
                </a:solidFill>
                <a:latin typeface="Calibri" panose="020F0502020204030204" pitchFamily="34" charset="0"/>
              </a:rPr>
              <a:t>Anmelde-Tokens, Datei-Link und Einstellungen liegen nur im eigenen Firefox-Profil. Nichts davon landet im Repository.</a:t>
            </a:r>
            <a:endParaRPr lang="de-CH" sz="1250">
              <a:solidFill>
                <a:srgbClr val="40404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57915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B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Top Corners Rounded 1">
            <a:extLst>
              <a:ext uri="{FF2B5EF4-FFF2-40B4-BE49-F238E27FC236}">
                <a16:creationId xmlns:a16="http://schemas.microsoft.com/office/drawing/2014/main" id="{9419E029-74C3-3579-C9E1-4D7DABB67AFF}"/>
              </a:ext>
            </a:extLst>
          </p:cNvPr>
          <p:cNvSpPr/>
          <p:nvPr/>
        </p:nvSpPr>
        <p:spPr>
          <a:xfrm>
            <a:off x="304800" y="190500"/>
            <a:ext cx="1050290" cy="304800"/>
          </a:xfrm>
          <a:prstGeom prst="round2SameRect">
            <a:avLst>
              <a:gd name="adj1" fmla="val 28000"/>
              <a:gd name="adj2" fmla="val 0"/>
            </a:avLst>
          </a:prstGeom>
          <a:solidFill>
            <a:srgbClr val="8DB4E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0" rIns="50800" bIns="0" rtlCol="0" anchor="ctr"/>
          <a:lstStyle/>
          <a:p>
            <a:pPr algn="ctr"/>
            <a:r>
              <a:rPr lang="de-CH" sz="1050">
                <a:solidFill>
                  <a:srgbClr val="3B3B3B"/>
                </a:solidFill>
                <a:latin typeface="Calibri" panose="020F0502020204030204" pitchFamily="34" charset="0"/>
              </a:rPr>
              <a:t>Überblick</a:t>
            </a:r>
          </a:p>
        </p:txBody>
      </p:sp>
      <p:sp>
        <p:nvSpPr>
          <p:cNvPr id="3" name="Rectangle: Top Corners Rounded 2">
            <a:extLst>
              <a:ext uri="{FF2B5EF4-FFF2-40B4-BE49-F238E27FC236}">
                <a16:creationId xmlns:a16="http://schemas.microsoft.com/office/drawing/2014/main" id="{6F171A5C-06A3-E792-BA71-D1A5EB3D3E27}"/>
              </a:ext>
            </a:extLst>
          </p:cNvPr>
          <p:cNvSpPr/>
          <p:nvPr/>
        </p:nvSpPr>
        <p:spPr>
          <a:xfrm>
            <a:off x="1393190" y="190500"/>
            <a:ext cx="890270" cy="304800"/>
          </a:xfrm>
          <a:prstGeom prst="round2SameRect">
            <a:avLst>
              <a:gd name="adj1" fmla="val 28000"/>
              <a:gd name="adj2" fmla="val 0"/>
            </a:avLst>
          </a:prstGeom>
          <a:solidFill>
            <a:srgbClr val="F4B18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0" rIns="50800" bIns="0" rtlCol="0" anchor="ctr"/>
          <a:lstStyle/>
          <a:p>
            <a:pPr algn="ctr"/>
            <a:r>
              <a:rPr lang="de-CH" sz="1050">
                <a:solidFill>
                  <a:srgbClr val="3B3B3B"/>
                </a:solidFill>
                <a:latin typeface="Calibri" panose="020F0502020204030204" pitchFamily="34" charset="0"/>
              </a:rPr>
              <a:t>Technik</a:t>
            </a:r>
          </a:p>
        </p:txBody>
      </p:sp>
      <p:sp>
        <p:nvSpPr>
          <p:cNvPr id="4" name="Rectangle: Top Corners Rounded 3">
            <a:extLst>
              <a:ext uri="{FF2B5EF4-FFF2-40B4-BE49-F238E27FC236}">
                <a16:creationId xmlns:a16="http://schemas.microsoft.com/office/drawing/2014/main" id="{4813230B-A568-A48B-A6C7-40B6589A1EC3}"/>
              </a:ext>
            </a:extLst>
          </p:cNvPr>
          <p:cNvSpPr/>
          <p:nvPr/>
        </p:nvSpPr>
        <p:spPr>
          <a:xfrm>
            <a:off x="3489960" y="190500"/>
            <a:ext cx="1290320" cy="304800"/>
          </a:xfrm>
          <a:prstGeom prst="round2SameRect">
            <a:avLst>
              <a:gd name="adj1" fmla="val 28000"/>
              <a:gd name="adj2" fmla="val 0"/>
            </a:avLst>
          </a:prstGeom>
          <a:solidFill>
            <a:srgbClr val="C9A9E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0" rIns="50800" bIns="0" rtlCol="0" anchor="ctr"/>
          <a:lstStyle/>
          <a:p>
            <a:pPr algn="ctr"/>
            <a:r>
              <a:rPr lang="de-CH" sz="1050">
                <a:solidFill>
                  <a:srgbClr val="3B3B3B"/>
                </a:solidFill>
                <a:latin typeface="Calibri" panose="020F0502020204030204" pitchFamily="34" charset="0"/>
              </a:rPr>
              <a:t>Installation</a:t>
            </a:r>
          </a:p>
        </p:txBody>
      </p:sp>
      <p:sp>
        <p:nvSpPr>
          <p:cNvPr id="5" name="Rectangle: Top Corners Rounded 4">
            <a:extLst>
              <a:ext uri="{FF2B5EF4-FFF2-40B4-BE49-F238E27FC236}">
                <a16:creationId xmlns:a16="http://schemas.microsoft.com/office/drawing/2014/main" id="{C89A5851-7D34-44BE-A781-9B664218ECE2}"/>
              </a:ext>
            </a:extLst>
          </p:cNvPr>
          <p:cNvSpPr/>
          <p:nvPr/>
        </p:nvSpPr>
        <p:spPr>
          <a:xfrm>
            <a:off x="4818380" y="190500"/>
            <a:ext cx="730250" cy="304800"/>
          </a:xfrm>
          <a:prstGeom prst="round2SameRect">
            <a:avLst>
              <a:gd name="adj1" fmla="val 28000"/>
              <a:gd name="adj2" fmla="val 0"/>
            </a:avLst>
          </a:prstGeom>
          <a:solidFill>
            <a:srgbClr val="F4A6B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0" rIns="50800" bIns="0" rtlCol="0" anchor="ctr"/>
          <a:lstStyle/>
          <a:p>
            <a:pPr algn="ctr"/>
            <a:r>
              <a:rPr lang="de-CH" sz="1050">
                <a:solidFill>
                  <a:srgbClr val="3B3B3B"/>
                </a:solidFill>
                <a:latin typeface="Calibri" panose="020F0502020204030204" pitchFamily="34" charset="0"/>
              </a:rPr>
              <a:t>Teams</a:t>
            </a:r>
          </a:p>
        </p:txBody>
      </p:sp>
      <p:sp>
        <p:nvSpPr>
          <p:cNvPr id="6" name="Rectangle: Top Corners Rounded 5">
            <a:extLst>
              <a:ext uri="{FF2B5EF4-FFF2-40B4-BE49-F238E27FC236}">
                <a16:creationId xmlns:a16="http://schemas.microsoft.com/office/drawing/2014/main" id="{2F935600-0C92-54FA-4392-E64206355DD1}"/>
              </a:ext>
            </a:extLst>
          </p:cNvPr>
          <p:cNvSpPr/>
          <p:nvPr/>
        </p:nvSpPr>
        <p:spPr>
          <a:xfrm>
            <a:off x="5586730" y="190500"/>
            <a:ext cx="730250" cy="304800"/>
          </a:xfrm>
          <a:prstGeom prst="round2SameRect">
            <a:avLst>
              <a:gd name="adj1" fmla="val 28000"/>
              <a:gd name="adj2" fmla="val 0"/>
            </a:avLst>
          </a:prstGeom>
          <a:solidFill>
            <a:srgbClr val="8FD3C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0" rIns="50800" bIns="0" rtlCol="0" anchor="ctr"/>
          <a:lstStyle/>
          <a:p>
            <a:pPr algn="ctr"/>
            <a:r>
              <a:rPr lang="de-CH" sz="1050">
                <a:solidFill>
                  <a:srgbClr val="3B3B3B"/>
                </a:solidFill>
                <a:latin typeface="Calibri" panose="020F0502020204030204" pitchFamily="34" charset="0"/>
              </a:rPr>
              <a:t>Tipps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6C78B86-D426-7FF4-3CBE-5C7FCC7D9208}"/>
              </a:ext>
            </a:extLst>
          </p:cNvPr>
          <p:cNvSpPr/>
          <p:nvPr/>
        </p:nvSpPr>
        <p:spPr>
          <a:xfrm>
            <a:off x="304800" y="482600"/>
            <a:ext cx="11582400" cy="6197600"/>
          </a:xfrm>
          <a:prstGeom prst="rect">
            <a:avLst/>
          </a:prstGeom>
          <a:solidFill>
            <a:srgbClr val="FFFFFF"/>
          </a:solidFill>
          <a:ln w="19050">
            <a:solidFill>
              <a:srgbClr val="A9D1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8" name="Rectangle: Top Corners Rounded 7">
            <a:extLst>
              <a:ext uri="{FF2B5EF4-FFF2-40B4-BE49-F238E27FC236}">
                <a16:creationId xmlns:a16="http://schemas.microsoft.com/office/drawing/2014/main" id="{1ACD60CB-2245-4EC5-51B9-E42D9B75060D}"/>
              </a:ext>
            </a:extLst>
          </p:cNvPr>
          <p:cNvSpPr/>
          <p:nvPr/>
        </p:nvSpPr>
        <p:spPr>
          <a:xfrm>
            <a:off x="2321560" y="114300"/>
            <a:ext cx="1130300" cy="393700"/>
          </a:xfrm>
          <a:prstGeom prst="round2SameRect">
            <a:avLst>
              <a:gd name="adj1" fmla="val 28000"/>
              <a:gd name="adj2" fmla="val 0"/>
            </a:avLst>
          </a:prstGeom>
          <a:solidFill>
            <a:srgbClr val="A9D18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0" rIns="50800" bIns="0" rtlCol="0" anchor="ctr"/>
          <a:lstStyle/>
          <a:p>
            <a:pPr algn="ctr"/>
            <a:r>
              <a:rPr lang="de-CH" sz="1100" b="1">
                <a:solidFill>
                  <a:srgbClr val="1F1F1F"/>
                </a:solidFill>
                <a:latin typeface="Calibri" panose="020F0502020204030204" pitchFamily="34" charset="0"/>
              </a:rPr>
              <a:t>Funktionen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318FE45-2F7D-D117-D4C9-5AAC921CDCD8}"/>
              </a:ext>
            </a:extLst>
          </p:cNvPr>
          <p:cNvSpPr/>
          <p:nvPr/>
        </p:nvSpPr>
        <p:spPr>
          <a:xfrm>
            <a:off x="9864725" y="492125"/>
            <a:ext cx="2012950" cy="6178550"/>
          </a:xfrm>
          <a:prstGeom prst="rect">
            <a:avLst/>
          </a:prstGeom>
          <a:solidFill>
            <a:srgbClr val="F3F9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5FA225E-9B11-4F01-4EC5-8D571830D7AA}"/>
              </a:ext>
            </a:extLst>
          </p:cNvPr>
          <p:cNvSpPr txBox="1"/>
          <p:nvPr/>
        </p:nvSpPr>
        <p:spPr>
          <a:xfrm>
            <a:off x="10007600" y="609600"/>
            <a:ext cx="1778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de-CH" sz="950">
                <a:solidFill>
                  <a:srgbClr val="6E6E6E"/>
                </a:solidFill>
                <a:latin typeface="Calibri" panose="020F0502020204030204" pitchFamily="34" charset="0"/>
              </a:rPr>
              <a:t>+  Seite hinzufügen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FFA1B75-42A8-E982-7111-8DB49BEB0E2A}"/>
              </a:ext>
            </a:extLst>
          </p:cNvPr>
          <p:cNvSpPr txBox="1"/>
          <p:nvPr/>
        </p:nvSpPr>
        <p:spPr>
          <a:xfrm>
            <a:off x="10007600" y="889000"/>
            <a:ext cx="1778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de-CH" sz="1050">
                <a:solidFill>
                  <a:srgbClr val="262626"/>
                </a:solidFill>
                <a:latin typeface="Calibri" panose="020F0502020204030204" pitchFamily="34" charset="0"/>
              </a:rPr>
              <a:t>Time Entry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9195DD3-B727-3C12-83F0-360E8871BFAE}"/>
              </a:ext>
            </a:extLst>
          </p:cNvPr>
          <p:cNvSpPr txBox="1"/>
          <p:nvPr/>
        </p:nvSpPr>
        <p:spPr>
          <a:xfrm>
            <a:off x="10007600" y="1193800"/>
            <a:ext cx="1778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de-CH" sz="1050">
                <a:solidFill>
                  <a:srgbClr val="262626"/>
                </a:solidFill>
                <a:latin typeface="Calibri" panose="020F0502020204030204" pitchFamily="34" charset="0"/>
              </a:rPr>
              <a:t>Überblick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037E1BB-D9A2-4B6E-D3C2-F63955B9C65E}"/>
              </a:ext>
            </a:extLst>
          </p:cNvPr>
          <p:cNvSpPr txBox="1"/>
          <p:nvPr/>
        </p:nvSpPr>
        <p:spPr>
          <a:xfrm>
            <a:off x="10007600" y="1498600"/>
            <a:ext cx="1778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de-CH" sz="1050">
                <a:solidFill>
                  <a:srgbClr val="262626"/>
                </a:solidFill>
                <a:latin typeface="Calibri" panose="020F0502020204030204" pitchFamily="34" charset="0"/>
              </a:rPr>
              <a:t>Architektur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2485B0D-5AC9-FD02-9AD4-79CFA09AFE45}"/>
              </a:ext>
            </a:extLst>
          </p:cNvPr>
          <p:cNvSpPr txBox="1"/>
          <p:nvPr/>
        </p:nvSpPr>
        <p:spPr>
          <a:xfrm>
            <a:off x="10007600" y="1803400"/>
            <a:ext cx="1778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de-CH" sz="1050">
                <a:solidFill>
                  <a:srgbClr val="262626"/>
                </a:solidFill>
                <a:latin typeface="Calibri" panose="020F0502020204030204" pitchFamily="34" charset="0"/>
              </a:rPr>
              <a:t>Sicherheit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9C62043-2B41-0509-DBE3-C4F58A4EC286}"/>
              </a:ext>
            </a:extLst>
          </p:cNvPr>
          <p:cNvSpPr/>
          <p:nvPr/>
        </p:nvSpPr>
        <p:spPr>
          <a:xfrm>
            <a:off x="9864725" y="2057400"/>
            <a:ext cx="2012950" cy="279400"/>
          </a:xfrm>
          <a:prstGeom prst="rect">
            <a:avLst/>
          </a:prstGeom>
          <a:solidFill>
            <a:srgbClr val="D4E8C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5FE3D1F-FF51-D87D-5FBD-11DD760F1456}"/>
              </a:ext>
            </a:extLst>
          </p:cNvPr>
          <p:cNvSpPr txBox="1"/>
          <p:nvPr/>
        </p:nvSpPr>
        <p:spPr>
          <a:xfrm>
            <a:off x="10007600" y="2108200"/>
            <a:ext cx="1778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de-CH" sz="1050" b="1">
                <a:solidFill>
                  <a:srgbClr val="262626"/>
                </a:solidFill>
                <a:latin typeface="Calibri" panose="020F0502020204030204" pitchFamily="34" charset="0"/>
              </a:rPr>
              <a:t>Stempeln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D4992B3-6643-782B-C6A6-A7CF794D24E9}"/>
              </a:ext>
            </a:extLst>
          </p:cNvPr>
          <p:cNvSpPr txBox="1"/>
          <p:nvPr/>
        </p:nvSpPr>
        <p:spPr>
          <a:xfrm>
            <a:off x="10007600" y="2413000"/>
            <a:ext cx="1778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de-CH" sz="1050">
                <a:solidFill>
                  <a:srgbClr val="262626"/>
                </a:solidFill>
                <a:latin typeface="Calibri" panose="020F0502020204030204" pitchFamily="34" charset="0"/>
              </a:rPr>
              <a:t>Excel-Zuordnung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6FBED43-87DB-2A53-B415-2078B841D1F0}"/>
              </a:ext>
            </a:extLst>
          </p:cNvPr>
          <p:cNvSpPr txBox="1"/>
          <p:nvPr/>
        </p:nvSpPr>
        <p:spPr>
          <a:xfrm>
            <a:off x="10007600" y="2717800"/>
            <a:ext cx="1778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de-CH" sz="1050">
                <a:solidFill>
                  <a:srgbClr val="262626"/>
                </a:solidFill>
                <a:latin typeface="Calibri" panose="020F0502020204030204" pitchFamily="34" charset="0"/>
              </a:rPr>
              <a:t>Weitere Funktionen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E0CCAC8-6BE7-C809-9EF7-2952AAC48226}"/>
              </a:ext>
            </a:extLst>
          </p:cNvPr>
          <p:cNvSpPr txBox="1"/>
          <p:nvPr/>
        </p:nvSpPr>
        <p:spPr>
          <a:xfrm>
            <a:off x="10007600" y="3022600"/>
            <a:ext cx="1778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de-CH" sz="1050">
                <a:solidFill>
                  <a:srgbClr val="262626"/>
                </a:solidFill>
                <a:latin typeface="Calibri" panose="020F0502020204030204" pitchFamily="34" charset="0"/>
              </a:rPr>
              <a:t>Installation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41DF7D6-1373-B37A-4FCB-BAC30BA60765}"/>
              </a:ext>
            </a:extLst>
          </p:cNvPr>
          <p:cNvSpPr txBox="1"/>
          <p:nvPr/>
        </p:nvSpPr>
        <p:spPr>
          <a:xfrm>
            <a:off x="10007600" y="3327400"/>
            <a:ext cx="1778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de-CH" sz="1050">
                <a:solidFill>
                  <a:srgbClr val="262626"/>
                </a:solidFill>
                <a:latin typeface="Calibri" panose="020F0502020204030204" pitchFamily="34" charset="0"/>
              </a:rPr>
              <a:t>Einrichtung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B1A93BA-A064-A8AD-D8E3-9CE3DCD1E0AF}"/>
              </a:ext>
            </a:extLst>
          </p:cNvPr>
          <p:cNvSpPr txBox="1"/>
          <p:nvPr/>
        </p:nvSpPr>
        <p:spPr>
          <a:xfrm>
            <a:off x="10007600" y="3632200"/>
            <a:ext cx="1778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de-CH" sz="1050">
                <a:solidFill>
                  <a:srgbClr val="262626"/>
                </a:solidFill>
                <a:latin typeface="Calibri" panose="020F0502020204030204" pitchFamily="34" charset="0"/>
              </a:rPr>
              <a:t>Teams-Nachrichten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2BCA212-D976-39AB-B9DA-F2FAC713825C}"/>
              </a:ext>
            </a:extLst>
          </p:cNvPr>
          <p:cNvSpPr txBox="1"/>
          <p:nvPr/>
        </p:nvSpPr>
        <p:spPr>
          <a:xfrm>
            <a:off x="10007600" y="3937000"/>
            <a:ext cx="1778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de-CH" sz="1050">
                <a:solidFill>
                  <a:srgbClr val="262626"/>
                </a:solidFill>
                <a:latin typeface="Calibri" panose="020F0502020204030204" pitchFamily="34" charset="0"/>
              </a:rPr>
              <a:t>Tipps &amp; Ausblick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AF51650-D53B-9FC0-61A8-7C6B6AD9BB5C}"/>
              </a:ext>
            </a:extLst>
          </p:cNvPr>
          <p:cNvSpPr txBox="1"/>
          <p:nvPr/>
        </p:nvSpPr>
        <p:spPr>
          <a:xfrm>
            <a:off x="711200" y="635000"/>
            <a:ext cx="8890000" cy="4699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de-CH" sz="2800">
                <a:solidFill>
                  <a:srgbClr val="1F1F1F"/>
                </a:solidFill>
                <a:latin typeface="Calibri Light" panose="020F0302020204030204" pitchFamily="34" charset="0"/>
              </a:rPr>
              <a:t>Stempeln im Popup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7F150D06-7997-8881-1FC2-F53AA102F910}"/>
              </a:ext>
            </a:extLst>
          </p:cNvPr>
          <p:cNvCxnSpPr/>
          <p:nvPr/>
        </p:nvCxnSpPr>
        <p:spPr>
          <a:xfrm>
            <a:off x="711200" y="1130300"/>
            <a:ext cx="3171635" cy="0"/>
          </a:xfrm>
          <a:prstGeom prst="line">
            <a:avLst/>
          </a:prstGeom>
          <a:ln w="9525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C5AB218D-D37F-92A3-E6CC-096D28EA06E6}"/>
              </a:ext>
            </a:extLst>
          </p:cNvPr>
          <p:cNvSpPr txBox="1"/>
          <p:nvPr/>
        </p:nvSpPr>
        <p:spPr>
          <a:xfrm>
            <a:off x="711200" y="1181100"/>
            <a:ext cx="5334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de-CH" sz="950">
                <a:solidFill>
                  <a:srgbClr val="7F7F7F"/>
                </a:solidFill>
                <a:latin typeface="Calibri" panose="020F0502020204030204" pitchFamily="34" charset="0"/>
              </a:rPr>
              <a:t>Donnerstag, 24. September 2026          09:41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5CC2DF28-F918-7D64-3824-FDED68A50C09}"/>
              </a:ext>
            </a:extLst>
          </p:cNvPr>
          <p:cNvSpPr/>
          <p:nvPr/>
        </p:nvSpPr>
        <p:spPr>
          <a:xfrm>
            <a:off x="711200" y="1625600"/>
            <a:ext cx="3175000" cy="33274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C8C8C8"/>
            </a:solidFill>
          </a:ln>
          <a:effectLst>
            <a:outerShdw blurRad="127000" dist="38100" dir="5400000" rotWithShape="0">
              <a:srgbClr val="000000">
                <a:alpha val="2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D4E2BB0-4D44-1818-9251-D6CCA2494219}"/>
              </a:ext>
            </a:extLst>
          </p:cNvPr>
          <p:cNvSpPr txBox="1"/>
          <p:nvPr/>
        </p:nvSpPr>
        <p:spPr>
          <a:xfrm>
            <a:off x="889000" y="1790700"/>
            <a:ext cx="2032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de-CH" sz="1200" b="1">
                <a:solidFill>
                  <a:srgbClr val="1F2328"/>
                </a:solidFill>
                <a:latin typeface="Calibri" panose="020F0502020204030204" pitchFamily="34" charset="0"/>
              </a:rPr>
              <a:t>David Seeliger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6BCC6B9-44D9-5A85-4722-36931DCFD438}"/>
              </a:ext>
            </a:extLst>
          </p:cNvPr>
          <p:cNvSpPr txBox="1"/>
          <p:nvPr/>
        </p:nvSpPr>
        <p:spPr>
          <a:xfrm>
            <a:off x="3048000" y="1765300"/>
            <a:ext cx="6858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de-CH" sz="1300">
                <a:solidFill>
                  <a:srgbClr val="656D76"/>
                </a:solidFill>
                <a:latin typeface="Segoe UI Symbol" panose="020B0502040204020203" pitchFamily="34" charset="0"/>
              </a:rPr>
              <a:t>⟳  ⚙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1B50107A-6DD8-CD1B-D49A-46B2EE3FA59B}"/>
              </a:ext>
            </a:extLst>
          </p:cNvPr>
          <p:cNvSpPr/>
          <p:nvPr/>
        </p:nvSpPr>
        <p:spPr>
          <a:xfrm>
            <a:off x="889000" y="2133600"/>
            <a:ext cx="2819400" cy="381000"/>
          </a:xfrm>
          <a:prstGeom prst="roundRect">
            <a:avLst>
              <a:gd name="adj" fmla="val 20000"/>
            </a:avLst>
          </a:prstGeom>
          <a:solidFill>
            <a:srgbClr val="F6F8FA"/>
          </a:solidFill>
          <a:ln w="9525">
            <a:solidFill>
              <a:srgbClr val="D0D7D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0" rIns="50800" bIns="0" rtlCol="0" anchor="ctr">
            <a:noAutofit/>
          </a:bodyPr>
          <a:lstStyle/>
          <a:p>
            <a:r>
              <a:rPr lang="de-CH" sz="1150" b="1">
                <a:solidFill>
                  <a:srgbClr val="1F2328"/>
                </a:solidFill>
                <a:latin typeface="Calibri" panose="020F0502020204030204" pitchFamily="34" charset="0"/>
              </a:rPr>
              <a:t>Log in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C697D5DB-3E15-078C-E572-26A89EDF7DC1}"/>
              </a:ext>
            </a:extLst>
          </p:cNvPr>
          <p:cNvSpPr/>
          <p:nvPr/>
        </p:nvSpPr>
        <p:spPr>
          <a:xfrm>
            <a:off x="889000" y="2590800"/>
            <a:ext cx="2819400" cy="381000"/>
          </a:xfrm>
          <a:prstGeom prst="roundRect">
            <a:avLst>
              <a:gd name="adj" fmla="val 20000"/>
            </a:avLst>
          </a:prstGeom>
          <a:solidFill>
            <a:srgbClr val="0969D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0" rIns="50800" bIns="0" rtlCol="0" anchor="ctr"/>
          <a:lstStyle/>
          <a:p>
            <a:r>
              <a:rPr lang="de-CH" sz="1150" b="1">
                <a:solidFill>
                  <a:srgbClr val="FFFFFF"/>
                </a:solidFill>
                <a:latin typeface="Calibri" panose="020F0502020204030204" pitchFamily="34" charset="0"/>
              </a:rPr>
              <a:t>Start lunch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53508058-CDE4-B45C-26DB-092F9D66288A}"/>
              </a:ext>
            </a:extLst>
          </p:cNvPr>
          <p:cNvSpPr/>
          <p:nvPr/>
        </p:nvSpPr>
        <p:spPr>
          <a:xfrm>
            <a:off x="889000" y="3048000"/>
            <a:ext cx="2819400" cy="381000"/>
          </a:xfrm>
          <a:prstGeom prst="roundRect">
            <a:avLst>
              <a:gd name="adj" fmla="val 20000"/>
            </a:avLst>
          </a:prstGeom>
          <a:solidFill>
            <a:srgbClr val="F6F8FA"/>
          </a:solidFill>
          <a:ln w="9525">
            <a:solidFill>
              <a:srgbClr val="D0D7D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0" rIns="50800" bIns="0" rtlCol="0" anchor="ctr">
            <a:noAutofit/>
          </a:bodyPr>
          <a:lstStyle/>
          <a:p>
            <a:r>
              <a:rPr lang="de-CH" sz="1150" b="1">
                <a:solidFill>
                  <a:srgbClr val="1F2328"/>
                </a:solidFill>
                <a:latin typeface="Calibri" panose="020F0502020204030204" pitchFamily="34" charset="0"/>
              </a:rPr>
              <a:t>End lunch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26E37126-37B4-A113-9F30-398B6FBF8438}"/>
              </a:ext>
            </a:extLst>
          </p:cNvPr>
          <p:cNvSpPr/>
          <p:nvPr/>
        </p:nvSpPr>
        <p:spPr>
          <a:xfrm>
            <a:off x="889000" y="3505200"/>
            <a:ext cx="2819400" cy="381000"/>
          </a:xfrm>
          <a:prstGeom prst="roundRect">
            <a:avLst>
              <a:gd name="adj" fmla="val 20000"/>
            </a:avLst>
          </a:prstGeom>
          <a:solidFill>
            <a:srgbClr val="F6F8FA"/>
          </a:solidFill>
          <a:ln w="9525">
            <a:solidFill>
              <a:srgbClr val="D0D7D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0" tIns="0" rIns="50800" bIns="0" rtlCol="0" anchor="ctr">
            <a:noAutofit/>
          </a:bodyPr>
          <a:lstStyle/>
          <a:p>
            <a:r>
              <a:rPr lang="de-CH" sz="1150" b="1">
                <a:solidFill>
                  <a:srgbClr val="1F2328"/>
                </a:solidFill>
                <a:latin typeface="Calibri" panose="020F0502020204030204" pitchFamily="34" charset="0"/>
              </a:rPr>
              <a:t>Leave work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8A87EED-866E-6CF5-7540-002DB625E6A9}"/>
              </a:ext>
            </a:extLst>
          </p:cNvPr>
          <p:cNvSpPr txBox="1"/>
          <p:nvPr/>
        </p:nvSpPr>
        <p:spPr>
          <a:xfrm>
            <a:off x="889000" y="3987800"/>
            <a:ext cx="1270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de-CH" sz="950">
                <a:solidFill>
                  <a:srgbClr val="0969DA"/>
                </a:solidFill>
                <a:latin typeface="Calibri" panose="020F0502020204030204" pitchFamily="34" charset="0"/>
              </a:rPr>
              <a:t>Show all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1A611E1-3531-639E-1EC3-FC1A131398C8}"/>
              </a:ext>
            </a:extLst>
          </p:cNvPr>
          <p:cNvSpPr txBox="1"/>
          <p:nvPr/>
        </p:nvSpPr>
        <p:spPr>
          <a:xfrm>
            <a:off x="889000" y="4241800"/>
            <a:ext cx="28194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000">
                <a:solidFill>
                  <a:srgbClr val="656D76"/>
                </a:solidFill>
                <a:latin typeface="Calibri" panose="020F0502020204030204" pitchFamily="34" charset="0"/>
              </a:rPr>
              <a:t>Today in Excel: in 07:57</a:t>
            </a:r>
            <a:endParaRPr lang="de-CH" sz="1000">
              <a:solidFill>
                <a:srgbClr val="656D76"/>
              </a:solidFill>
              <a:latin typeface="Calibri" panose="020F0502020204030204" pitchFamily="34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EC78FCB-018F-0B90-17DD-91B297693DE3}"/>
              </a:ext>
            </a:extLst>
          </p:cNvPr>
          <p:cNvSpPr txBox="1"/>
          <p:nvPr/>
        </p:nvSpPr>
        <p:spPr>
          <a:xfrm>
            <a:off x="889000" y="4597400"/>
            <a:ext cx="28194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de-CH" sz="950">
                <a:solidFill>
                  <a:srgbClr val="656D76"/>
                </a:solidFill>
                <a:latin typeface="Segoe UI Symbol" panose="020B0502040204020203" pitchFamily="34" charset="0"/>
              </a:rPr>
              <a:t>▸ History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9CF7339-3306-E1D4-A3D1-FAEF5D72CAA5}"/>
              </a:ext>
            </a:extLst>
          </p:cNvPr>
          <p:cNvSpPr txBox="1"/>
          <p:nvPr/>
        </p:nvSpPr>
        <p:spPr>
          <a:xfrm>
            <a:off x="711200" y="5105400"/>
            <a:ext cx="3175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de-DE" sz="1000" i="1">
                <a:solidFill>
                  <a:srgbClr val="7F7F7F"/>
                </a:solidFill>
                <a:latin typeface="Calibri" panose="020F0502020204030204" pitchFamily="34" charset="0"/>
              </a:rPr>
              <a:t>Popup im Normal-Modus, nach «Log in»</a:t>
            </a:r>
            <a:endParaRPr lang="de-CH" sz="1000" i="1">
              <a:solidFill>
                <a:srgbClr val="7F7F7F"/>
              </a:solidFill>
              <a:latin typeface="Calibri" panose="020F0502020204030204" pitchFamily="34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1167193-D5F8-F671-E2B8-8E31E1806891}"/>
              </a:ext>
            </a:extLst>
          </p:cNvPr>
          <p:cNvSpPr txBox="1"/>
          <p:nvPr/>
        </p:nvSpPr>
        <p:spPr>
          <a:xfrm>
            <a:off x="4318000" y="1600200"/>
            <a:ext cx="381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de-CH" sz="1600" b="1">
                <a:solidFill>
                  <a:srgbClr val="1F1F1F"/>
                </a:solidFill>
                <a:latin typeface="Calibri" panose="020F0502020204030204" pitchFamily="34" charset="0"/>
              </a:rPr>
              <a:t>Zwei Modi</a:t>
            </a: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BFFDBFD1-3032-574B-28AF-FC5F71FD391A}"/>
              </a:ext>
            </a:extLst>
          </p:cNvPr>
          <p:cNvSpPr/>
          <p:nvPr/>
        </p:nvSpPr>
        <p:spPr>
          <a:xfrm>
            <a:off x="4318000" y="1981200"/>
            <a:ext cx="5232400" cy="1320800"/>
          </a:xfrm>
          <a:prstGeom prst="roundRect">
            <a:avLst>
              <a:gd name="adj" fmla="val 6000"/>
            </a:avLst>
          </a:prstGeom>
          <a:solidFill>
            <a:srgbClr val="EAF4E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8F562ED-63CE-7318-42DD-8D31AF534023}"/>
              </a:ext>
            </a:extLst>
          </p:cNvPr>
          <p:cNvSpPr txBox="1"/>
          <p:nvPr/>
        </p:nvSpPr>
        <p:spPr>
          <a:xfrm>
            <a:off x="4521200" y="2108200"/>
            <a:ext cx="4826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de-CH" sz="1350" b="1">
                <a:solidFill>
                  <a:srgbClr val="1F1F1F"/>
                </a:solidFill>
                <a:latin typeface="Calibri" panose="020F0502020204030204" pitchFamily="34" charset="0"/>
              </a:rPr>
              <a:t>Normal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2284006E-9DE7-6253-D13D-DC254C32107F}"/>
              </a:ext>
            </a:extLst>
          </p:cNvPr>
          <p:cNvSpPr/>
          <p:nvPr/>
        </p:nvSpPr>
        <p:spPr>
          <a:xfrm>
            <a:off x="4521200" y="2413000"/>
            <a:ext cx="637540" cy="2794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C8C8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0" rIns="50800" bIns="0" rtlCol="0" anchor="ctr">
            <a:noAutofit/>
          </a:bodyPr>
          <a:lstStyle/>
          <a:p>
            <a:pPr algn="ctr"/>
            <a:r>
              <a:rPr lang="de-CH" sz="1000">
                <a:solidFill>
                  <a:srgbClr val="262626"/>
                </a:solidFill>
                <a:latin typeface="Calibri" panose="020F0502020204030204" pitchFamily="34" charset="0"/>
              </a:rPr>
              <a:t>Log in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9EA13CD-3A65-1D4E-724F-8167B5BE8F16}"/>
              </a:ext>
            </a:extLst>
          </p:cNvPr>
          <p:cNvSpPr txBox="1"/>
          <p:nvPr/>
        </p:nvSpPr>
        <p:spPr>
          <a:xfrm>
            <a:off x="5184140" y="2451100"/>
            <a:ext cx="1524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de-CH" sz="1200" b="1">
                <a:solidFill>
                  <a:srgbClr val="8C8C8C"/>
                </a:solidFill>
                <a:latin typeface="Calibri" panose="020F0502020204030204" pitchFamily="34" charset="0"/>
              </a:rPr>
              <a:t>›</a:t>
            </a: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25A64A10-1BEA-9DD1-743E-90AC99AA9620}"/>
              </a:ext>
            </a:extLst>
          </p:cNvPr>
          <p:cNvSpPr/>
          <p:nvPr/>
        </p:nvSpPr>
        <p:spPr>
          <a:xfrm>
            <a:off x="5361940" y="2413000"/>
            <a:ext cx="999490" cy="2794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C8C8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0" rIns="50800" bIns="0" rtlCol="0" anchor="ctr">
            <a:noAutofit/>
          </a:bodyPr>
          <a:lstStyle/>
          <a:p>
            <a:pPr algn="ctr"/>
            <a:r>
              <a:rPr lang="de-CH" sz="1000">
                <a:solidFill>
                  <a:srgbClr val="262626"/>
                </a:solidFill>
                <a:latin typeface="Calibri" panose="020F0502020204030204" pitchFamily="34" charset="0"/>
              </a:rPr>
              <a:t>Start lunch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650B1EC-1E5B-A5E6-71FD-CE6CFDA43E5A}"/>
              </a:ext>
            </a:extLst>
          </p:cNvPr>
          <p:cNvSpPr txBox="1"/>
          <p:nvPr/>
        </p:nvSpPr>
        <p:spPr>
          <a:xfrm>
            <a:off x="6386830" y="2451100"/>
            <a:ext cx="1524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de-CH" sz="1200" b="1">
                <a:solidFill>
                  <a:srgbClr val="8C8C8C"/>
                </a:solidFill>
                <a:latin typeface="Calibri" panose="020F0502020204030204" pitchFamily="34" charset="0"/>
              </a:rPr>
              <a:t>›</a:t>
            </a: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3B88C6DF-BD47-384C-33D0-53095B264EDA}"/>
              </a:ext>
            </a:extLst>
          </p:cNvPr>
          <p:cNvSpPr/>
          <p:nvPr/>
        </p:nvSpPr>
        <p:spPr>
          <a:xfrm>
            <a:off x="6564630" y="2413000"/>
            <a:ext cx="854710" cy="2794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C8C8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0" rIns="50800" bIns="0" rtlCol="0" anchor="ctr">
            <a:noAutofit/>
          </a:bodyPr>
          <a:lstStyle/>
          <a:p>
            <a:pPr algn="ctr"/>
            <a:r>
              <a:rPr lang="de-CH" sz="1000">
                <a:solidFill>
                  <a:srgbClr val="262626"/>
                </a:solidFill>
                <a:latin typeface="Calibri" panose="020F0502020204030204" pitchFamily="34" charset="0"/>
              </a:rPr>
              <a:t>End lunch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4E6E500-1203-1035-388B-36910772B0F1}"/>
              </a:ext>
            </a:extLst>
          </p:cNvPr>
          <p:cNvSpPr txBox="1"/>
          <p:nvPr/>
        </p:nvSpPr>
        <p:spPr>
          <a:xfrm>
            <a:off x="7444740" y="2451100"/>
            <a:ext cx="1524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de-CH" sz="1200" b="1">
                <a:solidFill>
                  <a:srgbClr val="8C8C8C"/>
                </a:solidFill>
                <a:latin typeface="Calibri" panose="020F0502020204030204" pitchFamily="34" charset="0"/>
              </a:rPr>
              <a:t>›</a:t>
            </a: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7E66B090-0208-97FF-3634-4D3012BFE9C8}"/>
              </a:ext>
            </a:extLst>
          </p:cNvPr>
          <p:cNvSpPr/>
          <p:nvPr/>
        </p:nvSpPr>
        <p:spPr>
          <a:xfrm>
            <a:off x="7622540" y="2413000"/>
            <a:ext cx="927100" cy="2794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C8C8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0" rIns="50800" bIns="0" rtlCol="0" anchor="ctr">
            <a:noAutofit/>
          </a:bodyPr>
          <a:lstStyle/>
          <a:p>
            <a:pPr algn="ctr"/>
            <a:r>
              <a:rPr lang="de-CH" sz="1000">
                <a:solidFill>
                  <a:srgbClr val="262626"/>
                </a:solidFill>
                <a:latin typeface="Calibri" panose="020F0502020204030204" pitchFamily="34" charset="0"/>
              </a:rPr>
              <a:t>Leave work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D01B4DE-3C46-05DE-81EF-5262B334240A}"/>
              </a:ext>
            </a:extLst>
          </p:cNvPr>
          <p:cNvSpPr txBox="1"/>
          <p:nvPr/>
        </p:nvSpPr>
        <p:spPr>
          <a:xfrm>
            <a:off x="4521200" y="2819400"/>
            <a:ext cx="4826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de-DE" sz="1200">
                <a:solidFill>
                  <a:srgbClr val="404040"/>
                </a:solidFill>
                <a:latin typeface="Calibri" panose="020F0502020204030204" pitchFamily="34" charset="0"/>
              </a:rPr>
              <a:t>Mittagspause selbst ein- und ausstempeln.</a:t>
            </a:r>
            <a:endParaRPr lang="de-CH" sz="1200">
              <a:solidFill>
                <a:srgbClr val="404040"/>
              </a:solidFill>
              <a:latin typeface="Calibri" panose="020F0502020204030204" pitchFamily="34" charset="0"/>
            </a:endParaRP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F4697E7E-1994-6067-2DA8-F4A3F7B685BB}"/>
              </a:ext>
            </a:extLst>
          </p:cNvPr>
          <p:cNvSpPr/>
          <p:nvPr/>
        </p:nvSpPr>
        <p:spPr>
          <a:xfrm>
            <a:off x="4318000" y="3454400"/>
            <a:ext cx="5232400" cy="1320800"/>
          </a:xfrm>
          <a:prstGeom prst="roundRect">
            <a:avLst>
              <a:gd name="adj" fmla="val 6000"/>
            </a:avLst>
          </a:prstGeom>
          <a:solidFill>
            <a:srgbClr val="EAF4E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6C8B338-C01B-67DD-08F8-79512AD62760}"/>
              </a:ext>
            </a:extLst>
          </p:cNvPr>
          <p:cNvSpPr txBox="1"/>
          <p:nvPr/>
        </p:nvSpPr>
        <p:spPr>
          <a:xfrm>
            <a:off x="4521200" y="3581400"/>
            <a:ext cx="4826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de-CH" sz="1350" b="1">
                <a:solidFill>
                  <a:srgbClr val="1F1F1F"/>
                </a:solidFill>
                <a:latin typeface="Calibri" panose="020F0502020204030204" pitchFamily="34" charset="0"/>
              </a:rPr>
              <a:t>Azubi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04323A6B-2F40-8F10-3723-06B4476E8C2F}"/>
              </a:ext>
            </a:extLst>
          </p:cNvPr>
          <p:cNvSpPr/>
          <p:nvPr/>
        </p:nvSpPr>
        <p:spPr>
          <a:xfrm>
            <a:off x="4521200" y="3886200"/>
            <a:ext cx="637540" cy="2794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C8C8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0" rIns="50800" bIns="0" rtlCol="0" anchor="ctr">
            <a:noAutofit/>
          </a:bodyPr>
          <a:lstStyle/>
          <a:p>
            <a:pPr algn="ctr"/>
            <a:r>
              <a:rPr lang="de-CH" sz="1000">
                <a:solidFill>
                  <a:srgbClr val="262626"/>
                </a:solidFill>
                <a:latin typeface="Calibri" panose="020F0502020204030204" pitchFamily="34" charset="0"/>
              </a:rPr>
              <a:t>Log in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FF03006-CC25-A77F-D36C-6430FD9C9A9C}"/>
              </a:ext>
            </a:extLst>
          </p:cNvPr>
          <p:cNvSpPr txBox="1"/>
          <p:nvPr/>
        </p:nvSpPr>
        <p:spPr>
          <a:xfrm>
            <a:off x="5184140" y="3924300"/>
            <a:ext cx="1524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de-CH" sz="1200" b="1">
                <a:solidFill>
                  <a:srgbClr val="8C8C8C"/>
                </a:solidFill>
                <a:latin typeface="Calibri" panose="020F0502020204030204" pitchFamily="34" charset="0"/>
              </a:rPr>
              <a:t>›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AA512E0C-05CA-228A-199B-2E75D2DD8C08}"/>
              </a:ext>
            </a:extLst>
          </p:cNvPr>
          <p:cNvSpPr/>
          <p:nvPr/>
        </p:nvSpPr>
        <p:spPr>
          <a:xfrm>
            <a:off x="5361940" y="3886200"/>
            <a:ext cx="1723390" cy="2794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C8C8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0" rIns="50800" bIns="0" rtlCol="0" anchor="ctr">
            <a:noAutofit/>
          </a:bodyPr>
          <a:lstStyle/>
          <a:p>
            <a:pPr algn="ctr"/>
            <a:r>
              <a:rPr lang="de-CH" sz="1000">
                <a:solidFill>
                  <a:srgbClr val="262626"/>
                </a:solidFill>
                <a:latin typeface="Calibri" panose="020F0502020204030204" pitchFamily="34" charset="0"/>
              </a:rPr>
              <a:t>Leave (+30 min lunch)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B53B5C5-BDDB-6484-4A1E-A8102C045ECE}"/>
              </a:ext>
            </a:extLst>
          </p:cNvPr>
          <p:cNvSpPr txBox="1"/>
          <p:nvPr/>
        </p:nvSpPr>
        <p:spPr>
          <a:xfrm>
            <a:off x="4521200" y="4292600"/>
            <a:ext cx="4953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de-DE" sz="1200">
                <a:solidFill>
                  <a:srgbClr val="404040"/>
                </a:solidFill>
                <a:latin typeface="Calibri" panose="020F0502020204030204" pitchFamily="34" charset="0"/>
              </a:rPr>
              <a:t>Beim Ausstempeln wird die Mittagspause 12:15–12:45 automatisch eingetragen.</a:t>
            </a:r>
            <a:endParaRPr lang="de-CH" sz="1200">
              <a:solidFill>
                <a:srgbClr val="404040"/>
              </a:solidFill>
              <a:latin typeface="Calibri" panose="020F0502020204030204" pitchFamily="34" charset="0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4BD28A7-926B-0652-D52E-966E32D7C73F}"/>
              </a:ext>
            </a:extLst>
          </p:cNvPr>
          <p:cNvSpPr txBox="1"/>
          <p:nvPr/>
        </p:nvSpPr>
        <p:spPr>
          <a:xfrm>
            <a:off x="4318000" y="5003800"/>
            <a:ext cx="5232400" cy="1397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165100" indent="-165100">
              <a:spcAft>
                <a:spcPts val="500"/>
              </a:spcAft>
              <a:buFont typeface="+mj-lt"/>
              <a:buChar char="•"/>
            </a:pPr>
            <a:r>
              <a:rPr lang="de-DE" sz="1200">
                <a:solidFill>
                  <a:srgbClr val="404040"/>
                </a:solidFill>
                <a:latin typeface="Calibri" panose="020F0502020204030204" pitchFamily="34" charset="0"/>
              </a:rPr>
              <a:t>Der nächste logische Schritt ist blau hervorgehoben.</a:t>
            </a:r>
          </a:p>
          <a:p>
            <a:pPr marL="165100" indent="-165100">
              <a:spcAft>
                <a:spcPts val="500"/>
              </a:spcAft>
              <a:buFont typeface="+mj-lt"/>
              <a:buChar char="•"/>
            </a:pPr>
            <a:r>
              <a:rPr lang="de-DE" sz="1200">
                <a:solidFill>
                  <a:srgbClr val="404040"/>
                </a:solidFill>
                <a:latin typeface="Calibri" panose="020F0502020204030204" pitchFamily="34" charset="0"/>
              </a:rPr>
              <a:t>«Show all» blendet alle Buttons ein, z. B. für Ausnahmen.</a:t>
            </a:r>
          </a:p>
          <a:p>
            <a:pPr marL="165100" indent="-165100">
              <a:spcAft>
                <a:spcPts val="500"/>
              </a:spcAft>
              <a:buFont typeface="+mj-lt"/>
              <a:buChar char="•"/>
            </a:pPr>
            <a:r>
              <a:rPr lang="de-DE" sz="1200">
                <a:solidFill>
                  <a:srgbClr val="404040"/>
                </a:solidFill>
                <a:latin typeface="Calibri" panose="020F0502020204030204" pitchFamily="34" charset="0"/>
              </a:rPr>
              <a:t>Die Statuszeile zeigt, was heute im Excel steht.</a:t>
            </a:r>
            <a:endParaRPr lang="de-CH" sz="1200">
              <a:solidFill>
                <a:srgbClr val="40404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43693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B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Top Corners Rounded 1">
            <a:extLst>
              <a:ext uri="{FF2B5EF4-FFF2-40B4-BE49-F238E27FC236}">
                <a16:creationId xmlns:a16="http://schemas.microsoft.com/office/drawing/2014/main" id="{77E87074-49AD-BBEB-19CC-88E59B699157}"/>
              </a:ext>
            </a:extLst>
          </p:cNvPr>
          <p:cNvSpPr/>
          <p:nvPr/>
        </p:nvSpPr>
        <p:spPr>
          <a:xfrm>
            <a:off x="304800" y="190500"/>
            <a:ext cx="1050290" cy="304800"/>
          </a:xfrm>
          <a:prstGeom prst="round2SameRect">
            <a:avLst>
              <a:gd name="adj1" fmla="val 28000"/>
              <a:gd name="adj2" fmla="val 0"/>
            </a:avLst>
          </a:prstGeom>
          <a:solidFill>
            <a:srgbClr val="8DB4E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0" rIns="50800" bIns="0" rtlCol="0" anchor="ctr"/>
          <a:lstStyle/>
          <a:p>
            <a:pPr algn="ctr"/>
            <a:r>
              <a:rPr lang="de-CH" sz="1050">
                <a:solidFill>
                  <a:srgbClr val="3B3B3B"/>
                </a:solidFill>
                <a:latin typeface="Calibri" panose="020F0502020204030204" pitchFamily="34" charset="0"/>
              </a:rPr>
              <a:t>Überblick</a:t>
            </a:r>
          </a:p>
        </p:txBody>
      </p:sp>
      <p:sp>
        <p:nvSpPr>
          <p:cNvPr id="3" name="Rectangle: Top Corners Rounded 2">
            <a:extLst>
              <a:ext uri="{FF2B5EF4-FFF2-40B4-BE49-F238E27FC236}">
                <a16:creationId xmlns:a16="http://schemas.microsoft.com/office/drawing/2014/main" id="{77B80391-8939-814E-314A-EAAC1D0E09DB}"/>
              </a:ext>
            </a:extLst>
          </p:cNvPr>
          <p:cNvSpPr/>
          <p:nvPr/>
        </p:nvSpPr>
        <p:spPr>
          <a:xfrm>
            <a:off x="1393190" y="190500"/>
            <a:ext cx="890270" cy="304800"/>
          </a:xfrm>
          <a:prstGeom prst="round2SameRect">
            <a:avLst>
              <a:gd name="adj1" fmla="val 28000"/>
              <a:gd name="adj2" fmla="val 0"/>
            </a:avLst>
          </a:prstGeom>
          <a:solidFill>
            <a:srgbClr val="F4B18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0" rIns="50800" bIns="0" rtlCol="0" anchor="ctr"/>
          <a:lstStyle/>
          <a:p>
            <a:pPr algn="ctr"/>
            <a:r>
              <a:rPr lang="de-CH" sz="1050">
                <a:solidFill>
                  <a:srgbClr val="3B3B3B"/>
                </a:solidFill>
                <a:latin typeface="Calibri" panose="020F0502020204030204" pitchFamily="34" charset="0"/>
              </a:rPr>
              <a:t>Technik</a:t>
            </a:r>
          </a:p>
        </p:txBody>
      </p:sp>
      <p:sp>
        <p:nvSpPr>
          <p:cNvPr id="4" name="Rectangle: Top Corners Rounded 3">
            <a:extLst>
              <a:ext uri="{FF2B5EF4-FFF2-40B4-BE49-F238E27FC236}">
                <a16:creationId xmlns:a16="http://schemas.microsoft.com/office/drawing/2014/main" id="{6EF6E4B4-3991-9A9D-D0B1-48E20DE887D9}"/>
              </a:ext>
            </a:extLst>
          </p:cNvPr>
          <p:cNvSpPr/>
          <p:nvPr/>
        </p:nvSpPr>
        <p:spPr>
          <a:xfrm>
            <a:off x="3489960" y="190500"/>
            <a:ext cx="1290320" cy="304800"/>
          </a:xfrm>
          <a:prstGeom prst="round2SameRect">
            <a:avLst>
              <a:gd name="adj1" fmla="val 28000"/>
              <a:gd name="adj2" fmla="val 0"/>
            </a:avLst>
          </a:prstGeom>
          <a:solidFill>
            <a:srgbClr val="C9A9E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0" rIns="50800" bIns="0" rtlCol="0" anchor="ctr"/>
          <a:lstStyle/>
          <a:p>
            <a:pPr algn="ctr"/>
            <a:r>
              <a:rPr lang="de-CH" sz="1050">
                <a:solidFill>
                  <a:srgbClr val="3B3B3B"/>
                </a:solidFill>
                <a:latin typeface="Calibri" panose="020F0502020204030204" pitchFamily="34" charset="0"/>
              </a:rPr>
              <a:t>Installation</a:t>
            </a:r>
          </a:p>
        </p:txBody>
      </p:sp>
      <p:sp>
        <p:nvSpPr>
          <p:cNvPr id="5" name="Rectangle: Top Corners Rounded 4">
            <a:extLst>
              <a:ext uri="{FF2B5EF4-FFF2-40B4-BE49-F238E27FC236}">
                <a16:creationId xmlns:a16="http://schemas.microsoft.com/office/drawing/2014/main" id="{00437552-6474-3CDC-3E19-F54221EFD09D}"/>
              </a:ext>
            </a:extLst>
          </p:cNvPr>
          <p:cNvSpPr/>
          <p:nvPr/>
        </p:nvSpPr>
        <p:spPr>
          <a:xfrm>
            <a:off x="4818380" y="190500"/>
            <a:ext cx="730250" cy="304800"/>
          </a:xfrm>
          <a:prstGeom prst="round2SameRect">
            <a:avLst>
              <a:gd name="adj1" fmla="val 28000"/>
              <a:gd name="adj2" fmla="val 0"/>
            </a:avLst>
          </a:prstGeom>
          <a:solidFill>
            <a:srgbClr val="F4A6B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0" rIns="50800" bIns="0" rtlCol="0" anchor="ctr"/>
          <a:lstStyle/>
          <a:p>
            <a:pPr algn="ctr"/>
            <a:r>
              <a:rPr lang="de-CH" sz="1050">
                <a:solidFill>
                  <a:srgbClr val="3B3B3B"/>
                </a:solidFill>
                <a:latin typeface="Calibri" panose="020F0502020204030204" pitchFamily="34" charset="0"/>
              </a:rPr>
              <a:t>Teams</a:t>
            </a:r>
          </a:p>
        </p:txBody>
      </p:sp>
      <p:sp>
        <p:nvSpPr>
          <p:cNvPr id="6" name="Rectangle: Top Corners Rounded 5">
            <a:extLst>
              <a:ext uri="{FF2B5EF4-FFF2-40B4-BE49-F238E27FC236}">
                <a16:creationId xmlns:a16="http://schemas.microsoft.com/office/drawing/2014/main" id="{23D9A1C9-B118-A128-F20A-E944991D52E7}"/>
              </a:ext>
            </a:extLst>
          </p:cNvPr>
          <p:cNvSpPr/>
          <p:nvPr/>
        </p:nvSpPr>
        <p:spPr>
          <a:xfrm>
            <a:off x="5586730" y="190500"/>
            <a:ext cx="730250" cy="304800"/>
          </a:xfrm>
          <a:prstGeom prst="round2SameRect">
            <a:avLst>
              <a:gd name="adj1" fmla="val 28000"/>
              <a:gd name="adj2" fmla="val 0"/>
            </a:avLst>
          </a:prstGeom>
          <a:solidFill>
            <a:srgbClr val="8FD3C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0" rIns="50800" bIns="0" rtlCol="0" anchor="ctr"/>
          <a:lstStyle/>
          <a:p>
            <a:pPr algn="ctr"/>
            <a:r>
              <a:rPr lang="de-CH" sz="1050">
                <a:solidFill>
                  <a:srgbClr val="3B3B3B"/>
                </a:solidFill>
                <a:latin typeface="Calibri" panose="020F0502020204030204" pitchFamily="34" charset="0"/>
              </a:rPr>
              <a:t>Tipps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F831442-C6B1-81A7-741E-C6737E9C0BEE}"/>
              </a:ext>
            </a:extLst>
          </p:cNvPr>
          <p:cNvSpPr/>
          <p:nvPr/>
        </p:nvSpPr>
        <p:spPr>
          <a:xfrm>
            <a:off x="304800" y="482600"/>
            <a:ext cx="11582400" cy="6197600"/>
          </a:xfrm>
          <a:prstGeom prst="rect">
            <a:avLst/>
          </a:prstGeom>
          <a:solidFill>
            <a:srgbClr val="FFFFFF"/>
          </a:solidFill>
          <a:ln w="19050">
            <a:solidFill>
              <a:srgbClr val="A9D1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8" name="Rectangle: Top Corners Rounded 7">
            <a:extLst>
              <a:ext uri="{FF2B5EF4-FFF2-40B4-BE49-F238E27FC236}">
                <a16:creationId xmlns:a16="http://schemas.microsoft.com/office/drawing/2014/main" id="{4D9F489C-249A-679F-C790-B4592D472440}"/>
              </a:ext>
            </a:extLst>
          </p:cNvPr>
          <p:cNvSpPr/>
          <p:nvPr/>
        </p:nvSpPr>
        <p:spPr>
          <a:xfrm>
            <a:off x="2321560" y="114300"/>
            <a:ext cx="1130300" cy="393700"/>
          </a:xfrm>
          <a:prstGeom prst="round2SameRect">
            <a:avLst>
              <a:gd name="adj1" fmla="val 28000"/>
              <a:gd name="adj2" fmla="val 0"/>
            </a:avLst>
          </a:prstGeom>
          <a:solidFill>
            <a:srgbClr val="A9D18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0" rIns="50800" bIns="0" rtlCol="0" anchor="ctr"/>
          <a:lstStyle/>
          <a:p>
            <a:pPr algn="ctr"/>
            <a:r>
              <a:rPr lang="de-CH" sz="1100" b="1">
                <a:solidFill>
                  <a:srgbClr val="1F1F1F"/>
                </a:solidFill>
                <a:latin typeface="Calibri" panose="020F0502020204030204" pitchFamily="34" charset="0"/>
              </a:rPr>
              <a:t>Funktionen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339D9B0-412E-0498-5EBD-C761ED9F3E4C}"/>
              </a:ext>
            </a:extLst>
          </p:cNvPr>
          <p:cNvSpPr/>
          <p:nvPr/>
        </p:nvSpPr>
        <p:spPr>
          <a:xfrm>
            <a:off x="9864725" y="492125"/>
            <a:ext cx="2012950" cy="6178550"/>
          </a:xfrm>
          <a:prstGeom prst="rect">
            <a:avLst/>
          </a:prstGeom>
          <a:solidFill>
            <a:srgbClr val="F3F9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131D5AC-4AA3-55E7-0C16-B144314262EA}"/>
              </a:ext>
            </a:extLst>
          </p:cNvPr>
          <p:cNvSpPr txBox="1"/>
          <p:nvPr/>
        </p:nvSpPr>
        <p:spPr>
          <a:xfrm>
            <a:off x="10007600" y="609600"/>
            <a:ext cx="1778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de-CH" sz="950">
                <a:solidFill>
                  <a:srgbClr val="6E6E6E"/>
                </a:solidFill>
                <a:latin typeface="Calibri" panose="020F0502020204030204" pitchFamily="34" charset="0"/>
              </a:rPr>
              <a:t>+  Seite hinzufügen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650F4E7-06A4-83C4-4622-504261D35BEC}"/>
              </a:ext>
            </a:extLst>
          </p:cNvPr>
          <p:cNvSpPr txBox="1"/>
          <p:nvPr/>
        </p:nvSpPr>
        <p:spPr>
          <a:xfrm>
            <a:off x="10007600" y="889000"/>
            <a:ext cx="1778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de-CH" sz="1050">
                <a:solidFill>
                  <a:srgbClr val="262626"/>
                </a:solidFill>
                <a:latin typeface="Calibri" panose="020F0502020204030204" pitchFamily="34" charset="0"/>
              </a:rPr>
              <a:t>Time Entry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F98040B-16E8-A1C6-4BAC-FEEC535E26B6}"/>
              </a:ext>
            </a:extLst>
          </p:cNvPr>
          <p:cNvSpPr txBox="1"/>
          <p:nvPr/>
        </p:nvSpPr>
        <p:spPr>
          <a:xfrm>
            <a:off x="10007600" y="1193800"/>
            <a:ext cx="1778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de-CH" sz="1050">
                <a:solidFill>
                  <a:srgbClr val="262626"/>
                </a:solidFill>
                <a:latin typeface="Calibri" panose="020F0502020204030204" pitchFamily="34" charset="0"/>
              </a:rPr>
              <a:t>Überblick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84402C5-73E5-D75D-A183-DB707701B094}"/>
              </a:ext>
            </a:extLst>
          </p:cNvPr>
          <p:cNvSpPr txBox="1"/>
          <p:nvPr/>
        </p:nvSpPr>
        <p:spPr>
          <a:xfrm>
            <a:off x="10007600" y="1498600"/>
            <a:ext cx="1778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de-CH" sz="1050">
                <a:solidFill>
                  <a:srgbClr val="262626"/>
                </a:solidFill>
                <a:latin typeface="Calibri" panose="020F0502020204030204" pitchFamily="34" charset="0"/>
              </a:rPr>
              <a:t>Architektur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D2BA67B-D555-00B6-E571-DB7800FC0AC2}"/>
              </a:ext>
            </a:extLst>
          </p:cNvPr>
          <p:cNvSpPr txBox="1"/>
          <p:nvPr/>
        </p:nvSpPr>
        <p:spPr>
          <a:xfrm>
            <a:off x="10007600" y="1803400"/>
            <a:ext cx="1778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de-CH" sz="1050">
                <a:solidFill>
                  <a:srgbClr val="262626"/>
                </a:solidFill>
                <a:latin typeface="Calibri" panose="020F0502020204030204" pitchFamily="34" charset="0"/>
              </a:rPr>
              <a:t>Sicherheit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B89C46B-A4F9-A015-D257-7BFA044A5438}"/>
              </a:ext>
            </a:extLst>
          </p:cNvPr>
          <p:cNvSpPr txBox="1"/>
          <p:nvPr/>
        </p:nvSpPr>
        <p:spPr>
          <a:xfrm>
            <a:off x="10007600" y="2108200"/>
            <a:ext cx="1778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de-CH" sz="1050">
                <a:solidFill>
                  <a:srgbClr val="262626"/>
                </a:solidFill>
                <a:latin typeface="Calibri" panose="020F0502020204030204" pitchFamily="34" charset="0"/>
              </a:rPr>
              <a:t>Stempeln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7DCCD01-99DE-ED3A-2BB6-4A2727A366F2}"/>
              </a:ext>
            </a:extLst>
          </p:cNvPr>
          <p:cNvSpPr/>
          <p:nvPr/>
        </p:nvSpPr>
        <p:spPr>
          <a:xfrm>
            <a:off x="9864725" y="2362200"/>
            <a:ext cx="2012950" cy="279400"/>
          </a:xfrm>
          <a:prstGeom prst="rect">
            <a:avLst/>
          </a:prstGeom>
          <a:solidFill>
            <a:srgbClr val="D4E8C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D46CB74-E63A-DB89-8384-A909606F3AF8}"/>
              </a:ext>
            </a:extLst>
          </p:cNvPr>
          <p:cNvSpPr txBox="1"/>
          <p:nvPr/>
        </p:nvSpPr>
        <p:spPr>
          <a:xfrm>
            <a:off x="10007600" y="2413000"/>
            <a:ext cx="1778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de-CH" sz="1050" b="1">
                <a:solidFill>
                  <a:srgbClr val="262626"/>
                </a:solidFill>
                <a:latin typeface="Calibri" panose="020F0502020204030204" pitchFamily="34" charset="0"/>
              </a:rPr>
              <a:t>Excel-Zuordnung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222F0BD-49E1-E972-4DE4-897C2B17F393}"/>
              </a:ext>
            </a:extLst>
          </p:cNvPr>
          <p:cNvSpPr txBox="1"/>
          <p:nvPr/>
        </p:nvSpPr>
        <p:spPr>
          <a:xfrm>
            <a:off x="10007600" y="2717800"/>
            <a:ext cx="1778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de-CH" sz="1050">
                <a:solidFill>
                  <a:srgbClr val="262626"/>
                </a:solidFill>
                <a:latin typeface="Calibri" panose="020F0502020204030204" pitchFamily="34" charset="0"/>
              </a:rPr>
              <a:t>Weitere Funktionen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750F0DC-9E5D-CFF1-1EDA-E0EB1FD91BB3}"/>
              </a:ext>
            </a:extLst>
          </p:cNvPr>
          <p:cNvSpPr txBox="1"/>
          <p:nvPr/>
        </p:nvSpPr>
        <p:spPr>
          <a:xfrm>
            <a:off x="10007600" y="3022600"/>
            <a:ext cx="1778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de-CH" sz="1050">
                <a:solidFill>
                  <a:srgbClr val="262626"/>
                </a:solidFill>
                <a:latin typeface="Calibri" panose="020F0502020204030204" pitchFamily="34" charset="0"/>
              </a:rPr>
              <a:t>Installation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C854BF6-C0A6-0C1B-CE26-957D5A1BBA7A}"/>
              </a:ext>
            </a:extLst>
          </p:cNvPr>
          <p:cNvSpPr txBox="1"/>
          <p:nvPr/>
        </p:nvSpPr>
        <p:spPr>
          <a:xfrm>
            <a:off x="10007600" y="3327400"/>
            <a:ext cx="1778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de-CH" sz="1050">
                <a:solidFill>
                  <a:srgbClr val="262626"/>
                </a:solidFill>
                <a:latin typeface="Calibri" panose="020F0502020204030204" pitchFamily="34" charset="0"/>
              </a:rPr>
              <a:t>Einrichtung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BC90A98-0A2E-4DA3-6E2C-FC142CD7AB61}"/>
              </a:ext>
            </a:extLst>
          </p:cNvPr>
          <p:cNvSpPr txBox="1"/>
          <p:nvPr/>
        </p:nvSpPr>
        <p:spPr>
          <a:xfrm>
            <a:off x="10007600" y="3632200"/>
            <a:ext cx="1778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de-CH" sz="1050">
                <a:solidFill>
                  <a:srgbClr val="262626"/>
                </a:solidFill>
                <a:latin typeface="Calibri" panose="020F0502020204030204" pitchFamily="34" charset="0"/>
              </a:rPr>
              <a:t>Teams-Nachrichten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923D0E1-D9FE-3A0D-21C5-CFC5C4E506F7}"/>
              </a:ext>
            </a:extLst>
          </p:cNvPr>
          <p:cNvSpPr txBox="1"/>
          <p:nvPr/>
        </p:nvSpPr>
        <p:spPr>
          <a:xfrm>
            <a:off x="10007600" y="3937000"/>
            <a:ext cx="1778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de-CH" sz="1050">
                <a:solidFill>
                  <a:srgbClr val="262626"/>
                </a:solidFill>
                <a:latin typeface="Calibri" panose="020F0502020204030204" pitchFamily="34" charset="0"/>
              </a:rPr>
              <a:t>Tipps &amp; Ausblick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3E4287D-AAD3-2553-2889-AAAEF4D2D303}"/>
              </a:ext>
            </a:extLst>
          </p:cNvPr>
          <p:cNvSpPr txBox="1"/>
          <p:nvPr/>
        </p:nvSpPr>
        <p:spPr>
          <a:xfrm>
            <a:off x="711200" y="635000"/>
            <a:ext cx="8890000" cy="4699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de-DE" sz="2800">
                <a:solidFill>
                  <a:srgbClr val="1F1F1F"/>
                </a:solidFill>
                <a:latin typeface="Calibri Light" panose="020F0302020204030204" pitchFamily="34" charset="0"/>
              </a:rPr>
              <a:t>Was wo im Excel landet</a:t>
            </a:r>
            <a:endParaRPr lang="de-CH" sz="2800">
              <a:solidFill>
                <a:srgbClr val="1F1F1F"/>
              </a:solidFill>
              <a:latin typeface="Calibri Light" panose="020F0302020204030204" pitchFamily="34" charset="0"/>
            </a:endParaRP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BA6F046B-8E4E-C1C0-D884-95D90178ABD9}"/>
              </a:ext>
            </a:extLst>
          </p:cNvPr>
          <p:cNvCxnSpPr/>
          <p:nvPr/>
        </p:nvCxnSpPr>
        <p:spPr>
          <a:xfrm>
            <a:off x="711200" y="1130300"/>
            <a:ext cx="3729292" cy="0"/>
          </a:xfrm>
          <a:prstGeom prst="line">
            <a:avLst/>
          </a:prstGeom>
          <a:ln w="9525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3C57E26D-69C8-9FDD-D35D-8BBE8E522490}"/>
              </a:ext>
            </a:extLst>
          </p:cNvPr>
          <p:cNvSpPr txBox="1"/>
          <p:nvPr/>
        </p:nvSpPr>
        <p:spPr>
          <a:xfrm>
            <a:off x="711200" y="1181100"/>
            <a:ext cx="5334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de-CH" sz="950">
                <a:solidFill>
                  <a:srgbClr val="7F7F7F"/>
                </a:solidFill>
                <a:latin typeface="Calibri" panose="020F0502020204030204" pitchFamily="34" charset="0"/>
              </a:rPr>
              <a:t>Donnerstag, 24. September 2026          09:41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AA9D526-7FE7-630A-2B95-C860EA928255}"/>
              </a:ext>
            </a:extLst>
          </p:cNvPr>
          <p:cNvSpPr txBox="1"/>
          <p:nvPr/>
        </p:nvSpPr>
        <p:spPr>
          <a:xfrm>
            <a:off x="711200" y="1625600"/>
            <a:ext cx="88392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de-DE" sz="1300">
                <a:solidFill>
                  <a:srgbClr val="262626"/>
                </a:solidFill>
                <a:latin typeface="Calibri" panose="020F0502020204030204" pitchFamily="34" charset="0"/>
              </a:rPr>
              <a:t>Jede Person hat ein eigenes Sheet mit einer Tabelle, pro Tag eine Zeile. Die Extension füllt die Zellen der heutigen Zeile, genau wie die alten Flows.</a:t>
            </a:r>
            <a:endParaRPr lang="de-CH" sz="1300">
              <a:solidFill>
                <a:srgbClr val="262626"/>
              </a:solidFill>
              <a:latin typeface="Calibri" panose="020F0502020204030204" pitchFamily="34" charset="0"/>
            </a:endParaRPr>
          </a:p>
        </p:txBody>
      </p:sp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92E409E9-CEB0-9233-AEA4-17617C2B0F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7076005"/>
              </p:ext>
            </p:extLst>
          </p:nvPr>
        </p:nvGraphicFramePr>
        <p:xfrm>
          <a:off x="711200" y="2184400"/>
          <a:ext cx="8839200" cy="2286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13000">
                  <a:extLst>
                    <a:ext uri="{9D8B030D-6E8A-4147-A177-3AD203B41FA5}">
                      <a16:colId xmlns:a16="http://schemas.microsoft.com/office/drawing/2014/main" val="1805623710"/>
                    </a:ext>
                  </a:extLst>
                </a:gridCol>
                <a:gridCol w="6426200">
                  <a:extLst>
                    <a:ext uri="{9D8B030D-6E8A-4147-A177-3AD203B41FA5}">
                      <a16:colId xmlns:a16="http://schemas.microsoft.com/office/drawing/2014/main" val="2396848125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r>
                        <a:rPr lang="de-CH" sz="1200" b="1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rPr>
                        <a:t>Button</a:t>
                      </a:r>
                    </a:p>
                  </a:txBody>
                  <a:tcPr marL="127000" anchor="ctr">
                    <a:lnB w="9525">
                      <a:solidFill>
                        <a:srgbClr val="D9D9D9"/>
                      </a:solidFill>
                    </a:lnB>
                    <a:solidFill>
                      <a:srgbClr val="D0E6C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200" b="1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rPr>
                        <a:t>Eintrag in der heutigen Zeile</a:t>
                      </a:r>
                      <a:endParaRPr lang="de-CH" sz="1200" b="1">
                        <a:solidFill>
                          <a:srgbClr val="262626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127000" anchor="ctr">
                    <a:lnB w="9525">
                      <a:solidFill>
                        <a:srgbClr val="D9D9D9"/>
                      </a:solidFill>
                    </a:lnB>
                    <a:solidFill>
                      <a:srgbClr val="D0E6C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2401918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de-CH" sz="1200" b="1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rPr>
                        <a:t>Log in</a:t>
                      </a:r>
                    </a:p>
                  </a:txBody>
                  <a:tcPr marL="127000" anchor="ctr"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200" b="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rPr>
                        <a:t>Neue Zeile: A = Datum, B = Morgen kommen</a:t>
                      </a:r>
                      <a:endParaRPr lang="de-CH" sz="1200" b="0">
                        <a:solidFill>
                          <a:srgbClr val="262626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127000" anchor="ctr"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22908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de-CH" sz="1200" b="1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rPr>
                        <a:t>Start lunch</a:t>
                      </a:r>
                    </a:p>
                  </a:txBody>
                  <a:tcPr marL="127000" anchor="ctr"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CH" sz="1200" b="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rPr>
                        <a:t>C = Mittagspause gehen</a:t>
                      </a:r>
                    </a:p>
                  </a:txBody>
                  <a:tcPr marL="127000" anchor="ctr"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872094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de-CH" sz="1200" b="1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rPr>
                        <a:t>End lunch</a:t>
                      </a:r>
                    </a:p>
                  </a:txBody>
                  <a:tcPr marL="127000" anchor="ctr"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CH" sz="1200" b="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rPr>
                        <a:t>E = Mittagspause kommen</a:t>
                      </a:r>
                    </a:p>
                  </a:txBody>
                  <a:tcPr marL="127000" anchor="ctr"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7455617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de-CH" sz="1200" b="1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rPr>
                        <a:t>Leave work</a:t>
                      </a:r>
                    </a:p>
                  </a:txBody>
                  <a:tcPr marL="127000" anchor="ctr"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200" b="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rPr>
                        <a:t>F = Abend gehen. Ohne Mittagspause: C = E = F (wie bisher)</a:t>
                      </a:r>
                      <a:endParaRPr lang="de-CH" sz="1200" b="0">
                        <a:solidFill>
                          <a:srgbClr val="262626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127000" anchor="ctr"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219321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de-CH" sz="1200" b="1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rPr>
                        <a:t>Leave (+30 min lunch)</a:t>
                      </a:r>
                    </a:p>
                  </a:txBody>
                  <a:tcPr marL="127000" anchor="ctr"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200" b="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rPr>
                        <a:t>C = 12:15, E = 12:45, F = jetzt</a:t>
                      </a:r>
                      <a:endParaRPr lang="de-CH" sz="1200" b="0">
                        <a:solidFill>
                          <a:srgbClr val="262626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127000" anchor="ctr"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4685919"/>
                  </a:ext>
                </a:extLst>
              </a:tr>
            </a:tbl>
          </a:graphicData>
        </a:graphic>
      </p:graphicFrame>
      <p:sp>
        <p:nvSpPr>
          <p:cNvPr id="28" name="Oval 27">
            <a:extLst>
              <a:ext uri="{FF2B5EF4-FFF2-40B4-BE49-F238E27FC236}">
                <a16:creationId xmlns:a16="http://schemas.microsoft.com/office/drawing/2014/main" id="{413EE6BB-80C3-3C4E-2C53-BE45622793F0}"/>
              </a:ext>
            </a:extLst>
          </p:cNvPr>
          <p:cNvSpPr/>
          <p:nvPr/>
        </p:nvSpPr>
        <p:spPr>
          <a:xfrm>
            <a:off x="711200" y="4826000"/>
            <a:ext cx="355600" cy="355600"/>
          </a:xfrm>
          <a:prstGeom prst="ellipse">
            <a:avLst/>
          </a:prstGeom>
          <a:solidFill>
            <a:srgbClr val="A9D18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de-CH" sz="1200" b="1">
                <a:solidFill>
                  <a:srgbClr val="1F1F1F"/>
                </a:solidFill>
                <a:latin typeface="Segoe UI Symbol" panose="020B0502040204020203" pitchFamily="34" charset="0"/>
              </a:rPr>
              <a:t>✔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BEA695E-9068-E639-6D29-DC5F4EB5A216}"/>
              </a:ext>
            </a:extLst>
          </p:cNvPr>
          <p:cNvSpPr txBox="1"/>
          <p:nvPr/>
        </p:nvSpPr>
        <p:spPr>
          <a:xfrm>
            <a:off x="1193800" y="4826000"/>
            <a:ext cx="2362200" cy="152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lang="de-DE" sz="1300" b="1">
                <a:solidFill>
                  <a:srgbClr val="1F1F1F"/>
                </a:solidFill>
                <a:latin typeface="Calibri" panose="020F0502020204030204" pitchFamily="34" charset="0"/>
              </a:rPr>
              <a:t>Formeln bleiben</a:t>
            </a:r>
          </a:p>
          <a:p>
            <a:r>
              <a:rPr lang="de-DE" sz="1150">
                <a:solidFill>
                  <a:srgbClr val="404040"/>
                </a:solidFill>
                <a:latin typeface="Calibri" panose="020F0502020204030204" pitchFamily="34" charset="0"/>
              </a:rPr>
              <a:t>Neue Zeilen übernehmen die Formeln in D, G, H und I. Totale und Überzeit rechnen weiter.</a:t>
            </a:r>
            <a:endParaRPr lang="de-CH" sz="1150">
              <a:solidFill>
                <a:srgbClr val="404040"/>
              </a:solidFill>
              <a:latin typeface="Calibri" panose="020F0502020204030204" pitchFamily="34" charset="0"/>
            </a:endParaRP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0750EBAF-9A06-3CCC-3D88-AA5C56D12C9B}"/>
              </a:ext>
            </a:extLst>
          </p:cNvPr>
          <p:cNvSpPr/>
          <p:nvPr/>
        </p:nvSpPr>
        <p:spPr>
          <a:xfrm>
            <a:off x="3733800" y="4826000"/>
            <a:ext cx="355600" cy="355600"/>
          </a:xfrm>
          <a:prstGeom prst="ellipse">
            <a:avLst/>
          </a:prstGeom>
          <a:solidFill>
            <a:srgbClr val="F4C20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de-CH" sz="1200" b="1">
                <a:solidFill>
                  <a:srgbClr val="1F1F1F"/>
                </a:solidFill>
                <a:latin typeface="Segoe UI Symbol" panose="020B0502040204020203" pitchFamily="34" charset="0"/>
              </a:rPr>
              <a:t>★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2FEEAD6-4D52-D9AB-1DA5-447AFD5924ED}"/>
              </a:ext>
            </a:extLst>
          </p:cNvPr>
          <p:cNvSpPr txBox="1"/>
          <p:nvPr/>
        </p:nvSpPr>
        <p:spPr>
          <a:xfrm>
            <a:off x="4216400" y="4826000"/>
            <a:ext cx="2362200" cy="152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lang="de-DE" sz="1300" b="1">
                <a:solidFill>
                  <a:srgbClr val="1F1F1F"/>
                </a:solidFill>
                <a:latin typeface="Calibri" panose="020F0502020204030204" pitchFamily="34" charset="0"/>
              </a:rPr>
              <a:t>Nichts wird überschrieben</a:t>
            </a:r>
          </a:p>
          <a:p>
            <a:r>
              <a:rPr lang="de-DE" sz="1150">
                <a:solidFill>
                  <a:srgbClr val="404040"/>
                </a:solidFill>
                <a:latin typeface="Calibri" panose="020F0502020204030204" pitchFamily="34" charset="0"/>
              </a:rPr>
              <a:t>Ist eine Zelle schon gefüllt, meldet das Popup einen Fehler. Korrekturen direkt im Excel.</a:t>
            </a:r>
            <a:endParaRPr lang="de-CH" sz="1150">
              <a:solidFill>
                <a:srgbClr val="404040"/>
              </a:solidFill>
              <a:latin typeface="Calibri" panose="020F0502020204030204" pitchFamily="34" charset="0"/>
            </a:endParaRP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A008D7E9-8652-E6F2-A289-92E2A683892E}"/>
              </a:ext>
            </a:extLst>
          </p:cNvPr>
          <p:cNvSpPr/>
          <p:nvPr/>
        </p:nvSpPr>
        <p:spPr>
          <a:xfrm>
            <a:off x="6756400" y="4826000"/>
            <a:ext cx="355600" cy="355600"/>
          </a:xfrm>
          <a:prstGeom prst="ellipse">
            <a:avLst/>
          </a:prstGeom>
          <a:solidFill>
            <a:srgbClr val="A9D18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de-CH" sz="1200" b="1">
                <a:solidFill>
                  <a:srgbClr val="1F1F1F"/>
                </a:solidFill>
                <a:latin typeface="Segoe UI Symbol" panose="020B0502040204020203" pitchFamily="34" charset="0"/>
              </a:rPr>
              <a:t>✎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1179537-3F5B-07DA-C774-3FC2F678F17A}"/>
              </a:ext>
            </a:extLst>
          </p:cNvPr>
          <p:cNvSpPr txBox="1"/>
          <p:nvPr/>
        </p:nvSpPr>
        <p:spPr>
          <a:xfrm>
            <a:off x="7239000" y="4826000"/>
            <a:ext cx="2362200" cy="152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lang="de-DE" sz="1300" b="1">
                <a:solidFill>
                  <a:srgbClr val="1F1F1F"/>
                </a:solidFill>
                <a:latin typeface="Calibri" panose="020F0502020204030204" pitchFamily="34" charset="0"/>
              </a:rPr>
              <a:t>Rest bleibt unberührt</a:t>
            </a:r>
          </a:p>
          <a:p>
            <a:r>
              <a:rPr lang="de-DE" sz="1150">
                <a:solidFill>
                  <a:srgbClr val="404040"/>
                </a:solidFill>
                <a:latin typeface="Calibri" panose="020F0502020204030204" pitchFamily="34" charset="0"/>
              </a:rPr>
              <a:t>Notizen in Spalte J, die Sollarbeitszeit in K1 und die Abrechnungs-Sheets werden nicht verändert.</a:t>
            </a:r>
            <a:endParaRPr lang="de-CH" sz="1150">
              <a:solidFill>
                <a:srgbClr val="40404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25177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B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Top Corners Rounded 1">
            <a:extLst>
              <a:ext uri="{FF2B5EF4-FFF2-40B4-BE49-F238E27FC236}">
                <a16:creationId xmlns:a16="http://schemas.microsoft.com/office/drawing/2014/main" id="{2F8E9C3C-8BAA-7F23-6182-7CF902D7F1E5}"/>
              </a:ext>
            </a:extLst>
          </p:cNvPr>
          <p:cNvSpPr/>
          <p:nvPr/>
        </p:nvSpPr>
        <p:spPr>
          <a:xfrm>
            <a:off x="304800" y="190500"/>
            <a:ext cx="1050290" cy="304800"/>
          </a:xfrm>
          <a:prstGeom prst="round2SameRect">
            <a:avLst>
              <a:gd name="adj1" fmla="val 28000"/>
              <a:gd name="adj2" fmla="val 0"/>
            </a:avLst>
          </a:prstGeom>
          <a:solidFill>
            <a:srgbClr val="8DB4E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0" rIns="50800" bIns="0" rtlCol="0" anchor="ctr"/>
          <a:lstStyle/>
          <a:p>
            <a:pPr algn="ctr"/>
            <a:r>
              <a:rPr lang="de-CH" sz="1050">
                <a:solidFill>
                  <a:srgbClr val="3B3B3B"/>
                </a:solidFill>
                <a:latin typeface="Calibri" panose="020F0502020204030204" pitchFamily="34" charset="0"/>
              </a:rPr>
              <a:t>Überblick</a:t>
            </a:r>
          </a:p>
        </p:txBody>
      </p:sp>
      <p:sp>
        <p:nvSpPr>
          <p:cNvPr id="3" name="Rectangle: Top Corners Rounded 2">
            <a:extLst>
              <a:ext uri="{FF2B5EF4-FFF2-40B4-BE49-F238E27FC236}">
                <a16:creationId xmlns:a16="http://schemas.microsoft.com/office/drawing/2014/main" id="{CCF649F0-6739-B690-BADE-6346E3D0C2E2}"/>
              </a:ext>
            </a:extLst>
          </p:cNvPr>
          <p:cNvSpPr/>
          <p:nvPr/>
        </p:nvSpPr>
        <p:spPr>
          <a:xfrm>
            <a:off x="1393190" y="190500"/>
            <a:ext cx="890270" cy="304800"/>
          </a:xfrm>
          <a:prstGeom prst="round2SameRect">
            <a:avLst>
              <a:gd name="adj1" fmla="val 28000"/>
              <a:gd name="adj2" fmla="val 0"/>
            </a:avLst>
          </a:prstGeom>
          <a:solidFill>
            <a:srgbClr val="F4B18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0" rIns="50800" bIns="0" rtlCol="0" anchor="ctr"/>
          <a:lstStyle/>
          <a:p>
            <a:pPr algn="ctr"/>
            <a:r>
              <a:rPr lang="de-CH" sz="1050">
                <a:solidFill>
                  <a:srgbClr val="3B3B3B"/>
                </a:solidFill>
                <a:latin typeface="Calibri" panose="020F0502020204030204" pitchFamily="34" charset="0"/>
              </a:rPr>
              <a:t>Technik</a:t>
            </a:r>
          </a:p>
        </p:txBody>
      </p:sp>
      <p:sp>
        <p:nvSpPr>
          <p:cNvPr id="4" name="Rectangle: Top Corners Rounded 3">
            <a:extLst>
              <a:ext uri="{FF2B5EF4-FFF2-40B4-BE49-F238E27FC236}">
                <a16:creationId xmlns:a16="http://schemas.microsoft.com/office/drawing/2014/main" id="{685BB0A6-870A-CCEE-0FCC-9FAA00887B06}"/>
              </a:ext>
            </a:extLst>
          </p:cNvPr>
          <p:cNvSpPr/>
          <p:nvPr/>
        </p:nvSpPr>
        <p:spPr>
          <a:xfrm>
            <a:off x="3489960" y="190500"/>
            <a:ext cx="1290320" cy="304800"/>
          </a:xfrm>
          <a:prstGeom prst="round2SameRect">
            <a:avLst>
              <a:gd name="adj1" fmla="val 28000"/>
              <a:gd name="adj2" fmla="val 0"/>
            </a:avLst>
          </a:prstGeom>
          <a:solidFill>
            <a:srgbClr val="C9A9E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0" rIns="50800" bIns="0" rtlCol="0" anchor="ctr"/>
          <a:lstStyle/>
          <a:p>
            <a:pPr algn="ctr"/>
            <a:r>
              <a:rPr lang="de-CH" sz="1050">
                <a:solidFill>
                  <a:srgbClr val="3B3B3B"/>
                </a:solidFill>
                <a:latin typeface="Calibri" panose="020F0502020204030204" pitchFamily="34" charset="0"/>
              </a:rPr>
              <a:t>Installation</a:t>
            </a:r>
          </a:p>
        </p:txBody>
      </p:sp>
      <p:sp>
        <p:nvSpPr>
          <p:cNvPr id="5" name="Rectangle: Top Corners Rounded 4">
            <a:extLst>
              <a:ext uri="{FF2B5EF4-FFF2-40B4-BE49-F238E27FC236}">
                <a16:creationId xmlns:a16="http://schemas.microsoft.com/office/drawing/2014/main" id="{38176BA3-530B-A7E4-EB3E-55637267CC58}"/>
              </a:ext>
            </a:extLst>
          </p:cNvPr>
          <p:cNvSpPr/>
          <p:nvPr/>
        </p:nvSpPr>
        <p:spPr>
          <a:xfrm>
            <a:off x="4818380" y="190500"/>
            <a:ext cx="730250" cy="304800"/>
          </a:xfrm>
          <a:prstGeom prst="round2SameRect">
            <a:avLst>
              <a:gd name="adj1" fmla="val 28000"/>
              <a:gd name="adj2" fmla="val 0"/>
            </a:avLst>
          </a:prstGeom>
          <a:solidFill>
            <a:srgbClr val="F4A6B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0" rIns="50800" bIns="0" rtlCol="0" anchor="ctr"/>
          <a:lstStyle/>
          <a:p>
            <a:pPr algn="ctr"/>
            <a:r>
              <a:rPr lang="de-CH" sz="1050">
                <a:solidFill>
                  <a:srgbClr val="3B3B3B"/>
                </a:solidFill>
                <a:latin typeface="Calibri" panose="020F0502020204030204" pitchFamily="34" charset="0"/>
              </a:rPr>
              <a:t>Teams</a:t>
            </a:r>
          </a:p>
        </p:txBody>
      </p:sp>
      <p:sp>
        <p:nvSpPr>
          <p:cNvPr id="6" name="Rectangle: Top Corners Rounded 5">
            <a:extLst>
              <a:ext uri="{FF2B5EF4-FFF2-40B4-BE49-F238E27FC236}">
                <a16:creationId xmlns:a16="http://schemas.microsoft.com/office/drawing/2014/main" id="{734A2B3E-98A5-0145-E50A-7A61279E102C}"/>
              </a:ext>
            </a:extLst>
          </p:cNvPr>
          <p:cNvSpPr/>
          <p:nvPr/>
        </p:nvSpPr>
        <p:spPr>
          <a:xfrm>
            <a:off x="5586730" y="190500"/>
            <a:ext cx="730250" cy="304800"/>
          </a:xfrm>
          <a:prstGeom prst="round2SameRect">
            <a:avLst>
              <a:gd name="adj1" fmla="val 28000"/>
              <a:gd name="adj2" fmla="val 0"/>
            </a:avLst>
          </a:prstGeom>
          <a:solidFill>
            <a:srgbClr val="8FD3C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0" rIns="50800" bIns="0" rtlCol="0" anchor="ctr"/>
          <a:lstStyle/>
          <a:p>
            <a:pPr algn="ctr"/>
            <a:r>
              <a:rPr lang="de-CH" sz="1050">
                <a:solidFill>
                  <a:srgbClr val="3B3B3B"/>
                </a:solidFill>
                <a:latin typeface="Calibri" panose="020F0502020204030204" pitchFamily="34" charset="0"/>
              </a:rPr>
              <a:t>Tipps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40036C6-602B-AE86-5894-5B9CB7717611}"/>
              </a:ext>
            </a:extLst>
          </p:cNvPr>
          <p:cNvSpPr/>
          <p:nvPr/>
        </p:nvSpPr>
        <p:spPr>
          <a:xfrm>
            <a:off x="304800" y="482600"/>
            <a:ext cx="11582400" cy="6197600"/>
          </a:xfrm>
          <a:prstGeom prst="rect">
            <a:avLst/>
          </a:prstGeom>
          <a:solidFill>
            <a:srgbClr val="FFFFFF"/>
          </a:solidFill>
          <a:ln w="19050">
            <a:solidFill>
              <a:srgbClr val="A9D1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8" name="Rectangle: Top Corners Rounded 7">
            <a:extLst>
              <a:ext uri="{FF2B5EF4-FFF2-40B4-BE49-F238E27FC236}">
                <a16:creationId xmlns:a16="http://schemas.microsoft.com/office/drawing/2014/main" id="{E3433A85-B7B4-F2C9-6045-F93BD0DD2BBA}"/>
              </a:ext>
            </a:extLst>
          </p:cNvPr>
          <p:cNvSpPr/>
          <p:nvPr/>
        </p:nvSpPr>
        <p:spPr>
          <a:xfrm>
            <a:off x="2321560" y="114300"/>
            <a:ext cx="1130300" cy="393700"/>
          </a:xfrm>
          <a:prstGeom prst="round2SameRect">
            <a:avLst>
              <a:gd name="adj1" fmla="val 28000"/>
              <a:gd name="adj2" fmla="val 0"/>
            </a:avLst>
          </a:prstGeom>
          <a:solidFill>
            <a:srgbClr val="A9D18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0" rIns="50800" bIns="0" rtlCol="0" anchor="ctr"/>
          <a:lstStyle/>
          <a:p>
            <a:pPr algn="ctr"/>
            <a:r>
              <a:rPr lang="de-CH" sz="1100" b="1">
                <a:solidFill>
                  <a:srgbClr val="1F1F1F"/>
                </a:solidFill>
                <a:latin typeface="Calibri" panose="020F0502020204030204" pitchFamily="34" charset="0"/>
              </a:rPr>
              <a:t>Funktionen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F21C807-5BFE-E82E-9DB0-380A2FEB24EC}"/>
              </a:ext>
            </a:extLst>
          </p:cNvPr>
          <p:cNvSpPr/>
          <p:nvPr/>
        </p:nvSpPr>
        <p:spPr>
          <a:xfrm>
            <a:off x="9864725" y="492125"/>
            <a:ext cx="2012950" cy="6178550"/>
          </a:xfrm>
          <a:prstGeom prst="rect">
            <a:avLst/>
          </a:prstGeom>
          <a:solidFill>
            <a:srgbClr val="F3F9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8044B95-16FE-074B-8EFA-8DBA2CA4E982}"/>
              </a:ext>
            </a:extLst>
          </p:cNvPr>
          <p:cNvSpPr txBox="1"/>
          <p:nvPr/>
        </p:nvSpPr>
        <p:spPr>
          <a:xfrm>
            <a:off x="10007600" y="609600"/>
            <a:ext cx="1778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de-CH" sz="950">
                <a:solidFill>
                  <a:srgbClr val="6E6E6E"/>
                </a:solidFill>
                <a:latin typeface="Calibri" panose="020F0502020204030204" pitchFamily="34" charset="0"/>
              </a:rPr>
              <a:t>+  Seite hinzufügen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A243BFA-3166-314A-89FE-BAA955C5F380}"/>
              </a:ext>
            </a:extLst>
          </p:cNvPr>
          <p:cNvSpPr txBox="1"/>
          <p:nvPr/>
        </p:nvSpPr>
        <p:spPr>
          <a:xfrm>
            <a:off x="10007600" y="889000"/>
            <a:ext cx="1778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de-CH" sz="1050">
                <a:solidFill>
                  <a:srgbClr val="262626"/>
                </a:solidFill>
                <a:latin typeface="Calibri" panose="020F0502020204030204" pitchFamily="34" charset="0"/>
              </a:rPr>
              <a:t>Time Entry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0DCE0F7-D163-26C1-0DBA-1A0D5947CAE6}"/>
              </a:ext>
            </a:extLst>
          </p:cNvPr>
          <p:cNvSpPr txBox="1"/>
          <p:nvPr/>
        </p:nvSpPr>
        <p:spPr>
          <a:xfrm>
            <a:off x="10007600" y="1193800"/>
            <a:ext cx="1778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de-CH" sz="1050">
                <a:solidFill>
                  <a:srgbClr val="262626"/>
                </a:solidFill>
                <a:latin typeface="Calibri" panose="020F0502020204030204" pitchFamily="34" charset="0"/>
              </a:rPr>
              <a:t>Überblick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AA7A068-A595-FC6C-82DF-BC4A122A48A9}"/>
              </a:ext>
            </a:extLst>
          </p:cNvPr>
          <p:cNvSpPr txBox="1"/>
          <p:nvPr/>
        </p:nvSpPr>
        <p:spPr>
          <a:xfrm>
            <a:off x="10007600" y="1498600"/>
            <a:ext cx="1778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de-CH" sz="1050">
                <a:solidFill>
                  <a:srgbClr val="262626"/>
                </a:solidFill>
                <a:latin typeface="Calibri" panose="020F0502020204030204" pitchFamily="34" charset="0"/>
              </a:rPr>
              <a:t>Architektur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7FEE01E-7EBE-DA5E-8C30-7466CF8BCFA9}"/>
              </a:ext>
            </a:extLst>
          </p:cNvPr>
          <p:cNvSpPr txBox="1"/>
          <p:nvPr/>
        </p:nvSpPr>
        <p:spPr>
          <a:xfrm>
            <a:off x="10007600" y="1803400"/>
            <a:ext cx="1778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de-CH" sz="1050">
                <a:solidFill>
                  <a:srgbClr val="262626"/>
                </a:solidFill>
                <a:latin typeface="Calibri" panose="020F0502020204030204" pitchFamily="34" charset="0"/>
              </a:rPr>
              <a:t>Sicherheit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6029B2E-21E7-BEA4-0A05-E0DDEECABBBC}"/>
              </a:ext>
            </a:extLst>
          </p:cNvPr>
          <p:cNvSpPr txBox="1"/>
          <p:nvPr/>
        </p:nvSpPr>
        <p:spPr>
          <a:xfrm>
            <a:off x="10007600" y="2108200"/>
            <a:ext cx="1778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de-CH" sz="1050">
                <a:solidFill>
                  <a:srgbClr val="262626"/>
                </a:solidFill>
                <a:latin typeface="Calibri" panose="020F0502020204030204" pitchFamily="34" charset="0"/>
              </a:rPr>
              <a:t>Stempeln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DE3541F-FCAC-B05F-984F-22AD230DA225}"/>
              </a:ext>
            </a:extLst>
          </p:cNvPr>
          <p:cNvSpPr txBox="1"/>
          <p:nvPr/>
        </p:nvSpPr>
        <p:spPr>
          <a:xfrm>
            <a:off x="10007600" y="2413000"/>
            <a:ext cx="1778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de-CH" sz="1050">
                <a:solidFill>
                  <a:srgbClr val="262626"/>
                </a:solidFill>
                <a:latin typeface="Calibri" panose="020F0502020204030204" pitchFamily="34" charset="0"/>
              </a:rPr>
              <a:t>Excel-Zuordnung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BBAF298-C23A-E80C-F934-9C98E0C5E9C8}"/>
              </a:ext>
            </a:extLst>
          </p:cNvPr>
          <p:cNvSpPr/>
          <p:nvPr/>
        </p:nvSpPr>
        <p:spPr>
          <a:xfrm>
            <a:off x="9864725" y="2667000"/>
            <a:ext cx="2012950" cy="279400"/>
          </a:xfrm>
          <a:prstGeom prst="rect">
            <a:avLst/>
          </a:prstGeom>
          <a:solidFill>
            <a:srgbClr val="D4E8C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266FDAE-890A-016E-B12A-F2600CE7C2D3}"/>
              </a:ext>
            </a:extLst>
          </p:cNvPr>
          <p:cNvSpPr txBox="1"/>
          <p:nvPr/>
        </p:nvSpPr>
        <p:spPr>
          <a:xfrm>
            <a:off x="10007600" y="2717800"/>
            <a:ext cx="1778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de-CH" sz="1050" b="1">
                <a:solidFill>
                  <a:srgbClr val="262626"/>
                </a:solidFill>
                <a:latin typeface="Calibri" panose="020F0502020204030204" pitchFamily="34" charset="0"/>
              </a:rPr>
              <a:t>Weitere Funktionen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6CD6EA8-F5B4-84BA-1314-62D8368D18C1}"/>
              </a:ext>
            </a:extLst>
          </p:cNvPr>
          <p:cNvSpPr txBox="1"/>
          <p:nvPr/>
        </p:nvSpPr>
        <p:spPr>
          <a:xfrm>
            <a:off x="10007600" y="3022600"/>
            <a:ext cx="1778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de-CH" sz="1050">
                <a:solidFill>
                  <a:srgbClr val="262626"/>
                </a:solidFill>
                <a:latin typeface="Calibri" panose="020F0502020204030204" pitchFamily="34" charset="0"/>
              </a:rPr>
              <a:t>Installation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3725A31-6B25-A252-EC4A-AD52F77FE0E7}"/>
              </a:ext>
            </a:extLst>
          </p:cNvPr>
          <p:cNvSpPr txBox="1"/>
          <p:nvPr/>
        </p:nvSpPr>
        <p:spPr>
          <a:xfrm>
            <a:off x="10007600" y="3327400"/>
            <a:ext cx="1778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de-CH" sz="1050">
                <a:solidFill>
                  <a:srgbClr val="262626"/>
                </a:solidFill>
                <a:latin typeface="Calibri" panose="020F0502020204030204" pitchFamily="34" charset="0"/>
              </a:rPr>
              <a:t>Einrichtung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496A7FC-0192-14BF-6A75-115A5B48542C}"/>
              </a:ext>
            </a:extLst>
          </p:cNvPr>
          <p:cNvSpPr txBox="1"/>
          <p:nvPr/>
        </p:nvSpPr>
        <p:spPr>
          <a:xfrm>
            <a:off x="10007600" y="3632200"/>
            <a:ext cx="1778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de-CH" sz="1050">
                <a:solidFill>
                  <a:srgbClr val="262626"/>
                </a:solidFill>
                <a:latin typeface="Calibri" panose="020F0502020204030204" pitchFamily="34" charset="0"/>
              </a:rPr>
              <a:t>Teams-Nachrichten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E7A67C5-E51E-BE26-D9DE-87D6DFE6E3B5}"/>
              </a:ext>
            </a:extLst>
          </p:cNvPr>
          <p:cNvSpPr txBox="1"/>
          <p:nvPr/>
        </p:nvSpPr>
        <p:spPr>
          <a:xfrm>
            <a:off x="10007600" y="3937000"/>
            <a:ext cx="1778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de-CH" sz="1050">
                <a:solidFill>
                  <a:srgbClr val="262626"/>
                </a:solidFill>
                <a:latin typeface="Calibri" panose="020F0502020204030204" pitchFamily="34" charset="0"/>
              </a:rPr>
              <a:t>Tipps &amp; Ausblick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C3D3DEE-814F-355F-2ED7-7B17FD143FCB}"/>
              </a:ext>
            </a:extLst>
          </p:cNvPr>
          <p:cNvSpPr txBox="1"/>
          <p:nvPr/>
        </p:nvSpPr>
        <p:spPr>
          <a:xfrm>
            <a:off x="711200" y="635000"/>
            <a:ext cx="8890000" cy="4699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de-CH" sz="2800">
                <a:solidFill>
                  <a:srgbClr val="1F1F1F"/>
                </a:solidFill>
                <a:latin typeface="Calibri Light" panose="020F0302020204030204" pitchFamily="34" charset="0"/>
              </a:rPr>
              <a:t>Weitere Funktionen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CAF208C3-0A9B-0C3D-94E0-BC1A542EFF85}"/>
              </a:ext>
            </a:extLst>
          </p:cNvPr>
          <p:cNvCxnSpPr/>
          <p:nvPr/>
        </p:nvCxnSpPr>
        <p:spPr>
          <a:xfrm>
            <a:off x="711200" y="1130300"/>
            <a:ext cx="3216656" cy="0"/>
          </a:xfrm>
          <a:prstGeom prst="line">
            <a:avLst/>
          </a:prstGeom>
          <a:ln w="9525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AACAD872-C515-3F19-B280-1FE8854B1006}"/>
              </a:ext>
            </a:extLst>
          </p:cNvPr>
          <p:cNvSpPr txBox="1"/>
          <p:nvPr/>
        </p:nvSpPr>
        <p:spPr>
          <a:xfrm>
            <a:off x="711200" y="1181100"/>
            <a:ext cx="5334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de-CH" sz="950">
                <a:solidFill>
                  <a:srgbClr val="7F7F7F"/>
                </a:solidFill>
                <a:latin typeface="Calibri" panose="020F0502020204030204" pitchFamily="34" charset="0"/>
              </a:rPr>
              <a:t>Donnerstag, 24. September 2026          09:41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DBD5809-42BC-CF8D-9170-F46B149DD88A}"/>
              </a:ext>
            </a:extLst>
          </p:cNvPr>
          <p:cNvSpPr/>
          <p:nvPr/>
        </p:nvSpPr>
        <p:spPr>
          <a:xfrm>
            <a:off x="711200" y="1727200"/>
            <a:ext cx="2832100" cy="1981200"/>
          </a:xfrm>
          <a:prstGeom prst="roundRect">
            <a:avLst>
              <a:gd name="adj" fmla="val 6000"/>
            </a:avLst>
          </a:prstGeom>
          <a:solidFill>
            <a:srgbClr val="F6F6F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49086CAE-0C25-5E66-451A-F00F94FAE45D}"/>
              </a:ext>
            </a:extLst>
          </p:cNvPr>
          <p:cNvSpPr/>
          <p:nvPr/>
        </p:nvSpPr>
        <p:spPr>
          <a:xfrm>
            <a:off x="914400" y="1930400"/>
            <a:ext cx="381000" cy="381000"/>
          </a:xfrm>
          <a:prstGeom prst="ellipse">
            <a:avLst/>
          </a:prstGeom>
          <a:solidFill>
            <a:srgbClr val="B6D89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de-CH" sz="1300" b="1">
                <a:solidFill>
                  <a:srgbClr val="1F1F1F"/>
                </a:solidFill>
                <a:latin typeface="Segoe UI Symbol" panose="020B0502040204020203" pitchFamily="34" charset="0"/>
              </a:rPr>
              <a:t>⟳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94B6A73-9B7C-0C86-2F57-411098CCBF4E}"/>
              </a:ext>
            </a:extLst>
          </p:cNvPr>
          <p:cNvSpPr txBox="1"/>
          <p:nvPr/>
        </p:nvSpPr>
        <p:spPr>
          <a:xfrm>
            <a:off x="914400" y="2463800"/>
            <a:ext cx="24765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de-CH" sz="1400" b="1">
                <a:solidFill>
                  <a:srgbClr val="1F1F1F"/>
                </a:solidFill>
                <a:latin typeface="Calibri" panose="020F0502020204030204" pitchFamily="34" charset="0"/>
              </a:rPr>
              <a:t>Sync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A9D0B5A-9DCE-6454-2BBB-208224166A46}"/>
              </a:ext>
            </a:extLst>
          </p:cNvPr>
          <p:cNvSpPr txBox="1"/>
          <p:nvPr/>
        </p:nvSpPr>
        <p:spPr>
          <a:xfrm>
            <a:off x="914400" y="2768600"/>
            <a:ext cx="2476500" cy="1066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de-DE" sz="1150">
                <a:solidFill>
                  <a:srgbClr val="404040"/>
                </a:solidFill>
                <a:latin typeface="Calibri" panose="020F0502020204030204" pitchFamily="34" charset="0"/>
              </a:rPr>
              <a:t>Liest die heutige Zeile aus dem Excel, z. B. nach Korrekturen von Hand. Läuft nach jedem Klick automatisch.</a:t>
            </a:r>
            <a:endParaRPr lang="de-CH" sz="1150">
              <a:solidFill>
                <a:srgbClr val="404040"/>
              </a:solidFill>
              <a:latin typeface="Calibri" panose="020F0502020204030204" pitchFamily="34" charset="0"/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9540D167-7985-C0FE-9697-0ACF2EBBD07B}"/>
              </a:ext>
            </a:extLst>
          </p:cNvPr>
          <p:cNvSpPr/>
          <p:nvPr/>
        </p:nvSpPr>
        <p:spPr>
          <a:xfrm>
            <a:off x="3721100" y="1727200"/>
            <a:ext cx="2832100" cy="1981200"/>
          </a:xfrm>
          <a:prstGeom prst="roundRect">
            <a:avLst>
              <a:gd name="adj" fmla="val 6000"/>
            </a:avLst>
          </a:prstGeom>
          <a:solidFill>
            <a:srgbClr val="F6F6F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F396C4B4-315F-64A2-355D-925A5AD1D0EE}"/>
              </a:ext>
            </a:extLst>
          </p:cNvPr>
          <p:cNvSpPr/>
          <p:nvPr/>
        </p:nvSpPr>
        <p:spPr>
          <a:xfrm>
            <a:off x="3924300" y="1930400"/>
            <a:ext cx="381000" cy="381000"/>
          </a:xfrm>
          <a:prstGeom prst="ellipse">
            <a:avLst/>
          </a:prstGeom>
          <a:solidFill>
            <a:srgbClr val="B6D89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de-CH" sz="1300" b="1">
                <a:solidFill>
                  <a:srgbClr val="1F1F1F"/>
                </a:solidFill>
                <a:latin typeface="Segoe UI Symbol" panose="020B0502040204020203" pitchFamily="34" charset="0"/>
              </a:rPr>
              <a:t>⚠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9C099EF-125F-C8A0-B9EE-286E6D441CA6}"/>
              </a:ext>
            </a:extLst>
          </p:cNvPr>
          <p:cNvSpPr txBox="1"/>
          <p:nvPr/>
        </p:nvSpPr>
        <p:spPr>
          <a:xfrm>
            <a:off x="3924300" y="2463800"/>
            <a:ext cx="24765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de-CH" sz="1400" b="1">
                <a:solidFill>
                  <a:srgbClr val="1F1F1F"/>
                </a:solidFill>
                <a:latin typeface="Calibri" panose="020F0502020204030204" pitchFamily="34" charset="0"/>
              </a:rPr>
              <a:t>Warnungen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A119044-38B1-7743-01A9-2119903BE90D}"/>
              </a:ext>
            </a:extLst>
          </p:cNvPr>
          <p:cNvSpPr txBox="1"/>
          <p:nvPr/>
        </p:nvSpPr>
        <p:spPr>
          <a:xfrm>
            <a:off x="3924300" y="2768600"/>
            <a:ext cx="2476500" cy="1066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de-DE" sz="1150">
                <a:solidFill>
                  <a:srgbClr val="404040"/>
                </a:solidFill>
                <a:latin typeface="Calibri" panose="020F0502020204030204" pitchFamily="34" charset="0"/>
              </a:rPr>
              <a:t>«Lunch still open»: Ausstempeln während der Mittagspause braucht einen zweiten Klick.</a:t>
            </a:r>
            <a:endParaRPr lang="de-CH" sz="1150">
              <a:solidFill>
                <a:srgbClr val="404040"/>
              </a:solidFill>
              <a:latin typeface="Calibri" panose="020F0502020204030204" pitchFamily="34" charset="0"/>
            </a:endParaRP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0F0EAE16-ACAD-74E5-C451-D78E8AEB7627}"/>
              </a:ext>
            </a:extLst>
          </p:cNvPr>
          <p:cNvSpPr/>
          <p:nvPr/>
        </p:nvSpPr>
        <p:spPr>
          <a:xfrm>
            <a:off x="6731000" y="1727200"/>
            <a:ext cx="2832100" cy="1981200"/>
          </a:xfrm>
          <a:prstGeom prst="roundRect">
            <a:avLst>
              <a:gd name="adj" fmla="val 6000"/>
            </a:avLst>
          </a:prstGeom>
          <a:solidFill>
            <a:srgbClr val="F6F6F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3AC5F871-41B2-6328-0836-7F0ED31B7CCB}"/>
              </a:ext>
            </a:extLst>
          </p:cNvPr>
          <p:cNvSpPr/>
          <p:nvPr/>
        </p:nvSpPr>
        <p:spPr>
          <a:xfrm>
            <a:off x="6934200" y="1930400"/>
            <a:ext cx="381000" cy="381000"/>
          </a:xfrm>
          <a:prstGeom prst="ellipse">
            <a:avLst/>
          </a:prstGeom>
          <a:solidFill>
            <a:srgbClr val="B6D89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de-CH" sz="1300" b="1">
                <a:solidFill>
                  <a:srgbClr val="1F1F1F"/>
                </a:solidFill>
                <a:latin typeface="Segoe UI Symbol" panose="020B0502040204020203" pitchFamily="34" charset="0"/>
              </a:rPr>
              <a:t>☰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64DD709-458F-4C35-3D49-836E0F360652}"/>
              </a:ext>
            </a:extLst>
          </p:cNvPr>
          <p:cNvSpPr txBox="1"/>
          <p:nvPr/>
        </p:nvSpPr>
        <p:spPr>
          <a:xfrm>
            <a:off x="6934200" y="2463800"/>
            <a:ext cx="24765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de-CH" sz="1400" b="1">
                <a:solidFill>
                  <a:srgbClr val="1F1F1F"/>
                </a:solidFill>
                <a:latin typeface="Calibri" panose="020F0502020204030204" pitchFamily="34" charset="0"/>
              </a:rPr>
              <a:t>Verlauf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9E57D9A-2DEC-D868-6E42-7CDF3E45AC18}"/>
              </a:ext>
            </a:extLst>
          </p:cNvPr>
          <p:cNvSpPr txBox="1"/>
          <p:nvPr/>
        </p:nvSpPr>
        <p:spPr>
          <a:xfrm>
            <a:off x="6934200" y="2768600"/>
            <a:ext cx="2476500" cy="1066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de-DE" sz="1150">
                <a:solidFill>
                  <a:srgbClr val="404040"/>
                </a:solidFill>
                <a:latin typeface="Calibri" panose="020F0502020204030204" pitchFamily="34" charset="0"/>
              </a:rPr>
              <a:t>Die letzten 50 Aktionen inklusive Fehlermeldungen, aufklappbar im Popup unter «History».</a:t>
            </a:r>
            <a:endParaRPr lang="de-CH" sz="1150">
              <a:solidFill>
                <a:srgbClr val="404040"/>
              </a:solidFill>
              <a:latin typeface="Calibri" panose="020F0502020204030204" pitchFamily="34" charset="0"/>
            </a:endParaRP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FBD1FDEE-A68B-09E6-D182-2579B3FCF82E}"/>
              </a:ext>
            </a:extLst>
          </p:cNvPr>
          <p:cNvSpPr/>
          <p:nvPr/>
        </p:nvSpPr>
        <p:spPr>
          <a:xfrm>
            <a:off x="711200" y="3886200"/>
            <a:ext cx="2832100" cy="1981200"/>
          </a:xfrm>
          <a:prstGeom prst="roundRect">
            <a:avLst>
              <a:gd name="adj" fmla="val 6000"/>
            </a:avLst>
          </a:prstGeom>
          <a:solidFill>
            <a:srgbClr val="F6F6F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E820EAB9-A231-0D04-C835-3ECB681FE814}"/>
              </a:ext>
            </a:extLst>
          </p:cNvPr>
          <p:cNvSpPr/>
          <p:nvPr/>
        </p:nvSpPr>
        <p:spPr>
          <a:xfrm>
            <a:off x="914400" y="4089400"/>
            <a:ext cx="381000" cy="381000"/>
          </a:xfrm>
          <a:prstGeom prst="ellipse">
            <a:avLst/>
          </a:prstGeom>
          <a:solidFill>
            <a:srgbClr val="B6D89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de-CH" sz="1300" b="1">
                <a:solidFill>
                  <a:srgbClr val="1F1F1F"/>
                </a:solidFill>
                <a:latin typeface="Segoe UI Symbol" panose="020B0502040204020203" pitchFamily="34" charset="0"/>
              </a:rPr>
              <a:t>✔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44CB463-E902-33B7-ACB1-646D8C388E02}"/>
              </a:ext>
            </a:extLst>
          </p:cNvPr>
          <p:cNvSpPr txBox="1"/>
          <p:nvPr/>
        </p:nvSpPr>
        <p:spPr>
          <a:xfrm>
            <a:off x="914400" y="4622800"/>
            <a:ext cx="24765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de-CH" sz="1400" b="1">
                <a:solidFill>
                  <a:srgbClr val="1F1F1F"/>
                </a:solidFill>
                <a:latin typeface="Calibri" panose="020F0502020204030204" pitchFamily="34" charset="0"/>
              </a:rPr>
              <a:t>Badge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A9AB552-C6F5-145A-00AB-53959856DEC1}"/>
              </a:ext>
            </a:extLst>
          </p:cNvPr>
          <p:cNvSpPr txBox="1"/>
          <p:nvPr/>
        </p:nvSpPr>
        <p:spPr>
          <a:xfrm>
            <a:off x="914400" y="4927600"/>
            <a:ext cx="2476500" cy="1066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de-DE" sz="1150">
                <a:solidFill>
                  <a:srgbClr val="404040"/>
                </a:solidFill>
                <a:latin typeface="Calibri" panose="020F0502020204030204" pitchFamily="34" charset="0"/>
              </a:rPr>
              <a:t>Grünes ✓ am Symbol bei Erfolg, rotes ! bei einem Fehler, bis zur nächsten erfolgreichen Aktion.</a:t>
            </a:r>
            <a:endParaRPr lang="de-CH" sz="1150">
              <a:solidFill>
                <a:srgbClr val="404040"/>
              </a:solidFill>
              <a:latin typeface="Calibri" panose="020F0502020204030204" pitchFamily="34" charset="0"/>
            </a:endParaRP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B96B733A-4C68-E45F-4389-64CB33FD839A}"/>
              </a:ext>
            </a:extLst>
          </p:cNvPr>
          <p:cNvSpPr/>
          <p:nvPr/>
        </p:nvSpPr>
        <p:spPr>
          <a:xfrm>
            <a:off x="3721100" y="3886200"/>
            <a:ext cx="2832100" cy="1981200"/>
          </a:xfrm>
          <a:prstGeom prst="roundRect">
            <a:avLst>
              <a:gd name="adj" fmla="val 6000"/>
            </a:avLst>
          </a:prstGeom>
          <a:solidFill>
            <a:srgbClr val="F6F6F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060D6543-2F52-6925-5DCE-82BFFAC9A9B1}"/>
              </a:ext>
            </a:extLst>
          </p:cNvPr>
          <p:cNvSpPr/>
          <p:nvPr/>
        </p:nvSpPr>
        <p:spPr>
          <a:xfrm>
            <a:off x="3924300" y="4089400"/>
            <a:ext cx="381000" cy="381000"/>
          </a:xfrm>
          <a:prstGeom prst="ellipse">
            <a:avLst/>
          </a:prstGeom>
          <a:solidFill>
            <a:srgbClr val="B6D89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de-CH" sz="1300" b="1">
                <a:solidFill>
                  <a:srgbClr val="1F1F1F"/>
                </a:solidFill>
                <a:latin typeface="Segoe UI Symbol" panose="020B0502040204020203" pitchFamily="34" charset="0"/>
              </a:rPr>
              <a:t>💬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559FF17-FD46-1688-4358-287148EB0462}"/>
              </a:ext>
            </a:extLst>
          </p:cNvPr>
          <p:cNvSpPr txBox="1"/>
          <p:nvPr/>
        </p:nvSpPr>
        <p:spPr>
          <a:xfrm>
            <a:off x="3924300" y="4622800"/>
            <a:ext cx="24765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de-CH" sz="1400" b="1">
                <a:solidFill>
                  <a:srgbClr val="1F1F1F"/>
                </a:solidFill>
                <a:latin typeface="Calibri" panose="020F0502020204030204" pitchFamily="34" charset="0"/>
              </a:rPr>
              <a:t>Teams-Nachrichten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718C28B-81DF-7087-4B4E-86623A2C9CA4}"/>
              </a:ext>
            </a:extLst>
          </p:cNvPr>
          <p:cNvSpPr txBox="1"/>
          <p:nvPr/>
        </p:nvSpPr>
        <p:spPr>
          <a:xfrm>
            <a:off x="3924300" y="4927600"/>
            <a:ext cx="2476500" cy="1066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de-DE" sz="1150">
                <a:solidFill>
                  <a:srgbClr val="404040"/>
                </a:solidFill>
                <a:latin typeface="Calibri" panose="020F0502020204030204" pitchFamily="34" charset="0"/>
              </a:rPr>
              <a:t>Optional: pro Ereignis eine zufällige Nachricht im Teams-Chat.</a:t>
            </a:r>
            <a:endParaRPr lang="de-CH" sz="1150">
              <a:solidFill>
                <a:srgbClr val="404040"/>
              </a:solidFill>
              <a:latin typeface="Calibri" panose="020F0502020204030204" pitchFamily="34" charset="0"/>
            </a:endParaRP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AC747253-30E5-C07A-ACC2-9090DBF03E8E}"/>
              </a:ext>
            </a:extLst>
          </p:cNvPr>
          <p:cNvSpPr/>
          <p:nvPr/>
        </p:nvSpPr>
        <p:spPr>
          <a:xfrm>
            <a:off x="6731000" y="3886200"/>
            <a:ext cx="2832100" cy="1981200"/>
          </a:xfrm>
          <a:prstGeom prst="roundRect">
            <a:avLst>
              <a:gd name="adj" fmla="val 6000"/>
            </a:avLst>
          </a:prstGeom>
          <a:solidFill>
            <a:srgbClr val="F6F6F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EC779EE9-3BE9-E6C0-96B3-DD87392623E9}"/>
              </a:ext>
            </a:extLst>
          </p:cNvPr>
          <p:cNvSpPr/>
          <p:nvPr/>
        </p:nvSpPr>
        <p:spPr>
          <a:xfrm>
            <a:off x="6934200" y="4089400"/>
            <a:ext cx="381000" cy="381000"/>
          </a:xfrm>
          <a:prstGeom prst="ellipse">
            <a:avLst/>
          </a:prstGeom>
          <a:solidFill>
            <a:srgbClr val="B6D89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de-CH" sz="1300" b="1">
                <a:solidFill>
                  <a:srgbClr val="1F1F1F"/>
                </a:solidFill>
                <a:latin typeface="Segoe UI Symbol" panose="020B0502040204020203" pitchFamily="34" charset="0"/>
              </a:rPr>
              <a:t>👤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41F9510-891C-263E-166F-E9193F9606FC}"/>
              </a:ext>
            </a:extLst>
          </p:cNvPr>
          <p:cNvSpPr txBox="1"/>
          <p:nvPr/>
        </p:nvSpPr>
        <p:spPr>
          <a:xfrm>
            <a:off x="6934200" y="4622800"/>
            <a:ext cx="24765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de-CH" sz="1400" b="1">
                <a:solidFill>
                  <a:srgbClr val="1F1F1F"/>
                </a:solidFill>
                <a:latin typeface="Calibri" panose="020F0502020204030204" pitchFamily="34" charset="0"/>
              </a:rPr>
              <a:t>Automatische Anmeldung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4FFC743-5C87-B1AC-5517-55DA3084AB69}"/>
              </a:ext>
            </a:extLst>
          </p:cNvPr>
          <p:cNvSpPr txBox="1"/>
          <p:nvPr/>
        </p:nvSpPr>
        <p:spPr>
          <a:xfrm>
            <a:off x="6934200" y="4927600"/>
            <a:ext cx="2476500" cy="1066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de-DE" sz="1150">
                <a:solidFill>
                  <a:srgbClr val="404040"/>
                </a:solidFill>
                <a:latin typeface="Calibri" panose="020F0502020204030204" pitchFamily="34" charset="0"/>
              </a:rPr>
              <a:t>Die Microsoft-Anmeldung erneuert sich im Hintergrund. Nur wenn das nicht klappt: in den Settings neu anmelden.</a:t>
            </a:r>
            <a:endParaRPr lang="de-CH" sz="1150">
              <a:solidFill>
                <a:srgbClr val="40404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81044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B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Top Corners Rounded 1">
            <a:extLst>
              <a:ext uri="{FF2B5EF4-FFF2-40B4-BE49-F238E27FC236}">
                <a16:creationId xmlns:a16="http://schemas.microsoft.com/office/drawing/2014/main" id="{AAC3B34C-38C0-602D-7689-0AB2006D0FB4}"/>
              </a:ext>
            </a:extLst>
          </p:cNvPr>
          <p:cNvSpPr/>
          <p:nvPr/>
        </p:nvSpPr>
        <p:spPr>
          <a:xfrm>
            <a:off x="304800" y="190500"/>
            <a:ext cx="1050290" cy="304800"/>
          </a:xfrm>
          <a:prstGeom prst="round2SameRect">
            <a:avLst>
              <a:gd name="adj1" fmla="val 28000"/>
              <a:gd name="adj2" fmla="val 0"/>
            </a:avLst>
          </a:prstGeom>
          <a:solidFill>
            <a:srgbClr val="8DB4E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0" rIns="50800" bIns="0" rtlCol="0" anchor="ctr"/>
          <a:lstStyle/>
          <a:p>
            <a:pPr algn="ctr"/>
            <a:r>
              <a:rPr lang="de-CH" sz="1050">
                <a:solidFill>
                  <a:srgbClr val="3B3B3B"/>
                </a:solidFill>
                <a:latin typeface="Calibri" panose="020F0502020204030204" pitchFamily="34" charset="0"/>
              </a:rPr>
              <a:t>Überblick</a:t>
            </a:r>
          </a:p>
        </p:txBody>
      </p:sp>
      <p:sp>
        <p:nvSpPr>
          <p:cNvPr id="3" name="Rectangle: Top Corners Rounded 2">
            <a:extLst>
              <a:ext uri="{FF2B5EF4-FFF2-40B4-BE49-F238E27FC236}">
                <a16:creationId xmlns:a16="http://schemas.microsoft.com/office/drawing/2014/main" id="{F592543F-6885-9699-4FC9-A4C5393C60AC}"/>
              </a:ext>
            </a:extLst>
          </p:cNvPr>
          <p:cNvSpPr/>
          <p:nvPr/>
        </p:nvSpPr>
        <p:spPr>
          <a:xfrm>
            <a:off x="1393190" y="190500"/>
            <a:ext cx="890270" cy="304800"/>
          </a:xfrm>
          <a:prstGeom prst="round2SameRect">
            <a:avLst>
              <a:gd name="adj1" fmla="val 28000"/>
              <a:gd name="adj2" fmla="val 0"/>
            </a:avLst>
          </a:prstGeom>
          <a:solidFill>
            <a:srgbClr val="F4B18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0" rIns="50800" bIns="0" rtlCol="0" anchor="ctr"/>
          <a:lstStyle/>
          <a:p>
            <a:pPr algn="ctr"/>
            <a:r>
              <a:rPr lang="de-CH" sz="1050">
                <a:solidFill>
                  <a:srgbClr val="3B3B3B"/>
                </a:solidFill>
                <a:latin typeface="Calibri" panose="020F0502020204030204" pitchFamily="34" charset="0"/>
              </a:rPr>
              <a:t>Technik</a:t>
            </a:r>
          </a:p>
        </p:txBody>
      </p:sp>
      <p:sp>
        <p:nvSpPr>
          <p:cNvPr id="4" name="Rectangle: Top Corners Rounded 3">
            <a:extLst>
              <a:ext uri="{FF2B5EF4-FFF2-40B4-BE49-F238E27FC236}">
                <a16:creationId xmlns:a16="http://schemas.microsoft.com/office/drawing/2014/main" id="{CC007B5F-3760-C20C-7BC7-C81E1D2319DD}"/>
              </a:ext>
            </a:extLst>
          </p:cNvPr>
          <p:cNvSpPr/>
          <p:nvPr/>
        </p:nvSpPr>
        <p:spPr>
          <a:xfrm>
            <a:off x="2321560" y="190500"/>
            <a:ext cx="1130300" cy="304800"/>
          </a:xfrm>
          <a:prstGeom prst="round2SameRect">
            <a:avLst>
              <a:gd name="adj1" fmla="val 28000"/>
              <a:gd name="adj2" fmla="val 0"/>
            </a:avLst>
          </a:prstGeom>
          <a:solidFill>
            <a:srgbClr val="A9D18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0" rIns="50800" bIns="0" rtlCol="0" anchor="ctr"/>
          <a:lstStyle/>
          <a:p>
            <a:pPr algn="ctr"/>
            <a:r>
              <a:rPr lang="de-CH" sz="1050">
                <a:solidFill>
                  <a:srgbClr val="3B3B3B"/>
                </a:solidFill>
                <a:latin typeface="Calibri" panose="020F0502020204030204" pitchFamily="34" charset="0"/>
              </a:rPr>
              <a:t>Funktionen</a:t>
            </a:r>
          </a:p>
        </p:txBody>
      </p:sp>
      <p:sp>
        <p:nvSpPr>
          <p:cNvPr id="5" name="Rectangle: Top Corners Rounded 4">
            <a:extLst>
              <a:ext uri="{FF2B5EF4-FFF2-40B4-BE49-F238E27FC236}">
                <a16:creationId xmlns:a16="http://schemas.microsoft.com/office/drawing/2014/main" id="{61085CFE-5BEF-EEE8-5F95-34EE8DAB0A88}"/>
              </a:ext>
            </a:extLst>
          </p:cNvPr>
          <p:cNvSpPr/>
          <p:nvPr/>
        </p:nvSpPr>
        <p:spPr>
          <a:xfrm>
            <a:off x="4818380" y="190500"/>
            <a:ext cx="730250" cy="304800"/>
          </a:xfrm>
          <a:prstGeom prst="round2SameRect">
            <a:avLst>
              <a:gd name="adj1" fmla="val 28000"/>
              <a:gd name="adj2" fmla="val 0"/>
            </a:avLst>
          </a:prstGeom>
          <a:solidFill>
            <a:srgbClr val="F4A6B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0" rIns="50800" bIns="0" rtlCol="0" anchor="ctr"/>
          <a:lstStyle/>
          <a:p>
            <a:pPr algn="ctr"/>
            <a:r>
              <a:rPr lang="de-CH" sz="1050">
                <a:solidFill>
                  <a:srgbClr val="3B3B3B"/>
                </a:solidFill>
                <a:latin typeface="Calibri" panose="020F0502020204030204" pitchFamily="34" charset="0"/>
              </a:rPr>
              <a:t>Teams</a:t>
            </a:r>
          </a:p>
        </p:txBody>
      </p:sp>
      <p:sp>
        <p:nvSpPr>
          <p:cNvPr id="6" name="Rectangle: Top Corners Rounded 5">
            <a:extLst>
              <a:ext uri="{FF2B5EF4-FFF2-40B4-BE49-F238E27FC236}">
                <a16:creationId xmlns:a16="http://schemas.microsoft.com/office/drawing/2014/main" id="{FE0FC274-A909-4898-C382-73A68856FCA7}"/>
              </a:ext>
            </a:extLst>
          </p:cNvPr>
          <p:cNvSpPr/>
          <p:nvPr/>
        </p:nvSpPr>
        <p:spPr>
          <a:xfrm>
            <a:off x="5586730" y="190500"/>
            <a:ext cx="730250" cy="304800"/>
          </a:xfrm>
          <a:prstGeom prst="round2SameRect">
            <a:avLst>
              <a:gd name="adj1" fmla="val 28000"/>
              <a:gd name="adj2" fmla="val 0"/>
            </a:avLst>
          </a:prstGeom>
          <a:solidFill>
            <a:srgbClr val="8FD3C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0" rIns="50800" bIns="0" rtlCol="0" anchor="ctr"/>
          <a:lstStyle/>
          <a:p>
            <a:pPr algn="ctr"/>
            <a:r>
              <a:rPr lang="de-CH" sz="1050">
                <a:solidFill>
                  <a:srgbClr val="3B3B3B"/>
                </a:solidFill>
                <a:latin typeface="Calibri" panose="020F0502020204030204" pitchFamily="34" charset="0"/>
              </a:rPr>
              <a:t>Tipps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25E0097-6C90-0CEE-FB91-8294AD71B3E9}"/>
              </a:ext>
            </a:extLst>
          </p:cNvPr>
          <p:cNvSpPr/>
          <p:nvPr/>
        </p:nvSpPr>
        <p:spPr>
          <a:xfrm>
            <a:off x="304800" y="482600"/>
            <a:ext cx="11582400" cy="6197600"/>
          </a:xfrm>
          <a:prstGeom prst="rect">
            <a:avLst/>
          </a:prstGeom>
          <a:solidFill>
            <a:srgbClr val="FFFFFF"/>
          </a:solidFill>
          <a:ln w="19050">
            <a:solidFill>
              <a:srgbClr val="C9A9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8" name="Rectangle: Top Corners Rounded 7">
            <a:extLst>
              <a:ext uri="{FF2B5EF4-FFF2-40B4-BE49-F238E27FC236}">
                <a16:creationId xmlns:a16="http://schemas.microsoft.com/office/drawing/2014/main" id="{D61E3C30-ABDE-8E1A-5027-277F2D643013}"/>
              </a:ext>
            </a:extLst>
          </p:cNvPr>
          <p:cNvSpPr/>
          <p:nvPr/>
        </p:nvSpPr>
        <p:spPr>
          <a:xfrm>
            <a:off x="3489960" y="114300"/>
            <a:ext cx="1290320" cy="393700"/>
          </a:xfrm>
          <a:prstGeom prst="round2SameRect">
            <a:avLst>
              <a:gd name="adj1" fmla="val 28000"/>
              <a:gd name="adj2" fmla="val 0"/>
            </a:avLst>
          </a:prstGeom>
          <a:solidFill>
            <a:srgbClr val="C9A9E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0" rIns="50800" bIns="0" rtlCol="0" anchor="ctr"/>
          <a:lstStyle/>
          <a:p>
            <a:pPr algn="ctr"/>
            <a:r>
              <a:rPr lang="de-CH" sz="1100" b="1">
                <a:solidFill>
                  <a:srgbClr val="1F1F1F"/>
                </a:solidFill>
                <a:latin typeface="Calibri" panose="020F0502020204030204" pitchFamily="34" charset="0"/>
              </a:rPr>
              <a:t>Installation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FA3C211-00D2-B203-BE58-55799C3FEE36}"/>
              </a:ext>
            </a:extLst>
          </p:cNvPr>
          <p:cNvSpPr/>
          <p:nvPr/>
        </p:nvSpPr>
        <p:spPr>
          <a:xfrm>
            <a:off x="9864725" y="492125"/>
            <a:ext cx="2012950" cy="6178550"/>
          </a:xfrm>
          <a:prstGeom prst="rect">
            <a:avLst/>
          </a:prstGeom>
          <a:solidFill>
            <a:srgbClr val="F7F3F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159A764-2954-4509-D8DE-7BE5DE5CBB64}"/>
              </a:ext>
            </a:extLst>
          </p:cNvPr>
          <p:cNvSpPr txBox="1"/>
          <p:nvPr/>
        </p:nvSpPr>
        <p:spPr>
          <a:xfrm>
            <a:off x="10007600" y="609600"/>
            <a:ext cx="1778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de-CH" sz="950">
                <a:solidFill>
                  <a:srgbClr val="6E6E6E"/>
                </a:solidFill>
                <a:latin typeface="Calibri" panose="020F0502020204030204" pitchFamily="34" charset="0"/>
              </a:rPr>
              <a:t>+  Seite hinzufügen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7464D02-8117-982C-9713-8ED97F3E7C86}"/>
              </a:ext>
            </a:extLst>
          </p:cNvPr>
          <p:cNvSpPr txBox="1"/>
          <p:nvPr/>
        </p:nvSpPr>
        <p:spPr>
          <a:xfrm>
            <a:off x="10007600" y="889000"/>
            <a:ext cx="1778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de-CH" sz="1050">
                <a:solidFill>
                  <a:srgbClr val="262626"/>
                </a:solidFill>
                <a:latin typeface="Calibri" panose="020F0502020204030204" pitchFamily="34" charset="0"/>
              </a:rPr>
              <a:t>Time Entry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010B0DC-810C-339D-FA7E-9AB511381DA9}"/>
              </a:ext>
            </a:extLst>
          </p:cNvPr>
          <p:cNvSpPr txBox="1"/>
          <p:nvPr/>
        </p:nvSpPr>
        <p:spPr>
          <a:xfrm>
            <a:off x="10007600" y="1193800"/>
            <a:ext cx="1778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de-CH" sz="1050">
                <a:solidFill>
                  <a:srgbClr val="262626"/>
                </a:solidFill>
                <a:latin typeface="Calibri" panose="020F0502020204030204" pitchFamily="34" charset="0"/>
              </a:rPr>
              <a:t>Überblick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7A027FD-5D62-7FB5-0678-BBB7D294E874}"/>
              </a:ext>
            </a:extLst>
          </p:cNvPr>
          <p:cNvSpPr txBox="1"/>
          <p:nvPr/>
        </p:nvSpPr>
        <p:spPr>
          <a:xfrm>
            <a:off x="10007600" y="1498600"/>
            <a:ext cx="1778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de-CH" sz="1050">
                <a:solidFill>
                  <a:srgbClr val="262626"/>
                </a:solidFill>
                <a:latin typeface="Calibri" panose="020F0502020204030204" pitchFamily="34" charset="0"/>
              </a:rPr>
              <a:t>Architektur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674AFA4-10D0-2500-F20F-31A3F9944F0A}"/>
              </a:ext>
            </a:extLst>
          </p:cNvPr>
          <p:cNvSpPr txBox="1"/>
          <p:nvPr/>
        </p:nvSpPr>
        <p:spPr>
          <a:xfrm>
            <a:off x="10007600" y="1803400"/>
            <a:ext cx="1778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de-CH" sz="1050">
                <a:solidFill>
                  <a:srgbClr val="262626"/>
                </a:solidFill>
                <a:latin typeface="Calibri" panose="020F0502020204030204" pitchFamily="34" charset="0"/>
              </a:rPr>
              <a:t>Sicherheit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F50BA2B-7C96-4241-81C2-8BB237348FD4}"/>
              </a:ext>
            </a:extLst>
          </p:cNvPr>
          <p:cNvSpPr txBox="1"/>
          <p:nvPr/>
        </p:nvSpPr>
        <p:spPr>
          <a:xfrm>
            <a:off x="10007600" y="2108200"/>
            <a:ext cx="1778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de-CH" sz="1050">
                <a:solidFill>
                  <a:srgbClr val="262626"/>
                </a:solidFill>
                <a:latin typeface="Calibri" panose="020F0502020204030204" pitchFamily="34" charset="0"/>
              </a:rPr>
              <a:t>Stempeln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72E1E11-9FB2-DEFC-4E04-F0DCFEAC8C50}"/>
              </a:ext>
            </a:extLst>
          </p:cNvPr>
          <p:cNvSpPr txBox="1"/>
          <p:nvPr/>
        </p:nvSpPr>
        <p:spPr>
          <a:xfrm>
            <a:off x="10007600" y="2413000"/>
            <a:ext cx="1778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de-CH" sz="1050">
                <a:solidFill>
                  <a:srgbClr val="262626"/>
                </a:solidFill>
                <a:latin typeface="Calibri" panose="020F0502020204030204" pitchFamily="34" charset="0"/>
              </a:rPr>
              <a:t>Excel-Zuordnung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A824847-BB85-E7B5-4BB0-4492F08F00D9}"/>
              </a:ext>
            </a:extLst>
          </p:cNvPr>
          <p:cNvSpPr txBox="1"/>
          <p:nvPr/>
        </p:nvSpPr>
        <p:spPr>
          <a:xfrm>
            <a:off x="10007600" y="2717800"/>
            <a:ext cx="1778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de-CH" sz="1050">
                <a:solidFill>
                  <a:srgbClr val="262626"/>
                </a:solidFill>
                <a:latin typeface="Calibri" panose="020F0502020204030204" pitchFamily="34" charset="0"/>
              </a:rPr>
              <a:t>Weitere Funktionen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0366BBE-F1B3-EEDE-C2A2-8132E07BE7F1}"/>
              </a:ext>
            </a:extLst>
          </p:cNvPr>
          <p:cNvSpPr/>
          <p:nvPr/>
        </p:nvSpPr>
        <p:spPr>
          <a:xfrm>
            <a:off x="9864725" y="2971800"/>
            <a:ext cx="2012950" cy="279400"/>
          </a:xfrm>
          <a:prstGeom prst="rect">
            <a:avLst/>
          </a:prstGeom>
          <a:solidFill>
            <a:srgbClr val="E4D4F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E1B6124-E42D-2D74-1E10-1D0D1BBB1565}"/>
              </a:ext>
            </a:extLst>
          </p:cNvPr>
          <p:cNvSpPr txBox="1"/>
          <p:nvPr/>
        </p:nvSpPr>
        <p:spPr>
          <a:xfrm>
            <a:off x="10007600" y="3022600"/>
            <a:ext cx="1778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de-CH" sz="1050" b="1">
                <a:solidFill>
                  <a:srgbClr val="262626"/>
                </a:solidFill>
                <a:latin typeface="Calibri" panose="020F0502020204030204" pitchFamily="34" charset="0"/>
              </a:rPr>
              <a:t>Installation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588BE64-4B22-A1E0-C1E3-6F66BAC2D8C4}"/>
              </a:ext>
            </a:extLst>
          </p:cNvPr>
          <p:cNvSpPr txBox="1"/>
          <p:nvPr/>
        </p:nvSpPr>
        <p:spPr>
          <a:xfrm>
            <a:off x="10007600" y="3327400"/>
            <a:ext cx="1778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de-CH" sz="1050">
                <a:solidFill>
                  <a:srgbClr val="262626"/>
                </a:solidFill>
                <a:latin typeface="Calibri" panose="020F0502020204030204" pitchFamily="34" charset="0"/>
              </a:rPr>
              <a:t>Einrichtung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B2304D9-18FD-8D32-41D0-0109DAAC86E6}"/>
              </a:ext>
            </a:extLst>
          </p:cNvPr>
          <p:cNvSpPr txBox="1"/>
          <p:nvPr/>
        </p:nvSpPr>
        <p:spPr>
          <a:xfrm>
            <a:off x="10007600" y="3632200"/>
            <a:ext cx="1778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de-CH" sz="1050">
                <a:solidFill>
                  <a:srgbClr val="262626"/>
                </a:solidFill>
                <a:latin typeface="Calibri" panose="020F0502020204030204" pitchFamily="34" charset="0"/>
              </a:rPr>
              <a:t>Teams-Nachrichten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01843BE-09EB-FF01-79DD-51190EA632CF}"/>
              </a:ext>
            </a:extLst>
          </p:cNvPr>
          <p:cNvSpPr txBox="1"/>
          <p:nvPr/>
        </p:nvSpPr>
        <p:spPr>
          <a:xfrm>
            <a:off x="10007600" y="3937000"/>
            <a:ext cx="1778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de-CH" sz="1050">
                <a:solidFill>
                  <a:srgbClr val="262626"/>
                </a:solidFill>
                <a:latin typeface="Calibri" panose="020F0502020204030204" pitchFamily="34" charset="0"/>
              </a:rPr>
              <a:t>Tipps &amp; Ausblick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57C7896-65B1-EE6A-3695-4230D62DF351}"/>
              </a:ext>
            </a:extLst>
          </p:cNvPr>
          <p:cNvSpPr txBox="1"/>
          <p:nvPr/>
        </p:nvSpPr>
        <p:spPr>
          <a:xfrm>
            <a:off x="711200" y="635000"/>
            <a:ext cx="8890000" cy="4699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de-CH" sz="2800">
                <a:solidFill>
                  <a:srgbClr val="1F1F1F"/>
                </a:solidFill>
                <a:latin typeface="Calibri Light" panose="020F0302020204030204" pitchFamily="34" charset="0"/>
              </a:rPr>
              <a:t>Installation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BA3B347F-FFA0-9E8D-0C1B-8A77FC94C4A1}"/>
              </a:ext>
            </a:extLst>
          </p:cNvPr>
          <p:cNvCxnSpPr/>
          <p:nvPr/>
        </p:nvCxnSpPr>
        <p:spPr>
          <a:xfrm>
            <a:off x="711200" y="1130300"/>
            <a:ext cx="3048000" cy="0"/>
          </a:xfrm>
          <a:prstGeom prst="line">
            <a:avLst/>
          </a:prstGeom>
          <a:ln w="9525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8670F81A-08C4-5B45-9688-70F0B6DF1104}"/>
              </a:ext>
            </a:extLst>
          </p:cNvPr>
          <p:cNvSpPr txBox="1"/>
          <p:nvPr/>
        </p:nvSpPr>
        <p:spPr>
          <a:xfrm>
            <a:off x="711200" y="1181100"/>
            <a:ext cx="5334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de-CH" sz="950">
                <a:solidFill>
                  <a:srgbClr val="7F7F7F"/>
                </a:solidFill>
                <a:latin typeface="Calibri" panose="020F0502020204030204" pitchFamily="34" charset="0"/>
              </a:rPr>
              <a:t>Donnerstag, 24. September 2026          09:41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E8711C8-77CA-DC24-2794-ABE5CE93827B}"/>
              </a:ext>
            </a:extLst>
          </p:cNvPr>
          <p:cNvSpPr txBox="1"/>
          <p:nvPr/>
        </p:nvSpPr>
        <p:spPr>
          <a:xfrm>
            <a:off x="711200" y="1600200"/>
            <a:ext cx="5969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de-DE" sz="1250">
                <a:solidFill>
                  <a:srgbClr val="595959"/>
                </a:solidFill>
                <a:latin typeface="Calibri" panose="020F0502020204030204" pitchFamily="34" charset="0"/>
              </a:rPr>
              <a:t>Einmalig pro Computer, Dauer ca. 2 Minuten.</a:t>
            </a:r>
            <a:endParaRPr lang="de-CH" sz="1250">
              <a:solidFill>
                <a:srgbClr val="595959"/>
              </a:solidFill>
              <a:latin typeface="Calibri" panose="020F0502020204030204" pitchFamily="34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9BD1818-B06C-2681-E07B-3DC9256FDE80}"/>
              </a:ext>
            </a:extLst>
          </p:cNvPr>
          <p:cNvSpPr/>
          <p:nvPr/>
        </p:nvSpPr>
        <p:spPr>
          <a:xfrm>
            <a:off x="711200" y="2057400"/>
            <a:ext cx="152400" cy="152400"/>
          </a:xfrm>
          <a:prstGeom prst="rect">
            <a:avLst/>
          </a:prstGeom>
          <a:solidFill>
            <a:srgbClr val="FFFFFF"/>
          </a:solidFill>
          <a:ln w="12700">
            <a:solidFill>
              <a:srgbClr val="59595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4372D77-08E8-653D-50CB-1E7A4AD84A19}"/>
              </a:ext>
            </a:extLst>
          </p:cNvPr>
          <p:cNvSpPr txBox="1"/>
          <p:nvPr/>
        </p:nvSpPr>
        <p:spPr>
          <a:xfrm>
            <a:off x="1016000" y="2006600"/>
            <a:ext cx="5588000" cy="965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lang="de-CH" sz="1400" b="1">
                <a:solidFill>
                  <a:srgbClr val="1F1F1F"/>
                </a:solidFill>
                <a:latin typeface="Calibri" panose="020F0502020204030204" pitchFamily="34" charset="0"/>
              </a:rPr>
              <a:t>Repository herunterladen</a:t>
            </a:r>
          </a:p>
          <a:p>
            <a:r>
              <a:rPr lang="de-CH" sz="1100">
                <a:solidFill>
                  <a:srgbClr val="A31515"/>
                </a:solidFill>
                <a:latin typeface="Consolas" panose="020B0609020204030204" pitchFamily="49" charset="0"/>
              </a:rPr>
              <a:t>github.com/DerSeeliger/SchuleUnteraegeri_TimeEntries</a:t>
            </a:r>
            <a:r>
              <a:rPr lang="de-CH" sz="1200">
                <a:solidFill>
                  <a:srgbClr val="404040"/>
                </a:solidFill>
                <a:latin typeface="Calibri" panose="020F0502020204030204" pitchFamily="34" charset="0"/>
              </a:rPr>
              <a:t>  →  Code  →  Download ZIP, danach entpacken.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8C8DF1B-DE0B-6214-F117-789C3EF18942}"/>
              </a:ext>
            </a:extLst>
          </p:cNvPr>
          <p:cNvSpPr/>
          <p:nvPr/>
        </p:nvSpPr>
        <p:spPr>
          <a:xfrm>
            <a:off x="711200" y="3124200"/>
            <a:ext cx="152400" cy="152400"/>
          </a:xfrm>
          <a:prstGeom prst="rect">
            <a:avLst/>
          </a:prstGeom>
          <a:solidFill>
            <a:srgbClr val="FFFFFF"/>
          </a:solidFill>
          <a:ln w="12700">
            <a:solidFill>
              <a:srgbClr val="59595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BEF1DCC-E601-DFE9-74EF-4791BBEFF1C6}"/>
              </a:ext>
            </a:extLst>
          </p:cNvPr>
          <p:cNvSpPr txBox="1"/>
          <p:nvPr/>
        </p:nvSpPr>
        <p:spPr>
          <a:xfrm>
            <a:off x="1016000" y="3073400"/>
            <a:ext cx="5588000" cy="965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lang="de-CH" sz="1400" b="1">
                <a:solidFill>
                  <a:srgbClr val="1F1F1F"/>
                </a:solidFill>
                <a:latin typeface="Calibri" panose="020F0502020204030204" pitchFamily="34" charset="0"/>
              </a:rPr>
              <a:t>about:debugging öffnen</a:t>
            </a:r>
          </a:p>
          <a:p>
            <a:r>
              <a:rPr lang="de-CH" sz="1200">
                <a:solidFill>
                  <a:srgbClr val="404040"/>
                </a:solidFill>
                <a:latin typeface="Calibri" panose="020F0502020204030204" pitchFamily="34" charset="0"/>
              </a:rPr>
              <a:t>In der Firefox-Adressleiste eingeben: </a:t>
            </a:r>
            <a:r>
              <a:rPr lang="de-CH" sz="1100">
                <a:solidFill>
                  <a:srgbClr val="A31515"/>
                </a:solidFill>
                <a:latin typeface="Consolas" panose="020B0609020204030204" pitchFamily="49" charset="0"/>
              </a:rPr>
              <a:t>about:debugging#/runtime/this-firefox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912F16E-C4D4-2493-07BE-19A97740E179}"/>
              </a:ext>
            </a:extLst>
          </p:cNvPr>
          <p:cNvSpPr/>
          <p:nvPr/>
        </p:nvSpPr>
        <p:spPr>
          <a:xfrm>
            <a:off x="711200" y="4191000"/>
            <a:ext cx="152400" cy="152400"/>
          </a:xfrm>
          <a:prstGeom prst="rect">
            <a:avLst/>
          </a:prstGeom>
          <a:solidFill>
            <a:srgbClr val="FFFFFF"/>
          </a:solidFill>
          <a:ln w="12700">
            <a:solidFill>
              <a:srgbClr val="59595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B26E453-705E-0D69-0F15-A1E153F787BD}"/>
              </a:ext>
            </a:extLst>
          </p:cNvPr>
          <p:cNvSpPr txBox="1"/>
          <p:nvPr/>
        </p:nvSpPr>
        <p:spPr>
          <a:xfrm>
            <a:off x="1016000" y="4140200"/>
            <a:ext cx="5588000" cy="965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lang="de-DE" sz="1400" b="1">
                <a:solidFill>
                  <a:srgbClr val="1F1F1F"/>
                </a:solidFill>
                <a:latin typeface="Calibri" panose="020F0502020204030204" pitchFamily="34" charset="0"/>
              </a:rPr>
              <a:t>Add-on laden</a:t>
            </a:r>
          </a:p>
          <a:p>
            <a:r>
              <a:rPr lang="de-DE" sz="1200" b="1">
                <a:solidFill>
                  <a:srgbClr val="404040"/>
                </a:solidFill>
                <a:latin typeface="Calibri" panose="020F0502020204030204" pitchFamily="34" charset="0"/>
              </a:rPr>
              <a:t>Load Temporary Add-on…</a:t>
            </a:r>
            <a:r>
              <a:rPr lang="de-DE" sz="1200">
                <a:solidFill>
                  <a:srgbClr val="404040"/>
                </a:solidFill>
                <a:latin typeface="Calibri" panose="020F0502020204030204" pitchFamily="34" charset="0"/>
              </a:rPr>
              <a:t> klicken und im entpackten Ordner die Datei </a:t>
            </a:r>
            <a:r>
              <a:rPr lang="de-DE" sz="1100">
                <a:solidFill>
                  <a:srgbClr val="A31515"/>
                </a:solidFill>
                <a:latin typeface="Consolas" panose="020B0609020204030204" pitchFamily="49" charset="0"/>
              </a:rPr>
              <a:t>manifest.json</a:t>
            </a:r>
            <a:r>
              <a:rPr lang="de-DE" sz="1200">
                <a:solidFill>
                  <a:srgbClr val="404040"/>
                </a:solidFill>
                <a:latin typeface="Calibri" panose="020F0502020204030204" pitchFamily="34" charset="0"/>
              </a:rPr>
              <a:t> auswählen.</a:t>
            </a:r>
            <a:endParaRPr lang="de-CH" sz="1200">
              <a:solidFill>
                <a:srgbClr val="404040"/>
              </a:solidFill>
              <a:latin typeface="Calibri" panose="020F0502020204030204" pitchFamily="34" charset="0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8454739-4618-791B-678E-AD587719FC65}"/>
              </a:ext>
            </a:extLst>
          </p:cNvPr>
          <p:cNvSpPr/>
          <p:nvPr/>
        </p:nvSpPr>
        <p:spPr>
          <a:xfrm>
            <a:off x="711200" y="5257800"/>
            <a:ext cx="152400" cy="152400"/>
          </a:xfrm>
          <a:prstGeom prst="rect">
            <a:avLst/>
          </a:prstGeom>
          <a:solidFill>
            <a:srgbClr val="FFFFFF"/>
          </a:solidFill>
          <a:ln w="12700">
            <a:solidFill>
              <a:srgbClr val="59595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A4D2FC5-FC02-9571-4722-1A2E62C8BBB3}"/>
              </a:ext>
            </a:extLst>
          </p:cNvPr>
          <p:cNvSpPr txBox="1"/>
          <p:nvPr/>
        </p:nvSpPr>
        <p:spPr>
          <a:xfrm>
            <a:off x="1016000" y="5207000"/>
            <a:ext cx="5588000" cy="965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lang="de-DE" sz="1400" b="1">
                <a:solidFill>
                  <a:srgbClr val="1F1F1F"/>
                </a:solidFill>
                <a:latin typeface="Calibri" panose="020F0502020204030204" pitchFamily="34" charset="0"/>
              </a:rPr>
              <a:t>Installiert, noch nicht konfiguriert</a:t>
            </a:r>
          </a:p>
          <a:p>
            <a:r>
              <a:rPr lang="de-DE" sz="1200">
                <a:solidFill>
                  <a:srgbClr val="404040"/>
                </a:solidFill>
                <a:latin typeface="Calibri" panose="020F0502020204030204" pitchFamily="34" charset="0"/>
              </a:rPr>
              <a:t>Die Extension erscheint in der Toolbar (falls nicht: über das Puzzle-Symbol anheften). Weiter mit der Einrichtung.</a:t>
            </a:r>
            <a:endParaRPr lang="de-CH" sz="1200">
              <a:solidFill>
                <a:srgbClr val="404040"/>
              </a:solidFill>
              <a:latin typeface="Calibri" panose="020F0502020204030204" pitchFamily="34" charset="0"/>
            </a:endParaRP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DA9903F9-AE9C-1C7C-717A-B55412ABC310}"/>
              </a:ext>
            </a:extLst>
          </p:cNvPr>
          <p:cNvSpPr/>
          <p:nvPr/>
        </p:nvSpPr>
        <p:spPr>
          <a:xfrm>
            <a:off x="7010400" y="2006600"/>
            <a:ext cx="2540000" cy="2489200"/>
          </a:xfrm>
          <a:prstGeom prst="roundRect">
            <a:avLst>
              <a:gd name="adj" fmla="val 6000"/>
            </a:avLst>
          </a:prstGeom>
          <a:solidFill>
            <a:srgbClr val="FFF8D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F731A929-A8D3-0AB6-3D8F-F11DB96BD8B0}"/>
              </a:ext>
            </a:extLst>
          </p:cNvPr>
          <p:cNvSpPr/>
          <p:nvPr/>
        </p:nvSpPr>
        <p:spPr>
          <a:xfrm>
            <a:off x="7213600" y="2209800"/>
            <a:ext cx="355600" cy="355600"/>
          </a:xfrm>
          <a:prstGeom prst="ellipse">
            <a:avLst/>
          </a:prstGeom>
          <a:solidFill>
            <a:srgbClr val="F4C20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de-CH" sz="1200" b="1">
                <a:solidFill>
                  <a:srgbClr val="1F1F1F"/>
                </a:solidFill>
                <a:latin typeface="Segoe UI Symbol" panose="020B0502040204020203" pitchFamily="34" charset="0"/>
              </a:rPr>
              <a:t>★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4DB4881-DF2A-6BEF-B56C-98BE6A46FD21}"/>
              </a:ext>
            </a:extLst>
          </p:cNvPr>
          <p:cNvSpPr txBox="1"/>
          <p:nvPr/>
        </p:nvSpPr>
        <p:spPr>
          <a:xfrm>
            <a:off x="7670800" y="2273300"/>
            <a:ext cx="16510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de-CH" sz="1400" b="1">
                <a:solidFill>
                  <a:srgbClr val="1F1F1F"/>
                </a:solidFill>
                <a:latin typeface="Calibri" panose="020F0502020204030204" pitchFamily="34" charset="0"/>
              </a:rPr>
              <a:t>Wichtig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8E7DEE1-CBED-43DC-7AE0-E28D14BA2F0F}"/>
              </a:ext>
            </a:extLst>
          </p:cNvPr>
          <p:cNvSpPr txBox="1"/>
          <p:nvPr/>
        </p:nvSpPr>
        <p:spPr>
          <a:xfrm>
            <a:off x="7213600" y="2743200"/>
            <a:ext cx="2159000" cy="165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de-DE" sz="1200">
                <a:solidFill>
                  <a:srgbClr val="404040"/>
                </a:solidFill>
                <a:latin typeface="Calibri" panose="020F0502020204030204" pitchFamily="34" charset="0"/>
              </a:rPr>
              <a:t>Temporäre Add-ons entfernt Firefox bei jedem Neustart. Danach die Schritte 2 und 3 wiederholen. Eine signierte Version für die dauerhafte Installation ist geplant.</a:t>
            </a:r>
            <a:endParaRPr lang="de-CH" sz="1200">
              <a:solidFill>
                <a:srgbClr val="40404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64538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B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Top Corners Rounded 1">
            <a:extLst>
              <a:ext uri="{FF2B5EF4-FFF2-40B4-BE49-F238E27FC236}">
                <a16:creationId xmlns:a16="http://schemas.microsoft.com/office/drawing/2014/main" id="{620283A5-F038-ED9A-054B-FCD9599F1DBD}"/>
              </a:ext>
            </a:extLst>
          </p:cNvPr>
          <p:cNvSpPr/>
          <p:nvPr/>
        </p:nvSpPr>
        <p:spPr>
          <a:xfrm>
            <a:off x="304800" y="190500"/>
            <a:ext cx="1050290" cy="304800"/>
          </a:xfrm>
          <a:prstGeom prst="round2SameRect">
            <a:avLst>
              <a:gd name="adj1" fmla="val 28000"/>
              <a:gd name="adj2" fmla="val 0"/>
            </a:avLst>
          </a:prstGeom>
          <a:solidFill>
            <a:srgbClr val="8DB4E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0" rIns="50800" bIns="0" rtlCol="0" anchor="ctr"/>
          <a:lstStyle/>
          <a:p>
            <a:pPr algn="ctr"/>
            <a:r>
              <a:rPr lang="de-CH" sz="1050">
                <a:solidFill>
                  <a:srgbClr val="3B3B3B"/>
                </a:solidFill>
                <a:latin typeface="Calibri" panose="020F0502020204030204" pitchFamily="34" charset="0"/>
              </a:rPr>
              <a:t>Überblick</a:t>
            </a:r>
          </a:p>
        </p:txBody>
      </p:sp>
      <p:sp>
        <p:nvSpPr>
          <p:cNvPr id="3" name="Rectangle: Top Corners Rounded 2">
            <a:extLst>
              <a:ext uri="{FF2B5EF4-FFF2-40B4-BE49-F238E27FC236}">
                <a16:creationId xmlns:a16="http://schemas.microsoft.com/office/drawing/2014/main" id="{0EC252C2-F4B4-A449-6360-C97E0062AAFD}"/>
              </a:ext>
            </a:extLst>
          </p:cNvPr>
          <p:cNvSpPr/>
          <p:nvPr/>
        </p:nvSpPr>
        <p:spPr>
          <a:xfrm>
            <a:off x="1393190" y="190500"/>
            <a:ext cx="890270" cy="304800"/>
          </a:xfrm>
          <a:prstGeom prst="round2SameRect">
            <a:avLst>
              <a:gd name="adj1" fmla="val 28000"/>
              <a:gd name="adj2" fmla="val 0"/>
            </a:avLst>
          </a:prstGeom>
          <a:solidFill>
            <a:srgbClr val="F4B18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0" rIns="50800" bIns="0" rtlCol="0" anchor="ctr"/>
          <a:lstStyle/>
          <a:p>
            <a:pPr algn="ctr"/>
            <a:r>
              <a:rPr lang="de-CH" sz="1050">
                <a:solidFill>
                  <a:srgbClr val="3B3B3B"/>
                </a:solidFill>
                <a:latin typeface="Calibri" panose="020F0502020204030204" pitchFamily="34" charset="0"/>
              </a:rPr>
              <a:t>Technik</a:t>
            </a:r>
          </a:p>
        </p:txBody>
      </p:sp>
      <p:sp>
        <p:nvSpPr>
          <p:cNvPr id="4" name="Rectangle: Top Corners Rounded 3">
            <a:extLst>
              <a:ext uri="{FF2B5EF4-FFF2-40B4-BE49-F238E27FC236}">
                <a16:creationId xmlns:a16="http://schemas.microsoft.com/office/drawing/2014/main" id="{1C616803-DA8D-88A5-8CC5-4D54DC5E6F16}"/>
              </a:ext>
            </a:extLst>
          </p:cNvPr>
          <p:cNvSpPr/>
          <p:nvPr/>
        </p:nvSpPr>
        <p:spPr>
          <a:xfrm>
            <a:off x="2321560" y="190500"/>
            <a:ext cx="1130300" cy="304800"/>
          </a:xfrm>
          <a:prstGeom prst="round2SameRect">
            <a:avLst>
              <a:gd name="adj1" fmla="val 28000"/>
              <a:gd name="adj2" fmla="val 0"/>
            </a:avLst>
          </a:prstGeom>
          <a:solidFill>
            <a:srgbClr val="A9D18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0" rIns="50800" bIns="0" rtlCol="0" anchor="ctr"/>
          <a:lstStyle/>
          <a:p>
            <a:pPr algn="ctr"/>
            <a:r>
              <a:rPr lang="de-CH" sz="1050">
                <a:solidFill>
                  <a:srgbClr val="3B3B3B"/>
                </a:solidFill>
                <a:latin typeface="Calibri" panose="020F0502020204030204" pitchFamily="34" charset="0"/>
              </a:rPr>
              <a:t>Funktionen</a:t>
            </a:r>
          </a:p>
        </p:txBody>
      </p:sp>
      <p:sp>
        <p:nvSpPr>
          <p:cNvPr id="5" name="Rectangle: Top Corners Rounded 4">
            <a:extLst>
              <a:ext uri="{FF2B5EF4-FFF2-40B4-BE49-F238E27FC236}">
                <a16:creationId xmlns:a16="http://schemas.microsoft.com/office/drawing/2014/main" id="{EDC3563B-7EF0-B57F-B608-BEF2701CABDB}"/>
              </a:ext>
            </a:extLst>
          </p:cNvPr>
          <p:cNvSpPr/>
          <p:nvPr/>
        </p:nvSpPr>
        <p:spPr>
          <a:xfrm>
            <a:off x="4818380" y="190500"/>
            <a:ext cx="730250" cy="304800"/>
          </a:xfrm>
          <a:prstGeom prst="round2SameRect">
            <a:avLst>
              <a:gd name="adj1" fmla="val 28000"/>
              <a:gd name="adj2" fmla="val 0"/>
            </a:avLst>
          </a:prstGeom>
          <a:solidFill>
            <a:srgbClr val="F4A6B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0" rIns="50800" bIns="0" rtlCol="0" anchor="ctr"/>
          <a:lstStyle/>
          <a:p>
            <a:pPr algn="ctr"/>
            <a:r>
              <a:rPr lang="de-CH" sz="1050">
                <a:solidFill>
                  <a:srgbClr val="3B3B3B"/>
                </a:solidFill>
                <a:latin typeface="Calibri" panose="020F0502020204030204" pitchFamily="34" charset="0"/>
              </a:rPr>
              <a:t>Teams</a:t>
            </a:r>
          </a:p>
        </p:txBody>
      </p:sp>
      <p:sp>
        <p:nvSpPr>
          <p:cNvPr id="6" name="Rectangle: Top Corners Rounded 5">
            <a:extLst>
              <a:ext uri="{FF2B5EF4-FFF2-40B4-BE49-F238E27FC236}">
                <a16:creationId xmlns:a16="http://schemas.microsoft.com/office/drawing/2014/main" id="{FF8DABD6-C7D5-0F95-260C-C4BBEE750309}"/>
              </a:ext>
            </a:extLst>
          </p:cNvPr>
          <p:cNvSpPr/>
          <p:nvPr/>
        </p:nvSpPr>
        <p:spPr>
          <a:xfrm>
            <a:off x="5586730" y="190500"/>
            <a:ext cx="730250" cy="304800"/>
          </a:xfrm>
          <a:prstGeom prst="round2SameRect">
            <a:avLst>
              <a:gd name="adj1" fmla="val 28000"/>
              <a:gd name="adj2" fmla="val 0"/>
            </a:avLst>
          </a:prstGeom>
          <a:solidFill>
            <a:srgbClr val="8FD3C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0" rIns="50800" bIns="0" rtlCol="0" anchor="ctr"/>
          <a:lstStyle/>
          <a:p>
            <a:pPr algn="ctr"/>
            <a:r>
              <a:rPr lang="de-CH" sz="1050">
                <a:solidFill>
                  <a:srgbClr val="3B3B3B"/>
                </a:solidFill>
                <a:latin typeface="Calibri" panose="020F0502020204030204" pitchFamily="34" charset="0"/>
              </a:rPr>
              <a:t>Tipps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E394761-7332-E88E-89FF-FAFDA20B4983}"/>
              </a:ext>
            </a:extLst>
          </p:cNvPr>
          <p:cNvSpPr/>
          <p:nvPr/>
        </p:nvSpPr>
        <p:spPr>
          <a:xfrm>
            <a:off x="304800" y="482600"/>
            <a:ext cx="11582400" cy="6197600"/>
          </a:xfrm>
          <a:prstGeom prst="rect">
            <a:avLst/>
          </a:prstGeom>
          <a:solidFill>
            <a:srgbClr val="FFFFFF"/>
          </a:solidFill>
          <a:ln w="19050">
            <a:solidFill>
              <a:srgbClr val="C9A9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8" name="Rectangle: Top Corners Rounded 7">
            <a:extLst>
              <a:ext uri="{FF2B5EF4-FFF2-40B4-BE49-F238E27FC236}">
                <a16:creationId xmlns:a16="http://schemas.microsoft.com/office/drawing/2014/main" id="{C603675A-AABE-8847-0C9E-F7244C5DEF8C}"/>
              </a:ext>
            </a:extLst>
          </p:cNvPr>
          <p:cNvSpPr/>
          <p:nvPr/>
        </p:nvSpPr>
        <p:spPr>
          <a:xfrm>
            <a:off x="3489960" y="114300"/>
            <a:ext cx="1290320" cy="393700"/>
          </a:xfrm>
          <a:prstGeom prst="round2SameRect">
            <a:avLst>
              <a:gd name="adj1" fmla="val 28000"/>
              <a:gd name="adj2" fmla="val 0"/>
            </a:avLst>
          </a:prstGeom>
          <a:solidFill>
            <a:srgbClr val="C9A9E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0" rIns="50800" bIns="0" rtlCol="0" anchor="ctr"/>
          <a:lstStyle/>
          <a:p>
            <a:pPr algn="ctr"/>
            <a:r>
              <a:rPr lang="de-CH" sz="1100" b="1">
                <a:solidFill>
                  <a:srgbClr val="1F1F1F"/>
                </a:solidFill>
                <a:latin typeface="Calibri" panose="020F0502020204030204" pitchFamily="34" charset="0"/>
              </a:rPr>
              <a:t>Installation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F711805-E9E7-6996-B68E-EF01131C60B7}"/>
              </a:ext>
            </a:extLst>
          </p:cNvPr>
          <p:cNvSpPr/>
          <p:nvPr/>
        </p:nvSpPr>
        <p:spPr>
          <a:xfrm>
            <a:off x="9864725" y="492125"/>
            <a:ext cx="2012950" cy="6178550"/>
          </a:xfrm>
          <a:prstGeom prst="rect">
            <a:avLst/>
          </a:prstGeom>
          <a:solidFill>
            <a:srgbClr val="F7F3F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ECD689A-EC07-BE67-0CC9-542FE173F02C}"/>
              </a:ext>
            </a:extLst>
          </p:cNvPr>
          <p:cNvSpPr txBox="1"/>
          <p:nvPr/>
        </p:nvSpPr>
        <p:spPr>
          <a:xfrm>
            <a:off x="10007600" y="609600"/>
            <a:ext cx="1778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de-CH" sz="950">
                <a:solidFill>
                  <a:srgbClr val="6E6E6E"/>
                </a:solidFill>
                <a:latin typeface="Calibri" panose="020F0502020204030204" pitchFamily="34" charset="0"/>
              </a:rPr>
              <a:t>+  Seite hinzufügen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AEA8F3E-87BA-FBCF-89D2-F5D20CA39C2E}"/>
              </a:ext>
            </a:extLst>
          </p:cNvPr>
          <p:cNvSpPr txBox="1"/>
          <p:nvPr/>
        </p:nvSpPr>
        <p:spPr>
          <a:xfrm>
            <a:off x="10007600" y="889000"/>
            <a:ext cx="1778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de-CH" sz="1050">
                <a:solidFill>
                  <a:srgbClr val="262626"/>
                </a:solidFill>
                <a:latin typeface="Calibri" panose="020F0502020204030204" pitchFamily="34" charset="0"/>
              </a:rPr>
              <a:t>Time Entry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385A958-89DD-6227-1903-891E6D85AB35}"/>
              </a:ext>
            </a:extLst>
          </p:cNvPr>
          <p:cNvSpPr txBox="1"/>
          <p:nvPr/>
        </p:nvSpPr>
        <p:spPr>
          <a:xfrm>
            <a:off x="10007600" y="1193800"/>
            <a:ext cx="1778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de-CH" sz="1050">
                <a:solidFill>
                  <a:srgbClr val="262626"/>
                </a:solidFill>
                <a:latin typeface="Calibri" panose="020F0502020204030204" pitchFamily="34" charset="0"/>
              </a:rPr>
              <a:t>Überblick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BC1607F-1C04-4FC7-08A2-F99D00AEA4E7}"/>
              </a:ext>
            </a:extLst>
          </p:cNvPr>
          <p:cNvSpPr txBox="1"/>
          <p:nvPr/>
        </p:nvSpPr>
        <p:spPr>
          <a:xfrm>
            <a:off x="10007600" y="1498600"/>
            <a:ext cx="1778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de-CH" sz="1050">
                <a:solidFill>
                  <a:srgbClr val="262626"/>
                </a:solidFill>
                <a:latin typeface="Calibri" panose="020F0502020204030204" pitchFamily="34" charset="0"/>
              </a:rPr>
              <a:t>Architektur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4BA7D21-6B7C-CB62-56EC-C6627CE3B126}"/>
              </a:ext>
            </a:extLst>
          </p:cNvPr>
          <p:cNvSpPr txBox="1"/>
          <p:nvPr/>
        </p:nvSpPr>
        <p:spPr>
          <a:xfrm>
            <a:off x="10007600" y="1803400"/>
            <a:ext cx="1778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de-CH" sz="1050">
                <a:solidFill>
                  <a:srgbClr val="262626"/>
                </a:solidFill>
                <a:latin typeface="Calibri" panose="020F0502020204030204" pitchFamily="34" charset="0"/>
              </a:rPr>
              <a:t>Sicherheit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707EC7E-DEA9-158A-B3A7-126192798566}"/>
              </a:ext>
            </a:extLst>
          </p:cNvPr>
          <p:cNvSpPr txBox="1"/>
          <p:nvPr/>
        </p:nvSpPr>
        <p:spPr>
          <a:xfrm>
            <a:off x="10007600" y="2108200"/>
            <a:ext cx="1778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de-CH" sz="1050">
                <a:solidFill>
                  <a:srgbClr val="262626"/>
                </a:solidFill>
                <a:latin typeface="Calibri" panose="020F0502020204030204" pitchFamily="34" charset="0"/>
              </a:rPr>
              <a:t>Stempeln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15F5886-9B0A-C034-8866-057BEF5E2038}"/>
              </a:ext>
            </a:extLst>
          </p:cNvPr>
          <p:cNvSpPr txBox="1"/>
          <p:nvPr/>
        </p:nvSpPr>
        <p:spPr>
          <a:xfrm>
            <a:off x="10007600" y="2413000"/>
            <a:ext cx="1778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de-CH" sz="1050">
                <a:solidFill>
                  <a:srgbClr val="262626"/>
                </a:solidFill>
                <a:latin typeface="Calibri" panose="020F0502020204030204" pitchFamily="34" charset="0"/>
              </a:rPr>
              <a:t>Excel-Zuordnung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76B1E63-D702-5CD2-8029-78707F414850}"/>
              </a:ext>
            </a:extLst>
          </p:cNvPr>
          <p:cNvSpPr txBox="1"/>
          <p:nvPr/>
        </p:nvSpPr>
        <p:spPr>
          <a:xfrm>
            <a:off x="10007600" y="2717800"/>
            <a:ext cx="1778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de-CH" sz="1050">
                <a:solidFill>
                  <a:srgbClr val="262626"/>
                </a:solidFill>
                <a:latin typeface="Calibri" panose="020F0502020204030204" pitchFamily="34" charset="0"/>
              </a:rPr>
              <a:t>Weitere Funktionen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EC92DA1-9327-5490-EF16-2E03AD3F5D42}"/>
              </a:ext>
            </a:extLst>
          </p:cNvPr>
          <p:cNvSpPr txBox="1"/>
          <p:nvPr/>
        </p:nvSpPr>
        <p:spPr>
          <a:xfrm>
            <a:off x="10007600" y="3022600"/>
            <a:ext cx="1778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de-CH" sz="1050">
                <a:solidFill>
                  <a:srgbClr val="262626"/>
                </a:solidFill>
                <a:latin typeface="Calibri" panose="020F0502020204030204" pitchFamily="34" charset="0"/>
              </a:rPr>
              <a:t>Installation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44FAC33-D7E2-FC3D-28A8-D383CECF38EB}"/>
              </a:ext>
            </a:extLst>
          </p:cNvPr>
          <p:cNvSpPr/>
          <p:nvPr/>
        </p:nvSpPr>
        <p:spPr>
          <a:xfrm>
            <a:off x="9864725" y="3276600"/>
            <a:ext cx="2012950" cy="279400"/>
          </a:xfrm>
          <a:prstGeom prst="rect">
            <a:avLst/>
          </a:prstGeom>
          <a:solidFill>
            <a:srgbClr val="E4D4F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7AA09D7-A266-CCA3-6A4C-ED1E561FF81A}"/>
              </a:ext>
            </a:extLst>
          </p:cNvPr>
          <p:cNvSpPr txBox="1"/>
          <p:nvPr/>
        </p:nvSpPr>
        <p:spPr>
          <a:xfrm>
            <a:off x="10007600" y="3327400"/>
            <a:ext cx="1778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de-CH" sz="1050" b="1">
                <a:solidFill>
                  <a:srgbClr val="262626"/>
                </a:solidFill>
                <a:latin typeface="Calibri" panose="020F0502020204030204" pitchFamily="34" charset="0"/>
              </a:rPr>
              <a:t>Einrichtung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2A2269E-9FA0-58DA-3CBE-2D61CBD1967A}"/>
              </a:ext>
            </a:extLst>
          </p:cNvPr>
          <p:cNvSpPr txBox="1"/>
          <p:nvPr/>
        </p:nvSpPr>
        <p:spPr>
          <a:xfrm>
            <a:off x="10007600" y="3632200"/>
            <a:ext cx="1778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de-CH" sz="1050">
                <a:solidFill>
                  <a:srgbClr val="262626"/>
                </a:solidFill>
                <a:latin typeface="Calibri" panose="020F0502020204030204" pitchFamily="34" charset="0"/>
              </a:rPr>
              <a:t>Teams-Nachrichten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9C40F29-7A5C-47EC-7E64-60505950B7FF}"/>
              </a:ext>
            </a:extLst>
          </p:cNvPr>
          <p:cNvSpPr txBox="1"/>
          <p:nvPr/>
        </p:nvSpPr>
        <p:spPr>
          <a:xfrm>
            <a:off x="10007600" y="3937000"/>
            <a:ext cx="1778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de-CH" sz="1050">
                <a:solidFill>
                  <a:srgbClr val="262626"/>
                </a:solidFill>
                <a:latin typeface="Calibri" panose="020F0502020204030204" pitchFamily="34" charset="0"/>
              </a:rPr>
              <a:t>Tipps &amp; Ausblick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6F4B2BA-ABDC-5598-A55F-5E9A5ACA7612}"/>
              </a:ext>
            </a:extLst>
          </p:cNvPr>
          <p:cNvSpPr txBox="1"/>
          <p:nvPr/>
        </p:nvSpPr>
        <p:spPr>
          <a:xfrm>
            <a:off x="711200" y="635000"/>
            <a:ext cx="8890000" cy="4699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de-CH" sz="2800">
                <a:solidFill>
                  <a:srgbClr val="1F1F1F"/>
                </a:solidFill>
                <a:latin typeface="Calibri Light" panose="020F0302020204030204" pitchFamily="34" charset="0"/>
              </a:rPr>
              <a:t>Einrichtung in den Settings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D63F43E5-E7A3-0DB4-2FC5-5A9F11023003}"/>
              </a:ext>
            </a:extLst>
          </p:cNvPr>
          <p:cNvCxnSpPr/>
          <p:nvPr/>
        </p:nvCxnSpPr>
        <p:spPr>
          <a:xfrm>
            <a:off x="711200" y="1130300"/>
            <a:ext cx="4185349" cy="0"/>
          </a:xfrm>
          <a:prstGeom prst="line">
            <a:avLst/>
          </a:prstGeom>
          <a:ln w="9525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5355AE75-D524-683A-3486-6C235CA3CDF3}"/>
              </a:ext>
            </a:extLst>
          </p:cNvPr>
          <p:cNvSpPr txBox="1"/>
          <p:nvPr/>
        </p:nvSpPr>
        <p:spPr>
          <a:xfrm>
            <a:off x="711200" y="1181100"/>
            <a:ext cx="5334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de-CH" sz="950">
                <a:solidFill>
                  <a:srgbClr val="7F7F7F"/>
                </a:solidFill>
                <a:latin typeface="Calibri" panose="020F0502020204030204" pitchFamily="34" charset="0"/>
              </a:rPr>
              <a:t>Donnerstag, 24. September 2026          09:41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D2010436-E9B8-FAF2-ED97-D6AA924E238D}"/>
              </a:ext>
            </a:extLst>
          </p:cNvPr>
          <p:cNvSpPr/>
          <p:nvPr/>
        </p:nvSpPr>
        <p:spPr>
          <a:xfrm>
            <a:off x="711200" y="1676400"/>
            <a:ext cx="330200" cy="330200"/>
          </a:xfrm>
          <a:prstGeom prst="ellipse">
            <a:avLst/>
          </a:prstGeom>
          <a:solidFill>
            <a:srgbClr val="C9A9E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de-CH" sz="1200" b="1">
                <a:solidFill>
                  <a:srgbClr val="1F1F1F"/>
                </a:solidFill>
                <a:latin typeface="Segoe UI Symbol" panose="020B0502040204020203" pitchFamily="34" charset="0"/>
              </a:rPr>
              <a:t>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3A67ED2-89B0-6E89-6AD4-3DD4E5824F87}"/>
              </a:ext>
            </a:extLst>
          </p:cNvPr>
          <p:cNvSpPr txBox="1"/>
          <p:nvPr/>
        </p:nvSpPr>
        <p:spPr>
          <a:xfrm>
            <a:off x="1193800" y="1701800"/>
            <a:ext cx="3810000" cy="149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lang="de-DE" sz="1400" b="1">
                <a:solidFill>
                  <a:srgbClr val="1F1F1F"/>
                </a:solidFill>
                <a:latin typeface="Calibri" panose="020F0502020204030204" pitchFamily="34" charset="0"/>
              </a:rPr>
              <a:t>Settings öffnen</a:t>
            </a:r>
          </a:p>
          <a:p>
            <a:r>
              <a:rPr lang="de-DE" sz="1200">
                <a:solidFill>
                  <a:srgbClr val="404040"/>
                </a:solidFill>
                <a:latin typeface="Calibri" panose="020F0502020204030204" pitchFamily="34" charset="0"/>
              </a:rPr>
              <a:t>Popup öffnen und auf ⚙ klicken.</a:t>
            </a:r>
            <a:endParaRPr lang="de-CH" sz="1200">
              <a:solidFill>
                <a:srgbClr val="404040"/>
              </a:solidFill>
              <a:latin typeface="Calibri" panose="020F0502020204030204" pitchFamily="34" charset="0"/>
            </a:endParaRP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69E96B9D-B2DD-5BBE-91D4-2501E2FA58A4}"/>
              </a:ext>
            </a:extLst>
          </p:cNvPr>
          <p:cNvSpPr/>
          <p:nvPr/>
        </p:nvSpPr>
        <p:spPr>
          <a:xfrm>
            <a:off x="711200" y="3149600"/>
            <a:ext cx="330200" cy="330200"/>
          </a:xfrm>
          <a:prstGeom prst="ellipse">
            <a:avLst/>
          </a:prstGeom>
          <a:solidFill>
            <a:srgbClr val="C9A9E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de-CH" sz="1200" b="1">
                <a:solidFill>
                  <a:srgbClr val="1F1F1F"/>
                </a:solidFill>
                <a:latin typeface="Segoe UI Symbol" panose="020B0502040204020203" pitchFamily="34" charset="0"/>
              </a:rPr>
              <a:t>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4650186-BEF7-0A20-AA73-F7399F707981}"/>
              </a:ext>
            </a:extLst>
          </p:cNvPr>
          <p:cNvSpPr txBox="1"/>
          <p:nvPr/>
        </p:nvSpPr>
        <p:spPr>
          <a:xfrm>
            <a:off x="1193800" y="3175000"/>
            <a:ext cx="3810000" cy="149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lang="de-CH" sz="1400" b="1">
                <a:solidFill>
                  <a:srgbClr val="1F1F1F"/>
                </a:solidFill>
                <a:latin typeface="Calibri" panose="020F0502020204030204" pitchFamily="34" charset="0"/>
              </a:rPr>
              <a:t>Microsoft account</a:t>
            </a:r>
          </a:p>
          <a:p>
            <a:r>
              <a:rPr lang="de-CH" sz="1200">
                <a:solidFill>
                  <a:srgbClr val="404040"/>
                </a:solidFill>
                <a:latin typeface="Calibri" panose="020F0502020204030204" pitchFamily="34" charset="0"/>
              </a:rPr>
              <a:t>Directory (tenant) ID und Application (client) ID bei Michael Iten beantragen, einfügen, </a:t>
            </a:r>
            <a:r>
              <a:rPr lang="de-CH" sz="1200" b="1">
                <a:solidFill>
                  <a:srgbClr val="404040"/>
                </a:solidFill>
                <a:latin typeface="Calibri" panose="020F0502020204030204" pitchFamily="34" charset="0"/>
              </a:rPr>
              <a:t>Sign in</a:t>
            </a:r>
            <a:r>
              <a:rPr lang="de-CH" sz="1200">
                <a:solidFill>
                  <a:srgbClr val="404040"/>
                </a:solidFill>
                <a:latin typeface="Calibri" panose="020F0502020204030204" pitchFamily="34" charset="0"/>
              </a:rPr>
              <a:t> klicken und mit dem Microsoft-Konto anmelden. Die Firefox-Berechtigung erlauben.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BACCC585-E93D-F333-41AE-0DCB615E8300}"/>
              </a:ext>
            </a:extLst>
          </p:cNvPr>
          <p:cNvSpPr/>
          <p:nvPr/>
        </p:nvSpPr>
        <p:spPr>
          <a:xfrm>
            <a:off x="711200" y="4622800"/>
            <a:ext cx="330200" cy="330200"/>
          </a:xfrm>
          <a:prstGeom prst="ellipse">
            <a:avLst/>
          </a:prstGeom>
          <a:solidFill>
            <a:srgbClr val="C9A9E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de-CH" sz="1200" b="1">
                <a:solidFill>
                  <a:srgbClr val="1F1F1F"/>
                </a:solidFill>
                <a:latin typeface="Segoe UI Symbol" panose="020B0502040204020203" pitchFamily="34" charset="0"/>
              </a:rPr>
              <a:t>3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9A3B903-7631-E201-5BF9-CBC368FB37DF}"/>
              </a:ext>
            </a:extLst>
          </p:cNvPr>
          <p:cNvSpPr txBox="1"/>
          <p:nvPr/>
        </p:nvSpPr>
        <p:spPr>
          <a:xfrm>
            <a:off x="1193800" y="4648200"/>
            <a:ext cx="3810000" cy="149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lang="de-DE" sz="1400" b="1">
                <a:solidFill>
                  <a:srgbClr val="1F1F1F"/>
                </a:solidFill>
                <a:latin typeface="Calibri" panose="020F0502020204030204" pitchFamily="34" charset="0"/>
              </a:rPr>
              <a:t>Eigenes Sheet (falls nötig)</a:t>
            </a:r>
          </a:p>
          <a:p>
            <a:r>
              <a:rPr lang="de-DE" sz="1200">
                <a:solidFill>
                  <a:srgbClr val="404040"/>
                </a:solidFill>
                <a:latin typeface="Calibri" panose="020F0502020204030204" pitchFamily="34" charset="0"/>
              </a:rPr>
              <a:t>Im Excel ein bestehendes Sheet kopieren, umbenennen (z. B. «VornameStempel») und die Zeilen leeren.</a:t>
            </a:r>
            <a:endParaRPr lang="de-CH" sz="1200">
              <a:solidFill>
                <a:srgbClr val="404040"/>
              </a:solidFill>
              <a:latin typeface="Calibri" panose="020F0502020204030204" pitchFamily="34" charset="0"/>
            </a:endParaRP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B1B36BBF-3D5B-4511-8CEA-E7F69E56440E}"/>
              </a:ext>
            </a:extLst>
          </p:cNvPr>
          <p:cNvSpPr/>
          <p:nvPr/>
        </p:nvSpPr>
        <p:spPr>
          <a:xfrm>
            <a:off x="5207000" y="1676400"/>
            <a:ext cx="330200" cy="330200"/>
          </a:xfrm>
          <a:prstGeom prst="ellipse">
            <a:avLst/>
          </a:prstGeom>
          <a:solidFill>
            <a:srgbClr val="C9A9E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de-CH" sz="1200" b="1">
                <a:solidFill>
                  <a:srgbClr val="1F1F1F"/>
                </a:solidFill>
                <a:latin typeface="Segoe UI Symbol" panose="020B0502040204020203" pitchFamily="34" charset="0"/>
              </a:rPr>
              <a:t>4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598D2B3-CC1B-6BF9-E296-CB7E80775890}"/>
              </a:ext>
            </a:extLst>
          </p:cNvPr>
          <p:cNvSpPr txBox="1"/>
          <p:nvPr/>
        </p:nvSpPr>
        <p:spPr>
          <a:xfrm>
            <a:off x="5689600" y="1701800"/>
            <a:ext cx="3810000" cy="149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lang="de-CH" sz="1400" b="1">
                <a:solidFill>
                  <a:srgbClr val="1F1F1F"/>
                </a:solidFill>
                <a:latin typeface="Calibri" panose="020F0502020204030204" pitchFamily="34" charset="0"/>
              </a:rPr>
              <a:t>Excel verbinden</a:t>
            </a:r>
          </a:p>
          <a:p>
            <a:r>
              <a:rPr lang="de-CH" sz="1200">
                <a:solidFill>
                  <a:srgbClr val="404040"/>
                </a:solidFill>
                <a:latin typeface="Calibri" panose="020F0502020204030204" pitchFamily="34" charset="0"/>
              </a:rPr>
              <a:t>Im Excel: </a:t>
            </a:r>
            <a:r>
              <a:rPr lang="de-CH" sz="1200" b="1">
                <a:solidFill>
                  <a:srgbClr val="404040"/>
                </a:solidFill>
                <a:latin typeface="Calibri" panose="020F0502020204030204" pitchFamily="34" charset="0"/>
              </a:rPr>
              <a:t>Share → Copy link</a:t>
            </a:r>
            <a:r>
              <a:rPr lang="de-CH" sz="1200">
                <a:solidFill>
                  <a:srgbClr val="404040"/>
                </a:solidFill>
                <a:latin typeface="Calibri" panose="020F0502020204030204" pitchFamily="34" charset="0"/>
              </a:rPr>
              <a:t>. Den Link unter </a:t>
            </a:r>
            <a:r>
              <a:rPr lang="de-CH" sz="1200" b="1">
                <a:solidFill>
                  <a:srgbClr val="404040"/>
                </a:solidFill>
                <a:latin typeface="Calibri" panose="020F0502020204030204" pitchFamily="34" charset="0"/>
              </a:rPr>
              <a:t>Excel file</a:t>
            </a:r>
            <a:r>
              <a:rPr lang="de-CH" sz="1200">
                <a:solidFill>
                  <a:srgbClr val="404040"/>
                </a:solidFill>
                <a:latin typeface="Calibri" panose="020F0502020204030204" pitchFamily="34" charset="0"/>
              </a:rPr>
              <a:t> einfügen und </a:t>
            </a:r>
            <a:r>
              <a:rPr lang="de-CH" sz="1200" b="1">
                <a:solidFill>
                  <a:srgbClr val="404040"/>
                </a:solidFill>
                <a:latin typeface="Calibri" panose="020F0502020204030204" pitchFamily="34" charset="0"/>
              </a:rPr>
              <a:t>Connect</a:t>
            </a:r>
            <a:r>
              <a:rPr lang="de-CH" sz="1200">
                <a:solidFill>
                  <a:srgbClr val="404040"/>
                </a:solidFill>
                <a:latin typeface="Calibri" panose="020F0502020204030204" pitchFamily="34" charset="0"/>
              </a:rPr>
              <a:t> klicken.</a:t>
            </a: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5965E171-A959-3680-961F-7EA65829CA9B}"/>
              </a:ext>
            </a:extLst>
          </p:cNvPr>
          <p:cNvSpPr/>
          <p:nvPr/>
        </p:nvSpPr>
        <p:spPr>
          <a:xfrm>
            <a:off x="5207000" y="3149600"/>
            <a:ext cx="330200" cy="330200"/>
          </a:xfrm>
          <a:prstGeom prst="ellipse">
            <a:avLst/>
          </a:prstGeom>
          <a:solidFill>
            <a:srgbClr val="F4C20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de-CH" sz="1200" b="1">
                <a:solidFill>
                  <a:srgbClr val="1F1F1F"/>
                </a:solidFill>
                <a:latin typeface="Segoe UI Symbol" panose="020B0502040204020203" pitchFamily="34" charset="0"/>
              </a:rPr>
              <a:t>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7589DF3-583C-69C0-F7BB-32F439553834}"/>
              </a:ext>
            </a:extLst>
          </p:cNvPr>
          <p:cNvSpPr txBox="1"/>
          <p:nvPr/>
        </p:nvSpPr>
        <p:spPr>
          <a:xfrm>
            <a:off x="5689600" y="3175000"/>
            <a:ext cx="3810000" cy="149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lang="de-DE" sz="1400" b="1">
                <a:solidFill>
                  <a:srgbClr val="1F1F1F"/>
                </a:solidFill>
                <a:latin typeface="Calibri" panose="020F0502020204030204" pitchFamily="34" charset="0"/>
              </a:rPr>
              <a:t>Dein Sheet auswählen</a:t>
            </a:r>
          </a:p>
          <a:p>
            <a:r>
              <a:rPr lang="de-DE" sz="1200" dirty="0">
                <a:solidFill>
                  <a:srgbClr val="404040"/>
                </a:solidFill>
                <a:latin typeface="Calibri" panose="020F0502020204030204" pitchFamily="34" charset="0"/>
              </a:rPr>
              <a:t>Unter </a:t>
            </a:r>
            <a:r>
              <a:rPr lang="de-DE" sz="1200" b="1" dirty="0" err="1">
                <a:solidFill>
                  <a:srgbClr val="404040"/>
                </a:solidFill>
                <a:latin typeface="Calibri" panose="020F0502020204030204" pitchFamily="34" charset="0"/>
              </a:rPr>
              <a:t>Your</a:t>
            </a:r>
            <a:r>
              <a:rPr lang="de-DE" sz="1200" b="1" dirty="0">
                <a:solidFill>
                  <a:srgbClr val="404040"/>
                </a:solidFill>
                <a:latin typeface="Calibri" panose="020F0502020204030204" pitchFamily="34" charset="0"/>
              </a:rPr>
              <a:t> </a:t>
            </a:r>
            <a:r>
              <a:rPr lang="de-DE" sz="1200" b="1" dirty="0" err="1">
                <a:solidFill>
                  <a:srgbClr val="404040"/>
                </a:solidFill>
                <a:latin typeface="Calibri" panose="020F0502020204030204" pitchFamily="34" charset="0"/>
              </a:rPr>
              <a:t>sheet</a:t>
            </a:r>
            <a:r>
              <a:rPr lang="de-DE" sz="1200" dirty="0">
                <a:solidFill>
                  <a:srgbClr val="404040"/>
                </a:solidFill>
                <a:latin typeface="Calibri" panose="020F0502020204030204" pitchFamily="34" charset="0"/>
              </a:rPr>
              <a:t> </a:t>
            </a:r>
            <a:r>
              <a:rPr kumimoji="0" lang="de-DE" sz="1200" b="0" i="0" u="none" strike="noStrike" kern="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highlight>
                  <a:srgbClr val="FFF200"/>
                </a:highlight>
                <a:uLnTx/>
                <a:uFillTx/>
                <a:latin typeface="Calibri" panose="020F0502020204030204" pitchFamily="34" charset="0"/>
              </a:rPr>
              <a:t>unbedingt das eigene Sheet wählen</a:t>
            </a:r>
            <a:r>
              <a:rPr lang="de-DE" sz="1200" dirty="0">
                <a:solidFill>
                  <a:srgbClr val="404040"/>
                </a:solidFill>
                <a:latin typeface="Calibri" panose="020F0502020204030204" pitchFamily="34" charset="0"/>
              </a:rPr>
              <a:t>, sonst landen die Zeiten bei jemand anderem. Mit </a:t>
            </a:r>
            <a:r>
              <a:rPr lang="de-DE" sz="1200" b="1" dirty="0">
                <a:solidFill>
                  <a:srgbClr val="404040"/>
                </a:solidFill>
                <a:latin typeface="Calibri" panose="020F0502020204030204" pitchFamily="34" charset="0"/>
              </a:rPr>
              <a:t>Test</a:t>
            </a:r>
            <a:r>
              <a:rPr lang="de-DE" sz="1200" dirty="0">
                <a:solidFill>
                  <a:srgbClr val="404040"/>
                </a:solidFill>
                <a:latin typeface="Calibri" panose="020F0502020204030204" pitchFamily="34" charset="0"/>
              </a:rPr>
              <a:t> prüfen.</a:t>
            </a:r>
            <a:endParaRPr lang="de-CH" sz="1200" dirty="0">
              <a:solidFill>
                <a:srgbClr val="404040"/>
              </a:solidFill>
              <a:latin typeface="Calibri" panose="020F0502020204030204" pitchFamily="3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C24683E-4509-D79F-0BC9-E93395A3F62B}"/>
              </a:ext>
            </a:extLst>
          </p:cNvPr>
          <p:cNvSpPr txBox="1"/>
          <p:nvPr/>
        </p:nvSpPr>
        <p:spPr>
          <a:xfrm>
            <a:off x="7594600" y="3187700"/>
            <a:ext cx="508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de-CH" sz="1400">
                <a:solidFill>
                  <a:srgbClr val="D4A20A"/>
                </a:solidFill>
                <a:latin typeface="Segoe UI Symbol" panose="020B0502040204020203" pitchFamily="34" charset="0"/>
              </a:rPr>
              <a:t>★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3CD2BD44-BEB2-D477-8B39-EB6556FE524A}"/>
              </a:ext>
            </a:extLst>
          </p:cNvPr>
          <p:cNvSpPr/>
          <p:nvPr/>
        </p:nvSpPr>
        <p:spPr>
          <a:xfrm>
            <a:off x="5207000" y="4622800"/>
            <a:ext cx="330200" cy="330200"/>
          </a:xfrm>
          <a:prstGeom prst="ellipse">
            <a:avLst/>
          </a:prstGeom>
          <a:solidFill>
            <a:srgbClr val="C9A9E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de-CH" sz="1200" b="1">
                <a:solidFill>
                  <a:srgbClr val="1F1F1F"/>
                </a:solidFill>
                <a:latin typeface="Segoe UI Symbol" panose="020B0502040204020203" pitchFamily="34" charset="0"/>
              </a:rPr>
              <a:t>6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8B478FB-BDE8-FAA7-6632-59929B45A127}"/>
              </a:ext>
            </a:extLst>
          </p:cNvPr>
          <p:cNvSpPr txBox="1"/>
          <p:nvPr/>
        </p:nvSpPr>
        <p:spPr>
          <a:xfrm>
            <a:off x="5689600" y="4648200"/>
            <a:ext cx="3810000" cy="149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lang="de-DE" sz="1400" b="1">
                <a:solidFill>
                  <a:srgbClr val="1F1F1F"/>
                </a:solidFill>
                <a:latin typeface="Calibri" panose="020F0502020204030204" pitchFamily="34" charset="0"/>
              </a:rPr>
              <a:t>Modus wählen</a:t>
            </a:r>
          </a:p>
          <a:p>
            <a:r>
              <a:rPr lang="de-DE" sz="1200">
                <a:solidFill>
                  <a:srgbClr val="404040"/>
                </a:solidFill>
                <a:latin typeface="Calibri" panose="020F0502020204030204" pitchFamily="34" charset="0"/>
              </a:rPr>
              <a:t>Normal (Mittag selbst stempeln) oder Azubi (fixe Pause 12:15–12:45), dann </a:t>
            </a:r>
            <a:r>
              <a:rPr lang="de-DE" sz="1200" b="1">
                <a:solidFill>
                  <a:srgbClr val="404040"/>
                </a:solidFill>
                <a:latin typeface="Calibri" panose="020F0502020204030204" pitchFamily="34" charset="0"/>
              </a:rPr>
              <a:t>Save</a:t>
            </a:r>
            <a:r>
              <a:rPr lang="de-DE" sz="1200">
                <a:solidFill>
                  <a:srgbClr val="404040"/>
                </a:solidFill>
                <a:latin typeface="Calibri" panose="020F0502020204030204" pitchFamily="34" charset="0"/>
              </a:rPr>
              <a:t>.</a:t>
            </a:r>
            <a:endParaRPr lang="de-CH" sz="1200">
              <a:solidFill>
                <a:srgbClr val="40404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72705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B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Top Corners Rounded 1">
            <a:extLst>
              <a:ext uri="{FF2B5EF4-FFF2-40B4-BE49-F238E27FC236}">
                <a16:creationId xmlns:a16="http://schemas.microsoft.com/office/drawing/2014/main" id="{5C79428D-4A8D-DDFD-9EE6-3D7987D842C0}"/>
              </a:ext>
            </a:extLst>
          </p:cNvPr>
          <p:cNvSpPr/>
          <p:nvPr/>
        </p:nvSpPr>
        <p:spPr>
          <a:xfrm>
            <a:off x="304800" y="190500"/>
            <a:ext cx="1050290" cy="304800"/>
          </a:xfrm>
          <a:prstGeom prst="round2SameRect">
            <a:avLst>
              <a:gd name="adj1" fmla="val 28000"/>
              <a:gd name="adj2" fmla="val 0"/>
            </a:avLst>
          </a:prstGeom>
          <a:solidFill>
            <a:srgbClr val="8DB4E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0" rIns="50800" bIns="0" rtlCol="0" anchor="ctr"/>
          <a:lstStyle/>
          <a:p>
            <a:pPr algn="ctr"/>
            <a:r>
              <a:rPr lang="de-CH" sz="1050">
                <a:solidFill>
                  <a:srgbClr val="3B3B3B"/>
                </a:solidFill>
                <a:latin typeface="Calibri" panose="020F0502020204030204" pitchFamily="34" charset="0"/>
              </a:rPr>
              <a:t>Überblick</a:t>
            </a:r>
          </a:p>
        </p:txBody>
      </p:sp>
      <p:sp>
        <p:nvSpPr>
          <p:cNvPr id="3" name="Rectangle: Top Corners Rounded 2">
            <a:extLst>
              <a:ext uri="{FF2B5EF4-FFF2-40B4-BE49-F238E27FC236}">
                <a16:creationId xmlns:a16="http://schemas.microsoft.com/office/drawing/2014/main" id="{81E0EBF8-1B2D-F3C1-1583-7B7BDDF4799A}"/>
              </a:ext>
            </a:extLst>
          </p:cNvPr>
          <p:cNvSpPr/>
          <p:nvPr/>
        </p:nvSpPr>
        <p:spPr>
          <a:xfrm>
            <a:off x="1393190" y="190500"/>
            <a:ext cx="890270" cy="304800"/>
          </a:xfrm>
          <a:prstGeom prst="round2SameRect">
            <a:avLst>
              <a:gd name="adj1" fmla="val 28000"/>
              <a:gd name="adj2" fmla="val 0"/>
            </a:avLst>
          </a:prstGeom>
          <a:solidFill>
            <a:srgbClr val="F4B18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0" rIns="50800" bIns="0" rtlCol="0" anchor="ctr"/>
          <a:lstStyle/>
          <a:p>
            <a:pPr algn="ctr"/>
            <a:r>
              <a:rPr lang="de-CH" sz="1050">
                <a:solidFill>
                  <a:srgbClr val="3B3B3B"/>
                </a:solidFill>
                <a:latin typeface="Calibri" panose="020F0502020204030204" pitchFamily="34" charset="0"/>
              </a:rPr>
              <a:t>Technik</a:t>
            </a:r>
          </a:p>
        </p:txBody>
      </p:sp>
      <p:sp>
        <p:nvSpPr>
          <p:cNvPr id="4" name="Rectangle: Top Corners Rounded 3">
            <a:extLst>
              <a:ext uri="{FF2B5EF4-FFF2-40B4-BE49-F238E27FC236}">
                <a16:creationId xmlns:a16="http://schemas.microsoft.com/office/drawing/2014/main" id="{95A47A6F-A188-0460-1815-77FE83BD024C}"/>
              </a:ext>
            </a:extLst>
          </p:cNvPr>
          <p:cNvSpPr/>
          <p:nvPr/>
        </p:nvSpPr>
        <p:spPr>
          <a:xfrm>
            <a:off x="2321560" y="190500"/>
            <a:ext cx="1130300" cy="304800"/>
          </a:xfrm>
          <a:prstGeom prst="round2SameRect">
            <a:avLst>
              <a:gd name="adj1" fmla="val 28000"/>
              <a:gd name="adj2" fmla="val 0"/>
            </a:avLst>
          </a:prstGeom>
          <a:solidFill>
            <a:srgbClr val="A9D18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0" rIns="50800" bIns="0" rtlCol="0" anchor="ctr"/>
          <a:lstStyle/>
          <a:p>
            <a:pPr algn="ctr"/>
            <a:r>
              <a:rPr lang="de-CH" sz="1050">
                <a:solidFill>
                  <a:srgbClr val="3B3B3B"/>
                </a:solidFill>
                <a:latin typeface="Calibri" panose="020F0502020204030204" pitchFamily="34" charset="0"/>
              </a:rPr>
              <a:t>Funktionen</a:t>
            </a:r>
          </a:p>
        </p:txBody>
      </p:sp>
      <p:sp>
        <p:nvSpPr>
          <p:cNvPr id="5" name="Rectangle: Top Corners Rounded 4">
            <a:extLst>
              <a:ext uri="{FF2B5EF4-FFF2-40B4-BE49-F238E27FC236}">
                <a16:creationId xmlns:a16="http://schemas.microsoft.com/office/drawing/2014/main" id="{EE186BC4-28D0-CDC1-8FBA-C4CC23AA65F6}"/>
              </a:ext>
            </a:extLst>
          </p:cNvPr>
          <p:cNvSpPr/>
          <p:nvPr/>
        </p:nvSpPr>
        <p:spPr>
          <a:xfrm>
            <a:off x="3489960" y="190500"/>
            <a:ext cx="1290320" cy="304800"/>
          </a:xfrm>
          <a:prstGeom prst="round2SameRect">
            <a:avLst>
              <a:gd name="adj1" fmla="val 28000"/>
              <a:gd name="adj2" fmla="val 0"/>
            </a:avLst>
          </a:prstGeom>
          <a:solidFill>
            <a:srgbClr val="C9A9E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0" rIns="50800" bIns="0" rtlCol="0" anchor="ctr"/>
          <a:lstStyle/>
          <a:p>
            <a:pPr algn="ctr"/>
            <a:r>
              <a:rPr lang="de-CH" sz="1050">
                <a:solidFill>
                  <a:srgbClr val="3B3B3B"/>
                </a:solidFill>
                <a:latin typeface="Calibri" panose="020F0502020204030204" pitchFamily="34" charset="0"/>
              </a:rPr>
              <a:t>Installation</a:t>
            </a:r>
          </a:p>
        </p:txBody>
      </p:sp>
      <p:sp>
        <p:nvSpPr>
          <p:cNvPr id="6" name="Rectangle: Top Corners Rounded 5">
            <a:extLst>
              <a:ext uri="{FF2B5EF4-FFF2-40B4-BE49-F238E27FC236}">
                <a16:creationId xmlns:a16="http://schemas.microsoft.com/office/drawing/2014/main" id="{D24AAA37-78BE-0095-33EE-927930B0F0F7}"/>
              </a:ext>
            </a:extLst>
          </p:cNvPr>
          <p:cNvSpPr/>
          <p:nvPr/>
        </p:nvSpPr>
        <p:spPr>
          <a:xfrm>
            <a:off x="5586730" y="190500"/>
            <a:ext cx="730250" cy="304800"/>
          </a:xfrm>
          <a:prstGeom prst="round2SameRect">
            <a:avLst>
              <a:gd name="adj1" fmla="val 28000"/>
              <a:gd name="adj2" fmla="val 0"/>
            </a:avLst>
          </a:prstGeom>
          <a:solidFill>
            <a:srgbClr val="8FD3C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0" rIns="50800" bIns="0" rtlCol="0" anchor="ctr"/>
          <a:lstStyle/>
          <a:p>
            <a:pPr algn="ctr"/>
            <a:r>
              <a:rPr lang="de-CH" sz="1050">
                <a:solidFill>
                  <a:srgbClr val="3B3B3B"/>
                </a:solidFill>
                <a:latin typeface="Calibri" panose="020F0502020204030204" pitchFamily="34" charset="0"/>
              </a:rPr>
              <a:t>Tipps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85F3D99-9B58-D5EA-B23E-6305089C60CF}"/>
              </a:ext>
            </a:extLst>
          </p:cNvPr>
          <p:cNvSpPr/>
          <p:nvPr/>
        </p:nvSpPr>
        <p:spPr>
          <a:xfrm>
            <a:off x="304800" y="482600"/>
            <a:ext cx="11582400" cy="6197600"/>
          </a:xfrm>
          <a:prstGeom prst="rect">
            <a:avLst/>
          </a:prstGeom>
          <a:solidFill>
            <a:srgbClr val="FFFFFF"/>
          </a:solidFill>
          <a:ln w="19050">
            <a:solidFill>
              <a:srgbClr val="F4A6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8" name="Rectangle: Top Corners Rounded 7">
            <a:extLst>
              <a:ext uri="{FF2B5EF4-FFF2-40B4-BE49-F238E27FC236}">
                <a16:creationId xmlns:a16="http://schemas.microsoft.com/office/drawing/2014/main" id="{7AA72446-BA48-6A98-FA96-4611E77D2710}"/>
              </a:ext>
            </a:extLst>
          </p:cNvPr>
          <p:cNvSpPr/>
          <p:nvPr/>
        </p:nvSpPr>
        <p:spPr>
          <a:xfrm>
            <a:off x="4818380" y="114300"/>
            <a:ext cx="730250" cy="393700"/>
          </a:xfrm>
          <a:prstGeom prst="round2SameRect">
            <a:avLst>
              <a:gd name="adj1" fmla="val 28000"/>
              <a:gd name="adj2" fmla="val 0"/>
            </a:avLst>
          </a:prstGeom>
          <a:solidFill>
            <a:srgbClr val="F4A6B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0" rIns="50800" bIns="0" rtlCol="0" anchor="ctr"/>
          <a:lstStyle/>
          <a:p>
            <a:pPr algn="ctr"/>
            <a:r>
              <a:rPr lang="de-CH" sz="1100" b="1">
                <a:solidFill>
                  <a:srgbClr val="1F1F1F"/>
                </a:solidFill>
                <a:latin typeface="Calibri" panose="020F0502020204030204" pitchFamily="34" charset="0"/>
              </a:rPr>
              <a:t>Teams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274CEA4-22AC-E56A-45B1-5A2BD52FDBF3}"/>
              </a:ext>
            </a:extLst>
          </p:cNvPr>
          <p:cNvSpPr/>
          <p:nvPr/>
        </p:nvSpPr>
        <p:spPr>
          <a:xfrm>
            <a:off x="9864725" y="492125"/>
            <a:ext cx="2012950" cy="6178550"/>
          </a:xfrm>
          <a:prstGeom prst="rect">
            <a:avLst/>
          </a:prstGeom>
          <a:solidFill>
            <a:srgbClr val="FDF3F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AED8A8A-5D48-C6EE-6C3B-DA65AF385118}"/>
              </a:ext>
            </a:extLst>
          </p:cNvPr>
          <p:cNvSpPr txBox="1"/>
          <p:nvPr/>
        </p:nvSpPr>
        <p:spPr>
          <a:xfrm>
            <a:off x="10007600" y="609600"/>
            <a:ext cx="1778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de-CH" sz="950">
                <a:solidFill>
                  <a:srgbClr val="6E6E6E"/>
                </a:solidFill>
                <a:latin typeface="Calibri" panose="020F0502020204030204" pitchFamily="34" charset="0"/>
              </a:rPr>
              <a:t>+  Seite hinzufügen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52FA843-252E-A882-04D0-738893E9734B}"/>
              </a:ext>
            </a:extLst>
          </p:cNvPr>
          <p:cNvSpPr txBox="1"/>
          <p:nvPr/>
        </p:nvSpPr>
        <p:spPr>
          <a:xfrm>
            <a:off x="10007600" y="889000"/>
            <a:ext cx="1778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de-CH" sz="1050">
                <a:solidFill>
                  <a:srgbClr val="262626"/>
                </a:solidFill>
                <a:latin typeface="Calibri" panose="020F0502020204030204" pitchFamily="34" charset="0"/>
              </a:rPr>
              <a:t>Time Entry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9029F55-98DF-9C65-CD6F-609578446B1B}"/>
              </a:ext>
            </a:extLst>
          </p:cNvPr>
          <p:cNvSpPr txBox="1"/>
          <p:nvPr/>
        </p:nvSpPr>
        <p:spPr>
          <a:xfrm>
            <a:off x="10007600" y="1193800"/>
            <a:ext cx="1778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de-CH" sz="1050">
                <a:solidFill>
                  <a:srgbClr val="262626"/>
                </a:solidFill>
                <a:latin typeface="Calibri" panose="020F0502020204030204" pitchFamily="34" charset="0"/>
              </a:rPr>
              <a:t>Überblick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71CC86A-EF83-CAE7-721F-96C80614636F}"/>
              </a:ext>
            </a:extLst>
          </p:cNvPr>
          <p:cNvSpPr txBox="1"/>
          <p:nvPr/>
        </p:nvSpPr>
        <p:spPr>
          <a:xfrm>
            <a:off x="10007600" y="1498600"/>
            <a:ext cx="1778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de-CH" sz="1050">
                <a:solidFill>
                  <a:srgbClr val="262626"/>
                </a:solidFill>
                <a:latin typeface="Calibri" panose="020F0502020204030204" pitchFamily="34" charset="0"/>
              </a:rPr>
              <a:t>Architektur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3425B64-22CB-9B7A-C056-8EF3B5930211}"/>
              </a:ext>
            </a:extLst>
          </p:cNvPr>
          <p:cNvSpPr txBox="1"/>
          <p:nvPr/>
        </p:nvSpPr>
        <p:spPr>
          <a:xfrm>
            <a:off x="10007600" y="1803400"/>
            <a:ext cx="1778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de-CH" sz="1050">
                <a:solidFill>
                  <a:srgbClr val="262626"/>
                </a:solidFill>
                <a:latin typeface="Calibri" panose="020F0502020204030204" pitchFamily="34" charset="0"/>
              </a:rPr>
              <a:t>Sicherheit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73C79FE-9D0A-8862-6C5F-AEAE33101E1C}"/>
              </a:ext>
            </a:extLst>
          </p:cNvPr>
          <p:cNvSpPr txBox="1"/>
          <p:nvPr/>
        </p:nvSpPr>
        <p:spPr>
          <a:xfrm>
            <a:off x="10007600" y="2108200"/>
            <a:ext cx="1778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de-CH" sz="1050">
                <a:solidFill>
                  <a:srgbClr val="262626"/>
                </a:solidFill>
                <a:latin typeface="Calibri" panose="020F0502020204030204" pitchFamily="34" charset="0"/>
              </a:rPr>
              <a:t>Stempeln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9B15D19-8C0A-978A-205A-A642E5D9B59E}"/>
              </a:ext>
            </a:extLst>
          </p:cNvPr>
          <p:cNvSpPr txBox="1"/>
          <p:nvPr/>
        </p:nvSpPr>
        <p:spPr>
          <a:xfrm>
            <a:off x="10007600" y="2413000"/>
            <a:ext cx="1778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de-CH" sz="1050">
                <a:solidFill>
                  <a:srgbClr val="262626"/>
                </a:solidFill>
                <a:latin typeface="Calibri" panose="020F0502020204030204" pitchFamily="34" charset="0"/>
              </a:rPr>
              <a:t>Excel-Zuordnung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7B9ABC8-12DC-1F2A-9562-2DA0B84C21A2}"/>
              </a:ext>
            </a:extLst>
          </p:cNvPr>
          <p:cNvSpPr txBox="1"/>
          <p:nvPr/>
        </p:nvSpPr>
        <p:spPr>
          <a:xfrm>
            <a:off x="10007600" y="2717800"/>
            <a:ext cx="1778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de-CH" sz="1050">
                <a:solidFill>
                  <a:srgbClr val="262626"/>
                </a:solidFill>
                <a:latin typeface="Calibri" panose="020F0502020204030204" pitchFamily="34" charset="0"/>
              </a:rPr>
              <a:t>Weitere Funktionen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22A1B53-833A-4E2A-9BE7-D8B44B336C79}"/>
              </a:ext>
            </a:extLst>
          </p:cNvPr>
          <p:cNvSpPr txBox="1"/>
          <p:nvPr/>
        </p:nvSpPr>
        <p:spPr>
          <a:xfrm>
            <a:off x="10007600" y="3022600"/>
            <a:ext cx="1778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de-CH" sz="1050">
                <a:solidFill>
                  <a:srgbClr val="262626"/>
                </a:solidFill>
                <a:latin typeface="Calibri" panose="020F0502020204030204" pitchFamily="34" charset="0"/>
              </a:rPr>
              <a:t>Installation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B629B93-46CB-8F5F-4DE0-D26281ECD7F3}"/>
              </a:ext>
            </a:extLst>
          </p:cNvPr>
          <p:cNvSpPr txBox="1"/>
          <p:nvPr/>
        </p:nvSpPr>
        <p:spPr>
          <a:xfrm>
            <a:off x="10007600" y="3327400"/>
            <a:ext cx="1778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de-CH" sz="1050">
                <a:solidFill>
                  <a:srgbClr val="262626"/>
                </a:solidFill>
                <a:latin typeface="Calibri" panose="020F0502020204030204" pitchFamily="34" charset="0"/>
              </a:rPr>
              <a:t>Einrichtung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A82EF94-D9A9-3723-07C1-2499FC359E1E}"/>
              </a:ext>
            </a:extLst>
          </p:cNvPr>
          <p:cNvSpPr/>
          <p:nvPr/>
        </p:nvSpPr>
        <p:spPr>
          <a:xfrm>
            <a:off x="9864725" y="3581400"/>
            <a:ext cx="2012950" cy="279400"/>
          </a:xfrm>
          <a:prstGeom prst="rect">
            <a:avLst/>
          </a:prstGeom>
          <a:solidFill>
            <a:srgbClr val="FAD2D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59C7DAD-B5FB-F897-F65F-4C376BD6AE7F}"/>
              </a:ext>
            </a:extLst>
          </p:cNvPr>
          <p:cNvSpPr txBox="1"/>
          <p:nvPr/>
        </p:nvSpPr>
        <p:spPr>
          <a:xfrm>
            <a:off x="10007600" y="3632200"/>
            <a:ext cx="1778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de-CH" sz="1050" b="1">
                <a:solidFill>
                  <a:srgbClr val="262626"/>
                </a:solidFill>
                <a:latin typeface="Calibri" panose="020F0502020204030204" pitchFamily="34" charset="0"/>
              </a:rPr>
              <a:t>Teams-Nachrichten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5C7CF8C-214C-16F7-0355-26C70AF08A33}"/>
              </a:ext>
            </a:extLst>
          </p:cNvPr>
          <p:cNvSpPr txBox="1"/>
          <p:nvPr/>
        </p:nvSpPr>
        <p:spPr>
          <a:xfrm>
            <a:off x="10007600" y="3937000"/>
            <a:ext cx="1778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de-CH" sz="1050">
                <a:solidFill>
                  <a:srgbClr val="262626"/>
                </a:solidFill>
                <a:latin typeface="Calibri" panose="020F0502020204030204" pitchFamily="34" charset="0"/>
              </a:rPr>
              <a:t>Tipps &amp; Ausblick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D589905-6781-C4A4-D5DA-C6033B53F631}"/>
              </a:ext>
            </a:extLst>
          </p:cNvPr>
          <p:cNvSpPr txBox="1"/>
          <p:nvPr/>
        </p:nvSpPr>
        <p:spPr>
          <a:xfrm>
            <a:off x="711200" y="635000"/>
            <a:ext cx="8890000" cy="4699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de-CH" sz="2800">
                <a:solidFill>
                  <a:srgbClr val="1F1F1F"/>
                </a:solidFill>
                <a:latin typeface="Calibri Light" panose="020F0302020204030204" pitchFamily="34" charset="0"/>
              </a:rPr>
              <a:t>Teams-Nachrichten (optional)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24810F47-63AC-32AC-A78B-C9C5AFE92AFD}"/>
              </a:ext>
            </a:extLst>
          </p:cNvPr>
          <p:cNvCxnSpPr/>
          <p:nvPr/>
        </p:nvCxnSpPr>
        <p:spPr>
          <a:xfrm>
            <a:off x="711200" y="1130300"/>
            <a:ext cx="4602607" cy="0"/>
          </a:xfrm>
          <a:prstGeom prst="line">
            <a:avLst/>
          </a:prstGeom>
          <a:ln w="9525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6F7B4A53-11E9-845A-C800-1326002E17F4}"/>
              </a:ext>
            </a:extLst>
          </p:cNvPr>
          <p:cNvSpPr txBox="1"/>
          <p:nvPr/>
        </p:nvSpPr>
        <p:spPr>
          <a:xfrm>
            <a:off x="711200" y="1181100"/>
            <a:ext cx="5334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de-CH" sz="950">
                <a:solidFill>
                  <a:srgbClr val="7F7F7F"/>
                </a:solidFill>
                <a:latin typeface="Calibri" panose="020F0502020204030204" pitchFamily="34" charset="0"/>
              </a:rPr>
              <a:t>Donnerstag, 24. September 2026          09:41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A1C25E3B-1FB2-61E2-2581-EC186ACB0531}"/>
              </a:ext>
            </a:extLst>
          </p:cNvPr>
          <p:cNvSpPr/>
          <p:nvPr/>
        </p:nvSpPr>
        <p:spPr>
          <a:xfrm>
            <a:off x="7620000" y="762000"/>
            <a:ext cx="1219200" cy="279400"/>
          </a:xfrm>
          <a:prstGeom prst="roundRect">
            <a:avLst>
              <a:gd name="adj" fmla="val 50000"/>
            </a:avLst>
          </a:prstGeom>
          <a:solidFill>
            <a:srgbClr val="FCE4D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0" rIns="50800" bIns="0" rtlCol="0" anchor="ctr"/>
          <a:lstStyle/>
          <a:p>
            <a:pPr algn="ctr"/>
            <a:r>
              <a:rPr lang="de-CH" sz="1000" b="1">
                <a:solidFill>
                  <a:srgbClr val="843C0C"/>
                </a:solidFill>
                <a:latin typeface="Segoe UI Symbol" panose="020B0502040204020203" pitchFamily="34" charset="0"/>
              </a:rPr>
              <a:t>⚙  In Arbeit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960CE17-2A21-D6CF-D952-93BE8292DF34}"/>
              </a:ext>
            </a:extLst>
          </p:cNvPr>
          <p:cNvSpPr txBox="1"/>
          <p:nvPr/>
        </p:nvSpPr>
        <p:spPr>
          <a:xfrm>
            <a:off x="711200" y="1600200"/>
            <a:ext cx="43180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de-CH" sz="1500" b="1">
                <a:solidFill>
                  <a:srgbClr val="1F1F1F"/>
                </a:solidFill>
                <a:latin typeface="Calibri" panose="020F0502020204030204" pitchFamily="34" charset="0"/>
              </a:rPr>
              <a:t>So funktionieren die Nachrichten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9BBE411-A2C4-DA1F-2D49-CE87E9AB5C2D}"/>
              </a:ext>
            </a:extLst>
          </p:cNvPr>
          <p:cNvSpPr txBox="1"/>
          <p:nvPr/>
        </p:nvSpPr>
        <p:spPr>
          <a:xfrm>
            <a:off x="711200" y="1955800"/>
            <a:ext cx="4318000" cy="3327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165100" indent="-165100">
              <a:spcAft>
                <a:spcPts val="500"/>
              </a:spcAft>
              <a:buFont typeface="+mj-lt"/>
              <a:buChar char="•"/>
            </a:pPr>
            <a:r>
              <a:rPr lang="de-DE" sz="1150">
                <a:solidFill>
                  <a:srgbClr val="404040"/>
                </a:solidFill>
                <a:latin typeface="Calibri" panose="020F0502020204030204" pitchFamily="34" charset="0"/>
              </a:rPr>
              <a:t>Unter </a:t>
            </a:r>
            <a:r>
              <a:rPr lang="de-DE" sz="1150" b="1">
                <a:solidFill>
                  <a:srgbClr val="404040"/>
                </a:solidFill>
                <a:latin typeface="Calibri" panose="020F0502020204030204" pitchFamily="34" charset="0"/>
              </a:rPr>
              <a:t>Teams messages</a:t>
            </a:r>
            <a:r>
              <a:rPr lang="de-DE" sz="1150">
                <a:solidFill>
                  <a:srgbClr val="404040"/>
                </a:solidFill>
                <a:latin typeface="Calibri" panose="020F0502020204030204" pitchFamily="34" charset="0"/>
              </a:rPr>
              <a:t> hat jedes Ereignis ein eigenes Panel (Log in, Start lunch, …).</a:t>
            </a:r>
          </a:p>
          <a:p>
            <a:pPr marL="165100" indent="-165100">
              <a:spcAft>
                <a:spcPts val="500"/>
              </a:spcAft>
              <a:buFont typeface="+mj-lt"/>
              <a:buChar char="•"/>
            </a:pPr>
            <a:r>
              <a:rPr lang="de-DE" sz="1150">
                <a:solidFill>
                  <a:srgbClr val="404040"/>
                </a:solidFill>
                <a:latin typeface="Calibri" panose="020F0502020204030204" pitchFamily="34" charset="0"/>
              </a:rPr>
              <a:t>Eine Nachricht pro Zeile. Bei jedem Stempeln wird zufällig eine gewählt.</a:t>
            </a:r>
          </a:p>
          <a:p>
            <a:pPr marL="165100" indent="-165100">
              <a:spcAft>
                <a:spcPts val="500"/>
              </a:spcAft>
              <a:buFont typeface="+mj-lt"/>
              <a:buChar char="•"/>
            </a:pPr>
            <a:r>
              <a:rPr lang="de-DE" sz="1150">
                <a:solidFill>
                  <a:srgbClr val="404040"/>
                </a:solidFill>
                <a:latin typeface="Calibri" panose="020F0502020204030204" pitchFamily="34" charset="0"/>
              </a:rPr>
              <a:t>Der Vorname kommt automatisch nach vorne, ausser die Zeile enthält </a:t>
            </a:r>
            <a:r>
              <a:rPr lang="de-DE" sz="1050">
                <a:solidFill>
                  <a:srgbClr val="A31515"/>
                </a:solidFill>
                <a:latin typeface="Consolas" panose="020B0609020204030204" pitchFamily="49" charset="0"/>
              </a:rPr>
              <a:t>{name}</a:t>
            </a:r>
            <a:r>
              <a:rPr lang="de-DE" sz="1150">
                <a:solidFill>
                  <a:srgbClr val="404040"/>
                </a:solidFill>
                <a:latin typeface="Calibri" panose="020F0502020204030204" pitchFamily="34" charset="0"/>
              </a:rPr>
              <a:t>. </a:t>
            </a:r>
            <a:r>
              <a:rPr lang="de-DE" sz="1050">
                <a:solidFill>
                  <a:srgbClr val="A31515"/>
                </a:solidFill>
                <a:latin typeface="Consolas" panose="020B0609020204030204" pitchFamily="49" charset="0"/>
              </a:rPr>
              <a:t>{time}</a:t>
            </a:r>
            <a:r>
              <a:rPr lang="de-DE" sz="1150">
                <a:solidFill>
                  <a:srgbClr val="404040"/>
                </a:solidFill>
                <a:latin typeface="Calibri" panose="020F0502020204030204" pitchFamily="34" charset="0"/>
              </a:rPr>
              <a:t> = aktuelle Uhrzeit.</a:t>
            </a:r>
          </a:p>
          <a:p>
            <a:pPr marL="165100" indent="-165100">
              <a:spcAft>
                <a:spcPts val="500"/>
              </a:spcAft>
              <a:buFont typeface="+mj-lt"/>
              <a:buChar char="•"/>
            </a:pPr>
            <a:r>
              <a:rPr lang="de-DE" sz="1150">
                <a:solidFill>
                  <a:srgbClr val="404040"/>
                </a:solidFill>
                <a:latin typeface="Calibri" panose="020F0502020204030204" pitchFamily="34" charset="0"/>
              </a:rPr>
              <a:t>Ein </a:t>
            </a:r>
            <a:r>
              <a:rPr lang="de-DE" sz="1050">
                <a:solidFill>
                  <a:srgbClr val="A31515"/>
                </a:solidFill>
                <a:latin typeface="Consolas" panose="020B0609020204030204" pitchFamily="49" charset="0"/>
              </a:rPr>
              <a:t>createArray(…)</a:t>
            </a:r>
            <a:r>
              <a:rPr lang="de-DE" sz="1150">
                <a:solidFill>
                  <a:srgbClr val="404040"/>
                </a:solidFill>
                <a:latin typeface="Calibri" panose="020F0502020204030204" pitchFamily="34" charset="0"/>
              </a:rPr>
              <a:t> aus Power Automate oder ein JSON-Array kann direkt eingefügt werden und wird in Zeilen aufgeteilt.</a:t>
            </a:r>
          </a:p>
          <a:p>
            <a:pPr marL="165100" indent="-165100">
              <a:spcAft>
                <a:spcPts val="500"/>
              </a:spcAft>
              <a:buFont typeface="+mj-lt"/>
              <a:buChar char="•"/>
            </a:pPr>
            <a:r>
              <a:rPr lang="de-DE" sz="1150" b="1">
                <a:solidFill>
                  <a:srgbClr val="404040"/>
                </a:solidFill>
                <a:latin typeface="Calibri" panose="020F0502020204030204" pitchFamily="34" charset="0"/>
              </a:rPr>
              <a:t>Preview</a:t>
            </a:r>
            <a:r>
              <a:rPr lang="de-DE" sz="1150">
                <a:solidFill>
                  <a:srgbClr val="404040"/>
                </a:solidFill>
                <a:latin typeface="Calibri" panose="020F0502020204030204" pitchFamily="34" charset="0"/>
              </a:rPr>
              <a:t> zeigt eine zufällige Nachricht, </a:t>
            </a:r>
            <a:r>
              <a:rPr lang="de-DE" sz="1150" b="1">
                <a:solidFill>
                  <a:srgbClr val="404040"/>
                </a:solidFill>
                <a:latin typeface="Calibri" panose="020F0502020204030204" pitchFamily="34" charset="0"/>
              </a:rPr>
              <a:t>Reset to defaults</a:t>
            </a:r>
            <a:r>
              <a:rPr lang="de-DE" sz="1150">
                <a:solidFill>
                  <a:srgbClr val="404040"/>
                </a:solidFill>
                <a:latin typeface="Calibri" panose="020F0502020204030204" pitchFamily="34" charset="0"/>
              </a:rPr>
              <a:t> holt die Standardtexte zurück.</a:t>
            </a:r>
          </a:p>
          <a:p>
            <a:pPr marL="165100" indent="-165100">
              <a:spcAft>
                <a:spcPts val="500"/>
              </a:spcAft>
              <a:buFont typeface="+mj-lt"/>
              <a:buChar char="•"/>
            </a:pPr>
            <a:r>
              <a:rPr lang="de-DE" sz="1150">
                <a:solidFill>
                  <a:srgbClr val="404040"/>
                </a:solidFill>
                <a:latin typeface="Calibri" panose="020F0502020204030204" pitchFamily="34" charset="0"/>
              </a:rPr>
              <a:t>Leeres Panel = keine Nachricht. Am Schluss </a:t>
            </a:r>
            <a:r>
              <a:rPr lang="de-DE" sz="1150" b="1">
                <a:solidFill>
                  <a:srgbClr val="404040"/>
                </a:solidFill>
                <a:latin typeface="Calibri" panose="020F0502020204030204" pitchFamily="34" charset="0"/>
              </a:rPr>
              <a:t>Save</a:t>
            </a:r>
            <a:r>
              <a:rPr lang="de-DE" sz="1150">
                <a:solidFill>
                  <a:srgbClr val="404040"/>
                </a:solidFill>
                <a:latin typeface="Calibri" panose="020F0502020204030204" pitchFamily="34" charset="0"/>
              </a:rPr>
              <a:t> klicken.</a:t>
            </a:r>
            <a:endParaRPr lang="de-CH" sz="1150">
              <a:solidFill>
                <a:srgbClr val="404040"/>
              </a:solidFill>
              <a:latin typeface="Calibri" panose="020F0502020204030204" pitchFamily="34" charset="0"/>
            </a:endParaRP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6F2B31A4-1484-0693-EDA0-6842BCF3D872}"/>
              </a:ext>
            </a:extLst>
          </p:cNvPr>
          <p:cNvSpPr/>
          <p:nvPr/>
        </p:nvSpPr>
        <p:spPr>
          <a:xfrm>
            <a:off x="5334000" y="1625600"/>
            <a:ext cx="4216400" cy="73660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43BEBDD-1ED2-1B97-E277-D430D7159A09}"/>
              </a:ext>
            </a:extLst>
          </p:cNvPr>
          <p:cNvSpPr txBox="1"/>
          <p:nvPr/>
        </p:nvSpPr>
        <p:spPr>
          <a:xfrm>
            <a:off x="5486400" y="1727200"/>
            <a:ext cx="39370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de-DE" sz="950">
                <a:solidFill>
                  <a:srgbClr val="A31515"/>
                </a:solidFill>
                <a:latin typeface="Consolas" panose="020B0609020204030204" pitchFamily="49" charset="0"/>
              </a:rPr>
              <a:t>createArray('flitzt nach Hause und fliegt im Flight Sim', 'düst nach Hause und färbt sich die Haare', …)[rand(0,9)]</a:t>
            </a:r>
            <a:endParaRPr lang="de-CH" sz="950">
              <a:solidFill>
                <a:srgbClr val="A31515"/>
              </a:solidFill>
              <a:latin typeface="Consolas" panose="020B0609020204030204" pitchFamily="49" charset="0"/>
            </a:endParaRPr>
          </a:p>
        </p:txBody>
      </p:sp>
      <p:sp>
        <p:nvSpPr>
          <p:cNvPr id="31" name="Arrow: Down 30">
            <a:extLst>
              <a:ext uri="{FF2B5EF4-FFF2-40B4-BE49-F238E27FC236}">
                <a16:creationId xmlns:a16="http://schemas.microsoft.com/office/drawing/2014/main" id="{37EB6446-A682-B5E6-78BE-C69619B1906C}"/>
              </a:ext>
            </a:extLst>
          </p:cNvPr>
          <p:cNvSpPr/>
          <p:nvPr/>
        </p:nvSpPr>
        <p:spPr>
          <a:xfrm>
            <a:off x="7289800" y="2438400"/>
            <a:ext cx="279400" cy="254000"/>
          </a:xfrm>
          <a:prstGeom prst="downArrow">
            <a:avLst/>
          </a:prstGeom>
          <a:solidFill>
            <a:srgbClr val="F4A6B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A34F2C97-D313-12DD-02FF-C82D287B3A17}"/>
              </a:ext>
            </a:extLst>
          </p:cNvPr>
          <p:cNvSpPr/>
          <p:nvPr/>
        </p:nvSpPr>
        <p:spPr>
          <a:xfrm>
            <a:off x="5334000" y="2768600"/>
            <a:ext cx="4216400" cy="736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0D0D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20E2C05-602F-8315-608F-D2FE50394245}"/>
              </a:ext>
            </a:extLst>
          </p:cNvPr>
          <p:cNvSpPr txBox="1"/>
          <p:nvPr/>
        </p:nvSpPr>
        <p:spPr>
          <a:xfrm>
            <a:off x="5486400" y="2870200"/>
            <a:ext cx="39370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de-DE" sz="950">
                <a:solidFill>
                  <a:srgbClr val="262626"/>
                </a:solidFill>
                <a:latin typeface="Consolas" panose="020B0609020204030204" pitchFamily="49" charset="0"/>
              </a:rPr>
              <a:t>flitzt nach Hause und fliegt im Flight Sim</a:t>
            </a:r>
          </a:p>
          <a:p>
            <a:r>
              <a:rPr lang="de-DE" sz="950">
                <a:solidFill>
                  <a:srgbClr val="262626"/>
                </a:solidFill>
                <a:latin typeface="Consolas" panose="020B0609020204030204" pitchFamily="49" charset="0"/>
              </a:rPr>
              <a:t>düst nach Hause und färbt sich die Haare</a:t>
            </a:r>
          </a:p>
          <a:p>
            <a:r>
              <a:rPr lang="de-DE" sz="950">
                <a:solidFill>
                  <a:srgbClr val="262626"/>
                </a:solidFill>
                <a:latin typeface="Consolas" panose="020B0609020204030204" pitchFamily="49" charset="0"/>
              </a:rPr>
              <a:t>…</a:t>
            </a:r>
            <a:endParaRPr lang="de-CH" sz="950">
              <a:solidFill>
                <a:srgbClr val="262626"/>
              </a:solidFill>
              <a:latin typeface="Consolas" panose="020B0609020204030204" pitchFamily="49" charset="0"/>
            </a:endParaRPr>
          </a:p>
        </p:txBody>
      </p:sp>
      <p:sp>
        <p:nvSpPr>
          <p:cNvPr id="34" name="Arrow: Down 33">
            <a:extLst>
              <a:ext uri="{FF2B5EF4-FFF2-40B4-BE49-F238E27FC236}">
                <a16:creationId xmlns:a16="http://schemas.microsoft.com/office/drawing/2014/main" id="{02B8A1E6-DEC9-CFB4-8BA5-506A535909B6}"/>
              </a:ext>
            </a:extLst>
          </p:cNvPr>
          <p:cNvSpPr/>
          <p:nvPr/>
        </p:nvSpPr>
        <p:spPr>
          <a:xfrm>
            <a:off x="7289800" y="3581400"/>
            <a:ext cx="279400" cy="254000"/>
          </a:xfrm>
          <a:prstGeom prst="downArrow">
            <a:avLst/>
          </a:prstGeom>
          <a:solidFill>
            <a:srgbClr val="F4A6B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2E7AE617-9CEB-62C3-35F8-4B326333A2E3}"/>
              </a:ext>
            </a:extLst>
          </p:cNvPr>
          <p:cNvSpPr/>
          <p:nvPr/>
        </p:nvSpPr>
        <p:spPr>
          <a:xfrm>
            <a:off x="5334000" y="4013200"/>
            <a:ext cx="355600" cy="355600"/>
          </a:xfrm>
          <a:prstGeom prst="ellipse">
            <a:avLst/>
          </a:prstGeom>
          <a:solidFill>
            <a:srgbClr val="5B5FC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de-CH" sz="1200" b="1">
                <a:solidFill>
                  <a:srgbClr val="FFFFFF"/>
                </a:solidFill>
                <a:latin typeface="Calibri" panose="020F0502020204030204" pitchFamily="34" charset="0"/>
              </a:rPr>
              <a:t>W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79B8E86-683A-529F-8370-9EF189F84304}"/>
              </a:ext>
            </a:extLst>
          </p:cNvPr>
          <p:cNvSpPr txBox="1"/>
          <p:nvPr/>
        </p:nvSpPr>
        <p:spPr>
          <a:xfrm>
            <a:off x="5791200" y="3962400"/>
            <a:ext cx="2540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de-CH" sz="950" b="1">
                <a:solidFill>
                  <a:srgbClr val="616161"/>
                </a:solidFill>
                <a:latin typeface="Calibri" panose="020F0502020204030204" pitchFamily="34" charset="0"/>
              </a:rPr>
              <a:t>Workflows   16:05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A1070F6F-FFB0-A793-4BFB-2D75B5C30274}"/>
              </a:ext>
            </a:extLst>
          </p:cNvPr>
          <p:cNvSpPr/>
          <p:nvPr/>
        </p:nvSpPr>
        <p:spPr>
          <a:xfrm>
            <a:off x="5791200" y="4165600"/>
            <a:ext cx="3759200" cy="431800"/>
          </a:xfrm>
          <a:prstGeom prst="roundRect">
            <a:avLst>
              <a:gd name="adj" fmla="val 20000"/>
            </a:avLst>
          </a:prstGeom>
          <a:solidFill>
            <a:srgbClr val="EEF0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0" rIns="50800" bIns="0" rtlCol="0" anchor="ctr"/>
          <a:lstStyle/>
          <a:p>
            <a:r>
              <a:rPr lang="de-DE" sz="1150">
                <a:solidFill>
                  <a:srgbClr val="242424"/>
                </a:solidFill>
                <a:latin typeface="Calibri" panose="020F0502020204030204" pitchFamily="34" charset="0"/>
              </a:rPr>
              <a:t>David flitzt nach Hause und fliegt im Flight Sim</a:t>
            </a:r>
            <a:endParaRPr lang="de-CH" sz="1150">
              <a:solidFill>
                <a:srgbClr val="242424"/>
              </a:solidFill>
              <a:latin typeface="Calibri" panose="020F0502020204030204" pitchFamily="34" charset="0"/>
            </a:endParaRP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A7F060AD-FECB-3E23-D2A1-119BB9704077}"/>
              </a:ext>
            </a:extLst>
          </p:cNvPr>
          <p:cNvSpPr/>
          <p:nvPr/>
        </p:nvSpPr>
        <p:spPr>
          <a:xfrm>
            <a:off x="711200" y="5435600"/>
            <a:ext cx="8839200" cy="965200"/>
          </a:xfrm>
          <a:prstGeom prst="roundRect">
            <a:avLst>
              <a:gd name="adj" fmla="val 6000"/>
            </a:avLst>
          </a:prstGeom>
          <a:solidFill>
            <a:srgbClr val="FDEDF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4D59049-6045-49C1-0767-70FE9500F1F7}"/>
              </a:ext>
            </a:extLst>
          </p:cNvPr>
          <p:cNvSpPr txBox="1"/>
          <p:nvPr/>
        </p:nvSpPr>
        <p:spPr>
          <a:xfrm>
            <a:off x="914400" y="5562600"/>
            <a:ext cx="8432800" cy="762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lang="de-CH" sz="1300" b="1">
                <a:solidFill>
                  <a:srgbClr val="1F1F1F"/>
                </a:solidFill>
                <a:latin typeface="Calibri" panose="020F0502020204030204" pitchFamily="34" charset="0"/>
              </a:rPr>
              <a:t>Webhook einrichten (in Arbeit)</a:t>
            </a:r>
          </a:p>
          <a:p>
            <a:r>
              <a:rPr lang="de-CH" sz="1150">
                <a:solidFill>
                  <a:srgbClr val="404040"/>
                </a:solidFill>
                <a:latin typeface="Calibri" panose="020F0502020204030204" pitchFamily="34" charset="0"/>
              </a:rPr>
              <a:t>Im Teams-Chat: … → Workflows → «Post to a chat when a webhook request is received». Die URL in den Settings einfügen, </a:t>
            </a:r>
            <a:r>
              <a:rPr lang="de-CH" sz="1150" b="1">
                <a:solidFill>
                  <a:srgbClr val="404040"/>
                </a:solidFill>
                <a:latin typeface="Calibri" panose="020F0502020204030204" pitchFamily="34" charset="0"/>
              </a:rPr>
              <a:t>Send test</a:t>
            </a:r>
            <a:r>
              <a:rPr lang="de-CH" sz="1150">
                <a:solidFill>
                  <a:srgbClr val="404040"/>
                </a:solidFill>
                <a:latin typeface="Calibri" panose="020F0502020204030204" pitchFamily="34" charset="0"/>
              </a:rPr>
              <a:t> klicken, «Send a message to Teams» aktivieren und </a:t>
            </a:r>
            <a:r>
              <a:rPr lang="de-CH" sz="1150" b="1">
                <a:solidFill>
                  <a:srgbClr val="404040"/>
                </a:solidFill>
                <a:latin typeface="Calibri" panose="020F0502020204030204" pitchFamily="34" charset="0"/>
              </a:rPr>
              <a:t>Save</a:t>
            </a:r>
            <a:r>
              <a:rPr lang="de-CH" sz="1150">
                <a:solidFill>
                  <a:srgbClr val="404040"/>
                </a:solidFill>
                <a:latin typeface="Calibri" panose="020F050202020403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847539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B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Top Corners Rounded 1">
            <a:extLst>
              <a:ext uri="{FF2B5EF4-FFF2-40B4-BE49-F238E27FC236}">
                <a16:creationId xmlns:a16="http://schemas.microsoft.com/office/drawing/2014/main" id="{3E1285B9-2BEB-C737-618F-A833C181E30B}"/>
              </a:ext>
            </a:extLst>
          </p:cNvPr>
          <p:cNvSpPr/>
          <p:nvPr/>
        </p:nvSpPr>
        <p:spPr>
          <a:xfrm>
            <a:off x="304800" y="190500"/>
            <a:ext cx="1050290" cy="304800"/>
          </a:xfrm>
          <a:prstGeom prst="round2SameRect">
            <a:avLst>
              <a:gd name="adj1" fmla="val 28000"/>
              <a:gd name="adj2" fmla="val 0"/>
            </a:avLst>
          </a:prstGeom>
          <a:solidFill>
            <a:srgbClr val="8DB4E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0" rIns="50800" bIns="0" rtlCol="0" anchor="ctr"/>
          <a:lstStyle/>
          <a:p>
            <a:pPr algn="ctr"/>
            <a:r>
              <a:rPr lang="de-CH" sz="1050">
                <a:solidFill>
                  <a:srgbClr val="3B3B3B"/>
                </a:solidFill>
                <a:latin typeface="Calibri" panose="020F0502020204030204" pitchFamily="34" charset="0"/>
              </a:rPr>
              <a:t>Überblick</a:t>
            </a:r>
          </a:p>
        </p:txBody>
      </p:sp>
      <p:sp>
        <p:nvSpPr>
          <p:cNvPr id="3" name="Rectangle: Top Corners Rounded 2">
            <a:extLst>
              <a:ext uri="{FF2B5EF4-FFF2-40B4-BE49-F238E27FC236}">
                <a16:creationId xmlns:a16="http://schemas.microsoft.com/office/drawing/2014/main" id="{618B3953-F6C0-31AA-D36D-F6CF0E8AA0B4}"/>
              </a:ext>
            </a:extLst>
          </p:cNvPr>
          <p:cNvSpPr/>
          <p:nvPr/>
        </p:nvSpPr>
        <p:spPr>
          <a:xfrm>
            <a:off x="1393190" y="190500"/>
            <a:ext cx="890270" cy="304800"/>
          </a:xfrm>
          <a:prstGeom prst="round2SameRect">
            <a:avLst>
              <a:gd name="adj1" fmla="val 28000"/>
              <a:gd name="adj2" fmla="val 0"/>
            </a:avLst>
          </a:prstGeom>
          <a:solidFill>
            <a:srgbClr val="F4B18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0" rIns="50800" bIns="0" rtlCol="0" anchor="ctr"/>
          <a:lstStyle/>
          <a:p>
            <a:pPr algn="ctr"/>
            <a:r>
              <a:rPr lang="de-CH" sz="1050">
                <a:solidFill>
                  <a:srgbClr val="3B3B3B"/>
                </a:solidFill>
                <a:latin typeface="Calibri" panose="020F0502020204030204" pitchFamily="34" charset="0"/>
              </a:rPr>
              <a:t>Technik</a:t>
            </a:r>
          </a:p>
        </p:txBody>
      </p:sp>
      <p:sp>
        <p:nvSpPr>
          <p:cNvPr id="4" name="Rectangle: Top Corners Rounded 3">
            <a:extLst>
              <a:ext uri="{FF2B5EF4-FFF2-40B4-BE49-F238E27FC236}">
                <a16:creationId xmlns:a16="http://schemas.microsoft.com/office/drawing/2014/main" id="{1E107EDB-C1F5-911F-8C7F-B0EAD16F9EB8}"/>
              </a:ext>
            </a:extLst>
          </p:cNvPr>
          <p:cNvSpPr/>
          <p:nvPr/>
        </p:nvSpPr>
        <p:spPr>
          <a:xfrm>
            <a:off x="2321560" y="190500"/>
            <a:ext cx="1130300" cy="304800"/>
          </a:xfrm>
          <a:prstGeom prst="round2SameRect">
            <a:avLst>
              <a:gd name="adj1" fmla="val 28000"/>
              <a:gd name="adj2" fmla="val 0"/>
            </a:avLst>
          </a:prstGeom>
          <a:solidFill>
            <a:srgbClr val="A9D18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0" rIns="50800" bIns="0" rtlCol="0" anchor="ctr"/>
          <a:lstStyle/>
          <a:p>
            <a:pPr algn="ctr"/>
            <a:r>
              <a:rPr lang="de-CH" sz="1050">
                <a:solidFill>
                  <a:srgbClr val="3B3B3B"/>
                </a:solidFill>
                <a:latin typeface="Calibri" panose="020F0502020204030204" pitchFamily="34" charset="0"/>
              </a:rPr>
              <a:t>Funktionen</a:t>
            </a:r>
          </a:p>
        </p:txBody>
      </p:sp>
      <p:sp>
        <p:nvSpPr>
          <p:cNvPr id="5" name="Rectangle: Top Corners Rounded 4">
            <a:extLst>
              <a:ext uri="{FF2B5EF4-FFF2-40B4-BE49-F238E27FC236}">
                <a16:creationId xmlns:a16="http://schemas.microsoft.com/office/drawing/2014/main" id="{CA0380EF-6D2A-26F6-D73B-E554DD7C1F34}"/>
              </a:ext>
            </a:extLst>
          </p:cNvPr>
          <p:cNvSpPr/>
          <p:nvPr/>
        </p:nvSpPr>
        <p:spPr>
          <a:xfrm>
            <a:off x="3489960" y="190500"/>
            <a:ext cx="1290320" cy="304800"/>
          </a:xfrm>
          <a:prstGeom prst="round2SameRect">
            <a:avLst>
              <a:gd name="adj1" fmla="val 28000"/>
              <a:gd name="adj2" fmla="val 0"/>
            </a:avLst>
          </a:prstGeom>
          <a:solidFill>
            <a:srgbClr val="C9A9E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0" rIns="50800" bIns="0" rtlCol="0" anchor="ctr"/>
          <a:lstStyle/>
          <a:p>
            <a:pPr algn="ctr"/>
            <a:r>
              <a:rPr lang="de-CH" sz="1050">
                <a:solidFill>
                  <a:srgbClr val="3B3B3B"/>
                </a:solidFill>
                <a:latin typeface="Calibri" panose="020F0502020204030204" pitchFamily="34" charset="0"/>
              </a:rPr>
              <a:t>Installation</a:t>
            </a:r>
          </a:p>
        </p:txBody>
      </p:sp>
      <p:sp>
        <p:nvSpPr>
          <p:cNvPr id="6" name="Rectangle: Top Corners Rounded 5">
            <a:extLst>
              <a:ext uri="{FF2B5EF4-FFF2-40B4-BE49-F238E27FC236}">
                <a16:creationId xmlns:a16="http://schemas.microsoft.com/office/drawing/2014/main" id="{C073CA7C-D6EE-E8CE-ACF3-4374310A53A3}"/>
              </a:ext>
            </a:extLst>
          </p:cNvPr>
          <p:cNvSpPr/>
          <p:nvPr/>
        </p:nvSpPr>
        <p:spPr>
          <a:xfrm>
            <a:off x="4818380" y="190500"/>
            <a:ext cx="730250" cy="304800"/>
          </a:xfrm>
          <a:prstGeom prst="round2SameRect">
            <a:avLst>
              <a:gd name="adj1" fmla="val 28000"/>
              <a:gd name="adj2" fmla="val 0"/>
            </a:avLst>
          </a:prstGeom>
          <a:solidFill>
            <a:srgbClr val="F4A6B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0" rIns="50800" bIns="0" rtlCol="0" anchor="ctr"/>
          <a:lstStyle/>
          <a:p>
            <a:pPr algn="ctr"/>
            <a:r>
              <a:rPr lang="de-CH" sz="1050">
                <a:solidFill>
                  <a:srgbClr val="3B3B3B"/>
                </a:solidFill>
                <a:latin typeface="Calibri" panose="020F0502020204030204" pitchFamily="34" charset="0"/>
              </a:rPr>
              <a:t>Teams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9CD176A-17B1-08F5-332E-AFBAD2A898AC}"/>
              </a:ext>
            </a:extLst>
          </p:cNvPr>
          <p:cNvSpPr/>
          <p:nvPr/>
        </p:nvSpPr>
        <p:spPr>
          <a:xfrm>
            <a:off x="304800" y="482600"/>
            <a:ext cx="11582400" cy="6197600"/>
          </a:xfrm>
          <a:prstGeom prst="rect">
            <a:avLst/>
          </a:prstGeom>
          <a:solidFill>
            <a:srgbClr val="FFFFFF"/>
          </a:solidFill>
          <a:ln w="19050">
            <a:solidFill>
              <a:srgbClr val="8FD3C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8" name="Rectangle: Top Corners Rounded 7">
            <a:extLst>
              <a:ext uri="{FF2B5EF4-FFF2-40B4-BE49-F238E27FC236}">
                <a16:creationId xmlns:a16="http://schemas.microsoft.com/office/drawing/2014/main" id="{5F084190-33AE-4FA1-B597-6A2095144ABC}"/>
              </a:ext>
            </a:extLst>
          </p:cNvPr>
          <p:cNvSpPr/>
          <p:nvPr/>
        </p:nvSpPr>
        <p:spPr>
          <a:xfrm>
            <a:off x="5586730" y="114300"/>
            <a:ext cx="730250" cy="393700"/>
          </a:xfrm>
          <a:prstGeom prst="round2SameRect">
            <a:avLst>
              <a:gd name="adj1" fmla="val 28000"/>
              <a:gd name="adj2" fmla="val 0"/>
            </a:avLst>
          </a:prstGeom>
          <a:solidFill>
            <a:srgbClr val="8FD3C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0" rIns="50800" bIns="0" rtlCol="0" anchor="ctr"/>
          <a:lstStyle/>
          <a:p>
            <a:pPr algn="ctr"/>
            <a:r>
              <a:rPr lang="de-CH" sz="1100" b="1">
                <a:solidFill>
                  <a:srgbClr val="1F1F1F"/>
                </a:solidFill>
                <a:latin typeface="Calibri" panose="020F0502020204030204" pitchFamily="34" charset="0"/>
              </a:rPr>
              <a:t>Tipps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749650C-78EA-ABF5-70C8-3E1B9B1FB533}"/>
              </a:ext>
            </a:extLst>
          </p:cNvPr>
          <p:cNvSpPr/>
          <p:nvPr/>
        </p:nvSpPr>
        <p:spPr>
          <a:xfrm>
            <a:off x="9864725" y="492125"/>
            <a:ext cx="2012950" cy="6178550"/>
          </a:xfrm>
          <a:prstGeom prst="rect">
            <a:avLst/>
          </a:prstGeom>
          <a:solidFill>
            <a:srgbClr val="EFF9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A471A18-A282-2647-E2E1-E70375A8BAE1}"/>
              </a:ext>
            </a:extLst>
          </p:cNvPr>
          <p:cNvSpPr txBox="1"/>
          <p:nvPr/>
        </p:nvSpPr>
        <p:spPr>
          <a:xfrm>
            <a:off x="10007600" y="609600"/>
            <a:ext cx="1778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de-CH" sz="950">
                <a:solidFill>
                  <a:srgbClr val="6E6E6E"/>
                </a:solidFill>
                <a:latin typeface="Calibri" panose="020F0502020204030204" pitchFamily="34" charset="0"/>
              </a:rPr>
              <a:t>+  Seite hinzufügen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190CE2D-FBA4-E622-3A29-E3200C5D3895}"/>
              </a:ext>
            </a:extLst>
          </p:cNvPr>
          <p:cNvSpPr txBox="1"/>
          <p:nvPr/>
        </p:nvSpPr>
        <p:spPr>
          <a:xfrm>
            <a:off x="10007600" y="889000"/>
            <a:ext cx="1778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de-CH" sz="1050">
                <a:solidFill>
                  <a:srgbClr val="262626"/>
                </a:solidFill>
                <a:latin typeface="Calibri" panose="020F0502020204030204" pitchFamily="34" charset="0"/>
              </a:rPr>
              <a:t>Time Entry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5687E7B-B1CB-36A4-14BD-AFBE56B1272C}"/>
              </a:ext>
            </a:extLst>
          </p:cNvPr>
          <p:cNvSpPr txBox="1"/>
          <p:nvPr/>
        </p:nvSpPr>
        <p:spPr>
          <a:xfrm>
            <a:off x="10007600" y="1193800"/>
            <a:ext cx="1778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de-CH" sz="1050">
                <a:solidFill>
                  <a:srgbClr val="262626"/>
                </a:solidFill>
                <a:latin typeface="Calibri" panose="020F0502020204030204" pitchFamily="34" charset="0"/>
              </a:rPr>
              <a:t>Überblick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1DA155D-67B3-31BA-78C9-2F96C6DAB404}"/>
              </a:ext>
            </a:extLst>
          </p:cNvPr>
          <p:cNvSpPr txBox="1"/>
          <p:nvPr/>
        </p:nvSpPr>
        <p:spPr>
          <a:xfrm>
            <a:off x="10007600" y="1498600"/>
            <a:ext cx="1778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de-CH" sz="1050">
                <a:solidFill>
                  <a:srgbClr val="262626"/>
                </a:solidFill>
                <a:latin typeface="Calibri" panose="020F0502020204030204" pitchFamily="34" charset="0"/>
              </a:rPr>
              <a:t>Architektur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658D6A0-1AD2-8392-954E-5964A8E2D2F5}"/>
              </a:ext>
            </a:extLst>
          </p:cNvPr>
          <p:cNvSpPr txBox="1"/>
          <p:nvPr/>
        </p:nvSpPr>
        <p:spPr>
          <a:xfrm>
            <a:off x="10007600" y="1803400"/>
            <a:ext cx="1778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de-CH" sz="1050">
                <a:solidFill>
                  <a:srgbClr val="262626"/>
                </a:solidFill>
                <a:latin typeface="Calibri" panose="020F0502020204030204" pitchFamily="34" charset="0"/>
              </a:rPr>
              <a:t>Sicherheit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35AE496-DC56-73F0-5FDB-69D882817F59}"/>
              </a:ext>
            </a:extLst>
          </p:cNvPr>
          <p:cNvSpPr txBox="1"/>
          <p:nvPr/>
        </p:nvSpPr>
        <p:spPr>
          <a:xfrm>
            <a:off x="10007600" y="2108200"/>
            <a:ext cx="1778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de-CH" sz="1050">
                <a:solidFill>
                  <a:srgbClr val="262626"/>
                </a:solidFill>
                <a:latin typeface="Calibri" panose="020F0502020204030204" pitchFamily="34" charset="0"/>
              </a:rPr>
              <a:t>Stempeln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033E3E8-4758-5C1B-88E9-3811D5CCD75F}"/>
              </a:ext>
            </a:extLst>
          </p:cNvPr>
          <p:cNvSpPr txBox="1"/>
          <p:nvPr/>
        </p:nvSpPr>
        <p:spPr>
          <a:xfrm>
            <a:off x="10007600" y="2413000"/>
            <a:ext cx="1778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de-CH" sz="1050">
                <a:solidFill>
                  <a:srgbClr val="262626"/>
                </a:solidFill>
                <a:latin typeface="Calibri" panose="020F0502020204030204" pitchFamily="34" charset="0"/>
              </a:rPr>
              <a:t>Excel-Zuordnung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3E1AF37-D685-286A-6114-DDF9C495DB4A}"/>
              </a:ext>
            </a:extLst>
          </p:cNvPr>
          <p:cNvSpPr txBox="1"/>
          <p:nvPr/>
        </p:nvSpPr>
        <p:spPr>
          <a:xfrm>
            <a:off x="10007600" y="2717800"/>
            <a:ext cx="1778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de-CH" sz="1050">
                <a:solidFill>
                  <a:srgbClr val="262626"/>
                </a:solidFill>
                <a:latin typeface="Calibri" panose="020F0502020204030204" pitchFamily="34" charset="0"/>
              </a:rPr>
              <a:t>Weitere Funktionen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8B0C598-2055-80AE-A08E-B72DC20CBBA0}"/>
              </a:ext>
            </a:extLst>
          </p:cNvPr>
          <p:cNvSpPr txBox="1"/>
          <p:nvPr/>
        </p:nvSpPr>
        <p:spPr>
          <a:xfrm>
            <a:off x="10007600" y="3022600"/>
            <a:ext cx="1778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de-CH" sz="1050">
                <a:solidFill>
                  <a:srgbClr val="262626"/>
                </a:solidFill>
                <a:latin typeface="Calibri" panose="020F0502020204030204" pitchFamily="34" charset="0"/>
              </a:rPr>
              <a:t>Installation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A94A9DF-5536-1655-0DA6-15961C521D07}"/>
              </a:ext>
            </a:extLst>
          </p:cNvPr>
          <p:cNvSpPr txBox="1"/>
          <p:nvPr/>
        </p:nvSpPr>
        <p:spPr>
          <a:xfrm>
            <a:off x="10007600" y="3327400"/>
            <a:ext cx="1778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de-CH" sz="1050">
                <a:solidFill>
                  <a:srgbClr val="262626"/>
                </a:solidFill>
                <a:latin typeface="Calibri" panose="020F0502020204030204" pitchFamily="34" charset="0"/>
              </a:rPr>
              <a:t>Einrichtung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F5BD670-0F8D-DAD2-2A82-7BC208A4A023}"/>
              </a:ext>
            </a:extLst>
          </p:cNvPr>
          <p:cNvSpPr txBox="1"/>
          <p:nvPr/>
        </p:nvSpPr>
        <p:spPr>
          <a:xfrm>
            <a:off x="10007600" y="3632200"/>
            <a:ext cx="1778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de-CH" sz="1050">
                <a:solidFill>
                  <a:srgbClr val="262626"/>
                </a:solidFill>
                <a:latin typeface="Calibri" panose="020F0502020204030204" pitchFamily="34" charset="0"/>
              </a:rPr>
              <a:t>Teams-Nachrichten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9019BD7-6A58-BB9C-1B53-18F19948BC33}"/>
              </a:ext>
            </a:extLst>
          </p:cNvPr>
          <p:cNvSpPr/>
          <p:nvPr/>
        </p:nvSpPr>
        <p:spPr>
          <a:xfrm>
            <a:off x="9864725" y="3886200"/>
            <a:ext cx="2012950" cy="279400"/>
          </a:xfrm>
          <a:prstGeom prst="rect">
            <a:avLst/>
          </a:prstGeom>
          <a:solidFill>
            <a:srgbClr val="C7E9E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6A15873-30DC-D5F5-B9B6-B13C2899F6C0}"/>
              </a:ext>
            </a:extLst>
          </p:cNvPr>
          <p:cNvSpPr txBox="1"/>
          <p:nvPr/>
        </p:nvSpPr>
        <p:spPr>
          <a:xfrm>
            <a:off x="10007600" y="3937000"/>
            <a:ext cx="1778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de-CH" sz="1050" b="1">
                <a:solidFill>
                  <a:srgbClr val="262626"/>
                </a:solidFill>
                <a:latin typeface="Calibri" panose="020F0502020204030204" pitchFamily="34" charset="0"/>
              </a:rPr>
              <a:t>Tipps &amp; Ausblick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83D1063-40E0-C161-7ECB-A11F1E11F479}"/>
              </a:ext>
            </a:extLst>
          </p:cNvPr>
          <p:cNvSpPr txBox="1"/>
          <p:nvPr/>
        </p:nvSpPr>
        <p:spPr>
          <a:xfrm>
            <a:off x="711200" y="635000"/>
            <a:ext cx="8890000" cy="4699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de-CH" sz="2800">
                <a:solidFill>
                  <a:srgbClr val="1F1F1F"/>
                </a:solidFill>
                <a:latin typeface="Calibri Light" panose="020F0302020204030204" pitchFamily="34" charset="0"/>
              </a:rPr>
              <a:t>Tipps &amp; Ausblick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897B6A4C-6649-3CDD-40C0-FF8EE1D8A849}"/>
              </a:ext>
            </a:extLst>
          </p:cNvPr>
          <p:cNvCxnSpPr/>
          <p:nvPr/>
        </p:nvCxnSpPr>
        <p:spPr>
          <a:xfrm>
            <a:off x="711200" y="1130300"/>
            <a:ext cx="3048000" cy="0"/>
          </a:xfrm>
          <a:prstGeom prst="line">
            <a:avLst/>
          </a:prstGeom>
          <a:ln w="9525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EE2F2668-7B68-8294-1792-FF5E25391FD8}"/>
              </a:ext>
            </a:extLst>
          </p:cNvPr>
          <p:cNvSpPr txBox="1"/>
          <p:nvPr/>
        </p:nvSpPr>
        <p:spPr>
          <a:xfrm>
            <a:off x="711200" y="1181100"/>
            <a:ext cx="5334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de-CH" sz="950">
                <a:solidFill>
                  <a:srgbClr val="7F7F7F"/>
                </a:solidFill>
                <a:latin typeface="Calibri" panose="020F0502020204030204" pitchFamily="34" charset="0"/>
              </a:rPr>
              <a:t>Donnerstag, 24. September 2026          09:41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72B29C6-68DD-398A-E5D1-40FB78DEF094}"/>
              </a:ext>
            </a:extLst>
          </p:cNvPr>
          <p:cNvSpPr txBox="1"/>
          <p:nvPr/>
        </p:nvSpPr>
        <p:spPr>
          <a:xfrm>
            <a:off x="711200" y="1600200"/>
            <a:ext cx="50800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de-CH" sz="1500" b="1">
                <a:solidFill>
                  <a:srgbClr val="1F1F1F"/>
                </a:solidFill>
                <a:latin typeface="Calibri" panose="020F0502020204030204" pitchFamily="34" charset="0"/>
              </a:rPr>
              <a:t>Häufige Meldungen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231FBD4A-1250-358E-51BB-32EF665D4ED7}"/>
              </a:ext>
            </a:extLst>
          </p:cNvPr>
          <p:cNvSpPr/>
          <p:nvPr/>
        </p:nvSpPr>
        <p:spPr>
          <a:xfrm>
            <a:off x="711200" y="2006600"/>
            <a:ext cx="304800" cy="304800"/>
          </a:xfrm>
          <a:prstGeom prst="ellipse">
            <a:avLst/>
          </a:prstGeom>
          <a:solidFill>
            <a:srgbClr val="7719A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de-CH" sz="1200" b="1">
                <a:solidFill>
                  <a:srgbClr val="FFFFFF"/>
                </a:solidFill>
                <a:latin typeface="Segoe UI Symbol" panose="020B0502040204020203" pitchFamily="34" charset="0"/>
              </a:rPr>
              <a:t>?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D2C75B8-1697-7F0F-790A-BCE46CA1670A}"/>
              </a:ext>
            </a:extLst>
          </p:cNvPr>
          <p:cNvSpPr txBox="1"/>
          <p:nvPr/>
        </p:nvSpPr>
        <p:spPr>
          <a:xfrm>
            <a:off x="1168400" y="2019300"/>
            <a:ext cx="4572000" cy="762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lang="de-DE" sz="1300" b="1">
                <a:solidFill>
                  <a:srgbClr val="1F1F1F"/>
                </a:solidFill>
                <a:latin typeface="Calibri" panose="020F0502020204030204" pitchFamily="34" charset="0"/>
              </a:rPr>
              <a:t>«Already logged in / left today»</a:t>
            </a:r>
          </a:p>
          <a:p>
            <a:r>
              <a:rPr lang="de-DE" sz="1150">
                <a:solidFill>
                  <a:srgbClr val="404040"/>
                </a:solidFill>
                <a:latin typeface="Calibri" panose="020F0502020204030204" pitchFamily="34" charset="0"/>
              </a:rPr>
              <a:t>Die Zelle ist schon gefüllt. Im Excel korrigieren, dann </a:t>
            </a:r>
            <a:r>
              <a:rPr lang="de-DE" sz="1150">
                <a:solidFill>
                  <a:srgbClr val="404040"/>
                </a:solidFill>
                <a:latin typeface="Segoe UI Symbol" panose="020B0502040204020203" pitchFamily="34" charset="0"/>
              </a:rPr>
              <a:t>⟳</a:t>
            </a:r>
            <a:r>
              <a:rPr lang="de-DE" sz="1150">
                <a:solidFill>
                  <a:srgbClr val="404040"/>
                </a:solidFill>
                <a:latin typeface="Calibri" panose="020F0502020204030204" pitchFamily="34" charset="0"/>
              </a:rPr>
              <a:t> Sync.</a:t>
            </a:r>
            <a:endParaRPr lang="de-CH" sz="1150">
              <a:solidFill>
                <a:srgbClr val="404040"/>
              </a:solidFill>
              <a:latin typeface="Calibri" panose="020F0502020204030204" pitchFamily="34" charset="0"/>
            </a:endParaRP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282BF4CE-6E31-9318-2188-29460CF505E4}"/>
              </a:ext>
            </a:extLst>
          </p:cNvPr>
          <p:cNvSpPr/>
          <p:nvPr/>
        </p:nvSpPr>
        <p:spPr>
          <a:xfrm>
            <a:off x="711200" y="2870200"/>
            <a:ext cx="304800" cy="304800"/>
          </a:xfrm>
          <a:prstGeom prst="ellipse">
            <a:avLst/>
          </a:prstGeom>
          <a:solidFill>
            <a:srgbClr val="7719A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de-CH" sz="1200" b="1">
                <a:solidFill>
                  <a:srgbClr val="FFFFFF"/>
                </a:solidFill>
                <a:latin typeface="Segoe UI Symbol" panose="020B0502040204020203" pitchFamily="34" charset="0"/>
              </a:rPr>
              <a:t>?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CE83A74-96D8-E577-C22C-503616EC1647}"/>
              </a:ext>
            </a:extLst>
          </p:cNvPr>
          <p:cNvSpPr txBox="1"/>
          <p:nvPr/>
        </p:nvSpPr>
        <p:spPr>
          <a:xfrm>
            <a:off x="1168400" y="2882900"/>
            <a:ext cx="4572000" cy="762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lang="en-US" sz="1300" b="1">
                <a:solidFill>
                  <a:srgbClr val="1F1F1F"/>
                </a:solidFill>
                <a:latin typeface="Calibri" panose="020F0502020204030204" pitchFamily="34" charset="0"/>
              </a:rPr>
              <a:t>«Not logged in today yet»</a:t>
            </a:r>
          </a:p>
          <a:p>
            <a:r>
              <a:rPr lang="en-US" sz="1150">
                <a:solidFill>
                  <a:srgbClr val="404040"/>
                </a:solidFill>
                <a:latin typeface="Calibri" panose="020F0502020204030204" pitchFamily="34" charset="0"/>
              </a:rPr>
              <a:t>Zuerst «Log in» stempeln.</a:t>
            </a:r>
            <a:endParaRPr lang="de-CH" sz="1150">
              <a:solidFill>
                <a:srgbClr val="404040"/>
              </a:solidFill>
              <a:latin typeface="Calibri" panose="020F0502020204030204" pitchFamily="34" charset="0"/>
            </a:endParaRP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9ED3BE7C-1066-5276-F0AB-9C7FB3508548}"/>
              </a:ext>
            </a:extLst>
          </p:cNvPr>
          <p:cNvSpPr/>
          <p:nvPr/>
        </p:nvSpPr>
        <p:spPr>
          <a:xfrm>
            <a:off x="711200" y="3733800"/>
            <a:ext cx="304800" cy="304800"/>
          </a:xfrm>
          <a:prstGeom prst="ellipse">
            <a:avLst/>
          </a:prstGeom>
          <a:solidFill>
            <a:srgbClr val="7719A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de-CH" sz="1200" b="1">
                <a:solidFill>
                  <a:srgbClr val="FFFFFF"/>
                </a:solidFill>
                <a:latin typeface="Segoe UI Symbol" panose="020B0502040204020203" pitchFamily="34" charset="0"/>
              </a:rPr>
              <a:t>?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761A4F1-6528-E868-FE2F-EE8BC61EC899}"/>
              </a:ext>
            </a:extLst>
          </p:cNvPr>
          <p:cNvSpPr txBox="1"/>
          <p:nvPr/>
        </p:nvSpPr>
        <p:spPr>
          <a:xfrm>
            <a:off x="1168400" y="3746500"/>
            <a:ext cx="4572000" cy="762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lang="de-DE" sz="1300" b="1">
                <a:solidFill>
                  <a:srgbClr val="1F1F1F"/>
                </a:solidFill>
                <a:latin typeface="Calibri" panose="020F0502020204030204" pitchFamily="34" charset="0"/>
              </a:rPr>
              <a:t>«Microsoft sign-in expired»</a:t>
            </a:r>
          </a:p>
          <a:p>
            <a:r>
              <a:rPr lang="de-DE" sz="1150">
                <a:solidFill>
                  <a:srgbClr val="404040"/>
                </a:solidFill>
                <a:latin typeface="Calibri" panose="020F0502020204030204" pitchFamily="34" charset="0"/>
              </a:rPr>
              <a:t>In den Settings erneut Sign in klicken.</a:t>
            </a:r>
            <a:endParaRPr lang="de-CH" sz="1150">
              <a:solidFill>
                <a:srgbClr val="404040"/>
              </a:solidFill>
              <a:latin typeface="Calibri" panose="020F0502020204030204" pitchFamily="34" charset="0"/>
            </a:endParaRP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49501DA0-0A02-D551-4152-C94B1D51FFBA}"/>
              </a:ext>
            </a:extLst>
          </p:cNvPr>
          <p:cNvSpPr/>
          <p:nvPr/>
        </p:nvSpPr>
        <p:spPr>
          <a:xfrm>
            <a:off x="711200" y="4597400"/>
            <a:ext cx="304800" cy="304800"/>
          </a:xfrm>
          <a:prstGeom prst="ellipse">
            <a:avLst/>
          </a:prstGeom>
          <a:solidFill>
            <a:srgbClr val="7719A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de-CH" sz="1200" b="1">
                <a:solidFill>
                  <a:srgbClr val="FFFFFF"/>
                </a:solidFill>
                <a:latin typeface="Segoe UI Symbol" panose="020B0502040204020203" pitchFamily="34" charset="0"/>
              </a:rPr>
              <a:t>?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CBE1B8E-C8D9-B94C-5B17-C07D3E887862}"/>
              </a:ext>
            </a:extLst>
          </p:cNvPr>
          <p:cNvSpPr txBox="1"/>
          <p:nvPr/>
        </p:nvSpPr>
        <p:spPr>
          <a:xfrm>
            <a:off x="1168400" y="4610100"/>
            <a:ext cx="4572000" cy="762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lang="de-DE" sz="1300" b="1">
                <a:solidFill>
                  <a:srgbClr val="1F1F1F"/>
                </a:solidFill>
                <a:latin typeface="Calibri" panose="020F0502020204030204" pitchFamily="34" charset="0"/>
              </a:rPr>
              <a:t>Extension nach Neustart weg</a:t>
            </a:r>
          </a:p>
          <a:p>
            <a:r>
              <a:rPr lang="de-DE" sz="1150">
                <a:solidFill>
                  <a:srgbClr val="404040"/>
                </a:solidFill>
                <a:latin typeface="Calibri" panose="020F0502020204030204" pitchFamily="34" charset="0"/>
              </a:rPr>
              <a:t>Wie bei der Installation über about:debugging erneut laden.</a:t>
            </a:r>
            <a:endParaRPr lang="de-CH" sz="1150">
              <a:solidFill>
                <a:srgbClr val="404040"/>
              </a:solidFill>
              <a:latin typeface="Calibri" panose="020F0502020204030204" pitchFamily="34" charset="0"/>
            </a:endParaRP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A510B0D5-66A0-0100-4AEE-08B4799D4DCD}"/>
              </a:ext>
            </a:extLst>
          </p:cNvPr>
          <p:cNvSpPr/>
          <p:nvPr/>
        </p:nvSpPr>
        <p:spPr>
          <a:xfrm>
            <a:off x="711200" y="5461000"/>
            <a:ext cx="304800" cy="304800"/>
          </a:xfrm>
          <a:prstGeom prst="ellipse">
            <a:avLst/>
          </a:prstGeom>
          <a:solidFill>
            <a:srgbClr val="7719A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de-CH" sz="1200" b="1">
                <a:solidFill>
                  <a:srgbClr val="FFFFFF"/>
                </a:solidFill>
                <a:latin typeface="Segoe UI Symbol" panose="020B0502040204020203" pitchFamily="34" charset="0"/>
              </a:rPr>
              <a:t>?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DFC7D8F-BF4C-577A-E3AA-0242C9E61F15}"/>
              </a:ext>
            </a:extLst>
          </p:cNvPr>
          <p:cNvSpPr txBox="1"/>
          <p:nvPr/>
        </p:nvSpPr>
        <p:spPr>
          <a:xfrm>
            <a:off x="1168400" y="5473700"/>
            <a:ext cx="4572000" cy="762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lang="de-DE" sz="1300" b="1">
                <a:solidFill>
                  <a:srgbClr val="1F1F1F"/>
                </a:solidFill>
                <a:latin typeface="Calibri" panose="020F0502020204030204" pitchFamily="34" charset="0"/>
              </a:rPr>
              <a:t>Excel zeigt alte Werte</a:t>
            </a:r>
          </a:p>
          <a:p>
            <a:r>
              <a:rPr lang="de-DE" sz="1150">
                <a:solidFill>
                  <a:srgbClr val="404040"/>
                </a:solidFill>
                <a:latin typeface="Calibri" panose="020F0502020204030204" pitchFamily="34" charset="0"/>
              </a:rPr>
              <a:t>Nach Änderungen im Desktop-Excel kurz warten (Upload), dann </a:t>
            </a:r>
            <a:r>
              <a:rPr lang="de-DE" sz="1150">
                <a:solidFill>
                  <a:srgbClr val="404040"/>
                </a:solidFill>
                <a:latin typeface="Segoe UI Symbol" panose="020B0502040204020203" pitchFamily="34" charset="0"/>
              </a:rPr>
              <a:t>⟳</a:t>
            </a:r>
            <a:r>
              <a:rPr lang="de-DE" sz="1150">
                <a:solidFill>
                  <a:srgbClr val="404040"/>
                </a:solidFill>
                <a:latin typeface="Calibri" panose="020F0502020204030204" pitchFamily="34" charset="0"/>
              </a:rPr>
              <a:t> Sync.</a:t>
            </a:r>
            <a:endParaRPr lang="de-CH" sz="1150">
              <a:solidFill>
                <a:srgbClr val="404040"/>
              </a:solidFill>
              <a:latin typeface="Calibri" panose="020F0502020204030204" pitchFamily="34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DCFFFC1-38E9-E8A9-7450-E1C02F2DD1FB}"/>
              </a:ext>
            </a:extLst>
          </p:cNvPr>
          <p:cNvSpPr txBox="1"/>
          <p:nvPr/>
        </p:nvSpPr>
        <p:spPr>
          <a:xfrm>
            <a:off x="6223000" y="1600200"/>
            <a:ext cx="33274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de-CH" sz="1500" b="1">
                <a:solidFill>
                  <a:srgbClr val="1F1F1F"/>
                </a:solidFill>
                <a:latin typeface="Calibri" panose="020F0502020204030204" pitchFamily="34" charset="0"/>
              </a:rPr>
              <a:t>Ausblick</a:t>
            </a: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87E46B87-4501-85D5-14AD-C9580BD24B4D}"/>
              </a:ext>
            </a:extLst>
          </p:cNvPr>
          <p:cNvSpPr/>
          <p:nvPr/>
        </p:nvSpPr>
        <p:spPr>
          <a:xfrm>
            <a:off x="6223000" y="2006600"/>
            <a:ext cx="3327400" cy="1270000"/>
          </a:xfrm>
          <a:prstGeom prst="roundRect">
            <a:avLst>
              <a:gd name="adj" fmla="val 6000"/>
            </a:avLst>
          </a:prstGeom>
          <a:solidFill>
            <a:srgbClr val="E0F3F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235402FA-D42F-A3D2-EC59-A3BF15AF6789}"/>
              </a:ext>
            </a:extLst>
          </p:cNvPr>
          <p:cNvSpPr/>
          <p:nvPr/>
        </p:nvSpPr>
        <p:spPr>
          <a:xfrm>
            <a:off x="6426200" y="2184400"/>
            <a:ext cx="304800" cy="304800"/>
          </a:xfrm>
          <a:prstGeom prst="ellipse">
            <a:avLst/>
          </a:prstGeom>
          <a:solidFill>
            <a:srgbClr val="8FD3C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de-CH" sz="1200" b="1">
                <a:solidFill>
                  <a:srgbClr val="1F1F1F"/>
                </a:solidFill>
                <a:latin typeface="Segoe UI Symbol" panose="020B0502040204020203" pitchFamily="34" charset="0"/>
              </a:rPr>
              <a:t>→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F0F986A-5357-AFCD-ECDF-DF273FC302A5}"/>
              </a:ext>
            </a:extLst>
          </p:cNvPr>
          <p:cNvSpPr txBox="1"/>
          <p:nvPr/>
        </p:nvSpPr>
        <p:spPr>
          <a:xfrm>
            <a:off x="6858000" y="2184400"/>
            <a:ext cx="2540000" cy="1016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lang="de-DE" sz="1350" b="1">
                <a:solidFill>
                  <a:srgbClr val="1F1F1F"/>
                </a:solidFill>
                <a:latin typeface="Calibri" panose="020F0502020204030204" pitchFamily="34" charset="0"/>
              </a:rPr>
              <a:t>Mobile App / Widget</a:t>
            </a:r>
          </a:p>
          <a:p>
            <a:r>
              <a:rPr lang="de-DE" sz="1150">
                <a:solidFill>
                  <a:srgbClr val="404040"/>
                </a:solidFill>
                <a:latin typeface="Calibri" panose="020F0502020204030204" pitchFamily="34" charset="0"/>
              </a:rPr>
              <a:t>Stempeln vom Handy aus, mit derselben Grundlage wie die Extension.</a:t>
            </a:r>
            <a:endParaRPr lang="de-CH" sz="1150">
              <a:solidFill>
                <a:srgbClr val="404040"/>
              </a:solidFill>
              <a:latin typeface="Calibri" panose="020F0502020204030204" pitchFamily="34" charset="0"/>
            </a:endParaRP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325076B8-9602-DECE-04DF-C53DC3178CA2}"/>
              </a:ext>
            </a:extLst>
          </p:cNvPr>
          <p:cNvSpPr/>
          <p:nvPr/>
        </p:nvSpPr>
        <p:spPr>
          <a:xfrm>
            <a:off x="6223000" y="3429000"/>
            <a:ext cx="3327400" cy="1270000"/>
          </a:xfrm>
          <a:prstGeom prst="roundRect">
            <a:avLst>
              <a:gd name="adj" fmla="val 6000"/>
            </a:avLst>
          </a:prstGeom>
          <a:solidFill>
            <a:srgbClr val="E0F3F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CFC0ED61-F86D-798B-4279-D812AA28CB7C}"/>
              </a:ext>
            </a:extLst>
          </p:cNvPr>
          <p:cNvSpPr/>
          <p:nvPr/>
        </p:nvSpPr>
        <p:spPr>
          <a:xfrm>
            <a:off x="6426200" y="3606800"/>
            <a:ext cx="304800" cy="304800"/>
          </a:xfrm>
          <a:prstGeom prst="ellipse">
            <a:avLst/>
          </a:prstGeom>
          <a:solidFill>
            <a:srgbClr val="8FD3C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de-CH" sz="1200" b="1">
                <a:solidFill>
                  <a:srgbClr val="1F1F1F"/>
                </a:solidFill>
                <a:latin typeface="Segoe UI Symbol" panose="020B0502040204020203" pitchFamily="34" charset="0"/>
              </a:rPr>
              <a:t>→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1A3AF76-A274-7A0D-39CB-0AE8FB5CCD28}"/>
              </a:ext>
            </a:extLst>
          </p:cNvPr>
          <p:cNvSpPr txBox="1"/>
          <p:nvPr/>
        </p:nvSpPr>
        <p:spPr>
          <a:xfrm>
            <a:off x="6858000" y="3606800"/>
            <a:ext cx="2540000" cy="1016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lang="de-DE" sz="1350" b="1">
                <a:solidFill>
                  <a:srgbClr val="1F1F1F"/>
                </a:solidFill>
                <a:latin typeface="Calibri" panose="020F0502020204030204" pitchFamily="34" charset="0"/>
              </a:rPr>
              <a:t>Signierte Extension</a:t>
            </a:r>
          </a:p>
          <a:p>
            <a:r>
              <a:rPr lang="de-DE" sz="1150">
                <a:solidFill>
                  <a:srgbClr val="404040"/>
                </a:solidFill>
                <a:latin typeface="Calibri" panose="020F0502020204030204" pitchFamily="34" charset="0"/>
              </a:rPr>
              <a:t>Dauerhafte Installation, ohne about:debugging nach jedem Neustart.</a:t>
            </a:r>
            <a:endParaRPr lang="de-CH" sz="1150">
              <a:solidFill>
                <a:srgbClr val="404040"/>
              </a:solidFill>
              <a:latin typeface="Calibri" panose="020F0502020204030204" pitchFamily="34" charset="0"/>
            </a:endParaRP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77B99D12-3C63-1508-E937-98E612DA2272}"/>
              </a:ext>
            </a:extLst>
          </p:cNvPr>
          <p:cNvSpPr/>
          <p:nvPr/>
        </p:nvSpPr>
        <p:spPr>
          <a:xfrm>
            <a:off x="6223000" y="4851400"/>
            <a:ext cx="3327400" cy="1270000"/>
          </a:xfrm>
          <a:prstGeom prst="roundRect">
            <a:avLst>
              <a:gd name="adj" fmla="val 6000"/>
            </a:avLst>
          </a:prstGeom>
          <a:solidFill>
            <a:srgbClr val="E0F3F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A0FED784-354F-B91E-A2AA-5D4833955EA2}"/>
              </a:ext>
            </a:extLst>
          </p:cNvPr>
          <p:cNvSpPr/>
          <p:nvPr/>
        </p:nvSpPr>
        <p:spPr>
          <a:xfrm>
            <a:off x="6426200" y="5029200"/>
            <a:ext cx="304800" cy="304800"/>
          </a:xfrm>
          <a:prstGeom prst="ellipse">
            <a:avLst/>
          </a:prstGeom>
          <a:solidFill>
            <a:srgbClr val="8FD3C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de-CH" sz="1200" b="1">
                <a:solidFill>
                  <a:srgbClr val="1F1F1F"/>
                </a:solidFill>
                <a:latin typeface="Segoe UI Symbol" panose="020B0502040204020203" pitchFamily="34" charset="0"/>
              </a:rPr>
              <a:t>→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EFEC3A8-326D-B817-2EAC-F85BE64820C1}"/>
              </a:ext>
            </a:extLst>
          </p:cNvPr>
          <p:cNvSpPr txBox="1"/>
          <p:nvPr/>
        </p:nvSpPr>
        <p:spPr>
          <a:xfrm>
            <a:off x="6858000" y="5029200"/>
            <a:ext cx="2540000" cy="1016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lang="de-DE" sz="1350" b="1">
                <a:solidFill>
                  <a:srgbClr val="1F1F1F"/>
                </a:solidFill>
                <a:latin typeface="Calibri" panose="020F0502020204030204" pitchFamily="34" charset="0"/>
              </a:rPr>
              <a:t>Teams fertigstellen</a:t>
            </a:r>
          </a:p>
          <a:p>
            <a:r>
              <a:rPr lang="de-DE" sz="1150">
                <a:solidFill>
                  <a:srgbClr val="404040"/>
                </a:solidFill>
                <a:latin typeface="Calibri" panose="020F0502020204030204" pitchFamily="34" charset="0"/>
              </a:rPr>
              <a:t>Webhook für alle einrichten und Nachrichten im Team abstimmen.</a:t>
            </a:r>
            <a:endParaRPr lang="de-CH" sz="1150">
              <a:solidFill>
                <a:srgbClr val="40404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93226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8CB5B39DDDF984B8B189A73E94FEC3E" ma:contentTypeVersion="18" ma:contentTypeDescription="Create a new document." ma:contentTypeScope="" ma:versionID="1bd872730a4925c197cbad479db773f8">
  <xsd:schema xmlns:xsd="http://www.w3.org/2001/XMLSchema" xmlns:xs="http://www.w3.org/2001/XMLSchema" xmlns:p="http://schemas.microsoft.com/office/2006/metadata/properties" xmlns:ns2="bfda8136-c571-4221-81d4-e5772aceb936" xmlns:ns3="7ff9b6ea-7955-4e0f-ae54-425fa17d5bc4" targetNamespace="http://schemas.microsoft.com/office/2006/metadata/properties" ma:root="true" ma:fieldsID="8d800430fa5385364ef9e2fe26e1579b" ns2:_="" ns3:_="">
    <xsd:import namespace="bfda8136-c571-4221-81d4-e5772aceb936"/>
    <xsd:import namespace="7ff9b6ea-7955-4e0f-ae54-425fa17d5bc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fda8136-c571-4221-81d4-e5772aceb93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3" nillable="true" ma:displayName="Location" ma:internalName="MediaServiceLocation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4495729f-3cb0-49a7-b094-62aa0bbdcc1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ff9b6ea-7955-4e0f-ae54-425fa17d5bc4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916c853f-7ad5-46ce-b9ca-284506b4f217}" ma:internalName="TaxCatchAll" ma:showField="CatchAllData" ma:web="7ff9b6ea-7955-4e0f-ae54-425fa17d5bc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7ff9b6ea-7955-4e0f-ae54-425fa17d5bc4" xsi:nil="true"/>
    <lcf76f155ced4ddcb4097134ff3c332f xmlns="bfda8136-c571-4221-81d4-e5772aceb936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4AE22937-6026-4DFA-BDEE-BE19E739A0E1}"/>
</file>

<file path=customXml/itemProps2.xml><?xml version="1.0" encoding="utf-8"?>
<ds:datastoreItem xmlns:ds="http://schemas.openxmlformats.org/officeDocument/2006/customXml" ds:itemID="{0952924B-566E-4213-84AA-B31ACFE5695D}"/>
</file>

<file path=customXml/itemProps3.xml><?xml version="1.0" encoding="utf-8"?>
<ds:datastoreItem xmlns:ds="http://schemas.openxmlformats.org/officeDocument/2006/customXml" ds:itemID="{5D11E46D-394C-4800-B159-6D05E4B82F24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1685</Words>
  <Application>Microsoft Office PowerPoint</Application>
  <PresentationFormat>Custom</PresentationFormat>
  <Paragraphs>419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Aptos</vt:lpstr>
      <vt:lpstr>Aptos Display</vt:lpstr>
      <vt:lpstr>Arial</vt:lpstr>
      <vt:lpstr>Calibri</vt:lpstr>
      <vt:lpstr>Calibri Light</vt:lpstr>
      <vt:lpstr>Consolas</vt:lpstr>
      <vt:lpstr>Segoe UI Symbol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David Seeliger</dc:creator>
  <cp:lastModifiedBy>David Seeliger</cp:lastModifiedBy>
  <cp:revision>1</cp:revision>
  <dcterms:created xsi:type="dcterms:W3CDTF">2026-09-24T14:22:38Z</dcterms:created>
  <dcterms:modified xsi:type="dcterms:W3CDTF">2026-09-24T14:22:38Z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0x01010078CB5B39DDDF984B8B189A73E94FEC3E</vt:lpwstr>
  </property>
</Properties>
</file>